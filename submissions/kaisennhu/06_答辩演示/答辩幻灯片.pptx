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Default ContentType="image/png" Extension="png"/>
  <Default ContentType="image/jpeg" Extension="jpeg"/>
  <Default ContentType="image/jpeg" Extension="jpg"/>
  <Default ContentType="video/mp4" Extension="mp4"/>
  <Override ContentType="application/vnd.openxmlformats-officedocument.presentationml.presentation.main+xml" PartName="/ppt/presentation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theme+xml" PartName="/ppt/theme/theme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 xmlns:a="http://schemas.openxmlformats.org/drawingml/2006/main">
    <a:defPPr>
      <a:defRPr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>
      <p:cViewPr varScale="1">
        <p:scale>
          <a:sx n="90" d="100"/>
          <a:sy n="90" d="100"/>
        </p:scale>
        <p:origin x="1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 sz="half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 sz="quarter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hdr="0" ftr="0" sldNu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-228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.png"/><Relationship Id="rId3" Type="http://schemas.openxmlformats.org/officeDocument/2006/relationships/image" Target="../media/Presenton_Native_Image_2.png"/><Relationship Id="rId4" Type="http://schemas.openxmlformats.org/officeDocument/2006/relationships/image" Target="../media/Presenton_Native_Image_4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.png"/><Relationship Id="rId3" Type="http://schemas.openxmlformats.org/officeDocument/2006/relationships/image" Target="../media/Presenton_Native_Image_4.png"/><Relationship Id="rId4" Type="http://schemas.openxmlformats.org/officeDocument/2006/relationships/image" Target="../media/Presenton_Native_Image_6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.png"/><Relationship Id="rId3" Type="http://schemas.openxmlformats.org/officeDocument/2006/relationships/image" Target="../media/Presenton_Native_Image_4.png"/><Relationship Id="rId4" Type="http://schemas.openxmlformats.org/officeDocument/2006/relationships/image" Target="../media/Presenton_Native_Image_9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.png"/><Relationship Id="rId3" Type="http://schemas.openxmlformats.org/officeDocument/2006/relationships/image" Target="../media/Presenton_Native_Image_4.png"/><Relationship Id="rId4" Type="http://schemas.openxmlformats.org/officeDocument/2006/relationships/image" Target="../media/Presenton_Native_Image_12.png"/><Relationship Id="rId5" Type="http://schemas.openxmlformats.org/officeDocument/2006/relationships/image" Target="../media/Presenton_Native_Image_13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.png"/><Relationship Id="rId3" Type="http://schemas.openxmlformats.org/officeDocument/2006/relationships/image" Target="../media/Presenton_Native_Image_4.png"/><Relationship Id="rId4" Type="http://schemas.openxmlformats.org/officeDocument/2006/relationships/image" Target="../media/Presenton_Native_Image_17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.png"/><Relationship Id="rId3" Type="http://schemas.openxmlformats.org/officeDocument/2006/relationships/image" Target="../media/Presenton_Native_Image_2.png"/><Relationship Id="rId4" Type="http://schemas.openxmlformats.org/officeDocument/2006/relationships/image" Target="../media/Presenton_Native_Image_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.png"/><Relationship Id="rId3" Type="http://schemas.openxmlformats.org/officeDocument/2006/relationships/image" Target="../media/Presenton_Native_Image_4.png"/><Relationship Id="rId4" Type="http://schemas.openxmlformats.org/officeDocument/2006/relationships/image" Target="../media/Presenton_Native_Image_24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.png"/><Relationship Id="rId3" Type="http://schemas.openxmlformats.org/officeDocument/2006/relationships/image" Target="../media/Presenton_Native_Image_4.png"/><Relationship Id="rId4" Type="http://schemas.openxmlformats.org/officeDocument/2006/relationships/image" Target="../media/Presenton_Native_Image_27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.png"/><Relationship Id="rId3" Type="http://schemas.openxmlformats.org/officeDocument/2006/relationships/image" Target="../media/Presenton_Native_Image_4.png"/><Relationship Id="rId4" Type="http://schemas.openxmlformats.org/officeDocument/2006/relationships/image" Target="../media/Presenton_Native_Image_30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.png"/><Relationship Id="rId3" Type="http://schemas.openxmlformats.org/officeDocument/2006/relationships/image" Target="../media/Presenton_Native_Image_4.png"/><Relationship Id="rId4" Type="http://schemas.openxmlformats.org/officeDocument/2006/relationships/image" Target="../media/Presenton_Native_Image_12.png"/><Relationship Id="rId5" Type="http://schemas.openxmlformats.org/officeDocument/2006/relationships/image" Target="../media/Presenton_Native_Image_13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.png"/><Relationship Id="rId3" Type="http://schemas.openxmlformats.org/officeDocument/2006/relationships/image" Target="../media/Presenton_Native_Image_4.png"/><Relationship Id="rId4" Type="http://schemas.openxmlformats.org/officeDocument/2006/relationships/image" Target="../media/Presenton_Native_Image_12.png"/><Relationship Id="rId5" Type="http://schemas.openxmlformats.org/officeDocument/2006/relationships/image" Target="../media/Presenton_Native_Image_13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esenton_Native_Image_1.png"/><Relationship Id="rId3" Type="http://schemas.openxmlformats.org/officeDocument/2006/relationships/image" Target="../media/Presenton_Native_Image_4.png"/><Relationship Id="rId4" Type="http://schemas.openxmlformats.org/officeDocument/2006/relationships/image" Target="../media/Presenton_Native_Image_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resenton Native Image 1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571500" y="361950"/>
            <a:ext cx="11049000" cy="376238"/>
          </a:xfrm>
          <a:prstGeom prst="rect">
            <a:avLst/>
          </a:prstGeom>
        </p:spPr>
      </p:pic>
      <p:sp>
        <p:nvSpPr>
          <p:cNvPr id="2" name="Shape 2"/>
          <p:cNvSpPr/>
          <p:nvPr/>
        </p:nvSpPr>
        <p:spPr>
          <a:xfrm>
            <a:off x="571500" y="361950"/>
            <a:ext cx="2141934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NDS / ONLINE IO SCHEDULING</a:t>
            </a:r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9937998" y="361950"/>
            <a:ext cx="1701552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COMPETITION DEFENSE</a:t>
            </a:r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571500" y="1004888"/>
            <a:ext cx="11068050" cy="4762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750"/>
              </a:lnSpc>
              <a:buNone/>
            </a:pPr>
            <a:r>
              <a:rPr sz="3000" b="1" i="0">
                <a:solidFill>
                  <a:srgbClr val="182230"/>
                </a:solidFill>
                <a:latin typeface="Sora"/>
                <a:ea typeface="Sora"/>
              </a:rPr>
              <a:t>NDS 多路径IO调度与缓存提升</a:t>
            </a:r>
            <a:endParaRPr lang="en-US"/>
          </a:p>
        </p:txBody>
      </p:sp>
      <p:pic>
        <p:nvPicPr>
          <p:cNvPr id="101" name="Presenton Native Image 2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71500" y="1728788"/>
            <a:ext cx="5372100" cy="2470696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800100" y="1995488"/>
            <a:ext cx="4933950" cy="24288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13"/>
              </a:lnSpc>
              <a:buNone/>
            </a:pPr>
            <a:r>
              <a:rPr sz="1275" b="0" i="0">
                <a:solidFill>
                  <a:srgbClr val="1647D8"/>
                </a:solidFill>
                <a:latin typeface="Inter"/>
                <a:ea typeface="Inter"/>
              </a:rPr>
              <a:t>ONLINE POLICY</a:t>
            </a:r>
            <a:endParaRPr lang="en-US"/>
          </a:p>
        </p:txBody>
      </p:sp>
      <p:sp>
        <p:nvSpPr>
          <p:cNvPr id="6" name="Shape 6"/>
          <p:cNvSpPr/>
          <p:nvPr/>
        </p:nvSpPr>
        <p:spPr>
          <a:xfrm>
            <a:off x="800100" y="2352675"/>
            <a:ext cx="4933950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Noto Sans SC"/>
                <a:ea typeface="Noto Sans SC"/>
              </a:rPr>
              <a:t>观察窗口调度</a:t>
            </a:r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800100" y="2919413"/>
            <a:ext cx="4933950" cy="10514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60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区间合并与块长选择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可见窗口中的候选比较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复用预算与新鲜度准入</a:t>
            </a:r>
            <a:endParaRPr lang="en-US"/>
          </a:p>
        </p:txBody>
      </p:sp>
      <p:pic>
        <p:nvPicPr>
          <p:cNvPr id="102" name="Presenton Native Image 3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6248400" y="1728788"/>
            <a:ext cx="5372100" cy="2470696"/>
          </a:xfrm>
          <a:prstGeom prst="rect">
            <a:avLst/>
          </a:prstGeom>
        </p:spPr>
      </p:pic>
      <p:sp>
        <p:nvSpPr>
          <p:cNvPr id="8" name="Shape 8"/>
          <p:cNvSpPr/>
          <p:nvPr/>
        </p:nvSpPr>
        <p:spPr>
          <a:xfrm>
            <a:off x="6477000" y="1995488"/>
            <a:ext cx="4933950" cy="24288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13"/>
              </a:lnSpc>
              <a:buNone/>
            </a:pPr>
            <a:r>
              <a:rPr sz="1275" b="0" i="0">
                <a:solidFill>
                  <a:srgbClr val="1647D8"/>
                </a:solidFill>
                <a:latin typeface="Inter"/>
                <a:ea typeface="Inter"/>
              </a:rPr>
              <a:t>OFFICIAL PUBLIC SUITE</a:t>
            </a:r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6477000" y="2352675"/>
            <a:ext cx="4933950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Noto Sans SC"/>
                <a:ea typeface="Noto Sans SC"/>
              </a:rPr>
              <a:t>89.9792 / 90</a:t>
            </a:r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6477000" y="2919413"/>
            <a:ext cx="4933950" cy="10514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60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官方贪心67.1981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原始39条全部合法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另10分由评委人工评定</a:t>
            </a:r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71500" y="4504283"/>
            <a:ext cx="11068050" cy="71437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813"/>
              </a:lnSpc>
              <a:buNone/>
            </a:pPr>
            <a:r>
              <a:rPr sz="1875" b="0" i="0">
                <a:solidFill>
                  <a:srgbClr val="182230"/>
                </a:solidFill>
                <a:latin typeface="Noto Sans SC"/>
                <a:ea typeface="Noto Sans SC"/>
              </a:rPr>
              <a:t>单一C++17策略 · Linux可执行程序 · 官方回放</a:t>
            </a:r>
            <a:r>
              <a:rPr sz="187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875" b="0" i="0">
                <a:solidFill>
                  <a:srgbClr val="182230"/>
                </a:solidFill>
                <a:latin typeface="Noto Sans SC"/>
                <a:ea typeface="Noto Sans SC"/>
              </a:rPr>
              <a:t>团队 / 作者：按参赛登记填写</a:t>
            </a:r>
            <a:endParaRPr lang="en-US"/>
          </a:p>
        </p:txBody>
      </p:sp>
      <p:pic>
        <p:nvPicPr>
          <p:cNvPr id="103" name="Presenton Native Image 4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571500" y="6296025"/>
            <a:ext cx="11049000" cy="323850"/>
          </a:xfrm>
          <a:prstGeom prst="rect">
            <a:avLst/>
          </a:prstGeom>
        </p:spPr>
      </p:pic>
      <p:sp>
        <p:nvSpPr>
          <p:cNvPr id="12" name="Shape 12"/>
          <p:cNvSpPr/>
          <p:nvPr/>
        </p:nvSpPr>
        <p:spPr>
          <a:xfrm>
            <a:off x="571500" y="6419850"/>
            <a:ext cx="2986534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SDK 6b1666e · online policy · simulation results</a:t>
            </a:r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11223427" y="6419850"/>
            <a:ext cx="416123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01 / 12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resenton Native Image 5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571500" y="361950"/>
            <a:ext cx="11049000" cy="376238"/>
          </a:xfrm>
          <a:prstGeom prst="rect">
            <a:avLst/>
          </a:prstGeom>
        </p:spPr>
      </p:pic>
      <p:sp>
        <p:nvSpPr>
          <p:cNvPr id="14" name="Shape 14"/>
          <p:cNvSpPr/>
          <p:nvPr/>
        </p:nvSpPr>
        <p:spPr>
          <a:xfrm>
            <a:off x="571500" y="361950"/>
            <a:ext cx="2141934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NDS / ONLINE IO SCHEDULING</a:t>
            </a:r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10334179" y="361950"/>
            <a:ext cx="1305371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01 / THE PROBLEM</a:t>
            </a:r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571500" y="1004888"/>
            <a:ext cx="11068050" cy="4762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750"/>
              </a:lnSpc>
              <a:buNone/>
            </a:pPr>
            <a:r>
              <a:rPr sz="3000" b="1" i="0">
                <a:solidFill>
                  <a:srgbClr val="182230"/>
                </a:solidFill>
                <a:latin typeface="Sora"/>
                <a:ea typeface="Sora"/>
              </a:rPr>
              <a:t>先把数据搬到计算设备，才能使用</a:t>
            </a:r>
            <a:endParaRPr lang="en-US"/>
          </a:p>
        </p:txBody>
      </p:sp>
      <p:pic>
        <p:nvPicPr>
          <p:cNvPr id="105" name="Presenton Native Image 6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571500" y="1728788"/>
            <a:ext cx="11049000" cy="3133725"/>
          </a:xfrm>
          <a:prstGeom prst="rect">
            <a:avLst/>
          </a:prstGeom>
        </p:spPr>
      </p:pic>
      <p:sp>
        <p:nvSpPr>
          <p:cNvPr id="17" name="Shape 17"/>
          <p:cNvSpPr/>
          <p:nvPr/>
        </p:nvSpPr>
        <p:spPr>
          <a:xfrm>
            <a:off x="571500" y="5091113"/>
            <a:ext cx="11068050" cy="71437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813"/>
              </a:lnSpc>
              <a:buNone/>
            </a:pPr>
            <a:r>
              <a:rPr sz="1875" b="0" i="0">
                <a:solidFill>
                  <a:srgbClr val="182230"/>
                </a:solidFill>
                <a:latin typeface="Noto Sans SC"/>
                <a:ea typeface="Noto Sans SC"/>
              </a:rPr>
              <a:t>在线：每次只能利用已到达请求、当前状态和历史。</a:t>
            </a:r>
            <a:r>
              <a:rPr sz="187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875" b="0" i="0">
                <a:solidFill>
                  <a:srgbClr val="182230"/>
                </a:solidFill>
                <a:latin typeface="Noto Sans SC"/>
                <a:ea typeface="Noto Sans SC"/>
              </a:rPr>
              <a:t>仿真器计算实际完成事件，策略负责选择搬运方案。</a:t>
            </a:r>
            <a:endParaRPr lang="en-US"/>
          </a:p>
        </p:txBody>
      </p:sp>
      <p:pic>
        <p:nvPicPr>
          <p:cNvPr id="106" name="Presenton Native Image 7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71500" y="6296025"/>
            <a:ext cx="11049000" cy="323850"/>
          </a:xfrm>
          <a:prstGeom prst="rect">
            <a:avLst/>
          </a:prstGeom>
        </p:spPr>
      </p:pic>
      <p:sp>
        <p:nvSpPr>
          <p:cNvPr id="18" name="Shape 18"/>
          <p:cNvSpPr/>
          <p:nvPr/>
        </p:nvSpPr>
        <p:spPr>
          <a:xfrm>
            <a:off x="571500" y="6419850"/>
            <a:ext cx="2986534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SDK 6b1666e · online policy · simulation results</a:t>
            </a:r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11196340" y="6419850"/>
            <a:ext cx="443210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02 / 12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resenton Native Image 8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571500" y="361950"/>
            <a:ext cx="11049000" cy="376238"/>
          </a:xfrm>
          <a:prstGeom prst="rect">
            <a:avLst/>
          </a:prstGeom>
        </p:spPr>
      </p:pic>
      <p:sp>
        <p:nvSpPr>
          <p:cNvPr id="20" name="Shape 20"/>
          <p:cNvSpPr/>
          <p:nvPr/>
        </p:nvSpPr>
        <p:spPr>
          <a:xfrm>
            <a:off x="571500" y="361950"/>
            <a:ext cx="2141934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NDS / ONLINE IO SCHEDULING</a:t>
            </a:r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10521702" y="361950"/>
            <a:ext cx="1117848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02 / OBJECTIVE</a:t>
            </a:r>
            <a:endParaRPr lang="en-US"/>
          </a:p>
        </p:txBody>
      </p:sp>
      <p:sp>
        <p:nvSpPr>
          <p:cNvPr id="22" name="Shape 22"/>
          <p:cNvSpPr/>
          <p:nvPr/>
        </p:nvSpPr>
        <p:spPr>
          <a:xfrm>
            <a:off x="571500" y="1004888"/>
            <a:ext cx="11068050" cy="4762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750"/>
              </a:lnSpc>
              <a:buNone/>
            </a:pPr>
            <a:r>
              <a:rPr sz="3000" b="1" i="0">
                <a:solidFill>
                  <a:srgbClr val="182230"/>
                </a:solidFill>
                <a:latin typeface="Sora"/>
                <a:ea typeface="Sora"/>
              </a:rPr>
              <a:t>减少整条Trace的时间与调用成本</a:t>
            </a:r>
            <a:endParaRPr lang="en-US"/>
          </a:p>
        </p:txBody>
      </p:sp>
      <p:pic>
        <p:nvPicPr>
          <p:cNvPr id="108" name="Presenton Native Image 9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571500" y="1728788"/>
            <a:ext cx="11049000" cy="3133725"/>
          </a:xfrm>
          <a:prstGeom prst="rect">
            <a:avLst/>
          </a:prstGeom>
        </p:spPr>
      </p:pic>
      <p:sp>
        <p:nvSpPr>
          <p:cNvPr id="23" name="Shape 23"/>
          <p:cNvSpPr/>
          <p:nvPr/>
        </p:nvSpPr>
        <p:spPr>
          <a:xfrm>
            <a:off x="571500" y="5091113"/>
            <a:ext cx="11068050" cy="38576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038"/>
              </a:lnSpc>
              <a:buNone/>
            </a:pPr>
            <a:r>
              <a:rPr sz="2025" b="0" i="0">
                <a:solidFill>
                  <a:srgbClr val="1647D8"/>
                </a:solidFill>
                <a:latin typeface="Noto Sans SC"/>
                <a:ea typeface="Noto Sans SC"/>
              </a:rPr>
              <a:t>J = 时间权重 × TraceTime + CPUCost + NPUCost</a:t>
            </a:r>
            <a:endParaRPr lang="en-US"/>
          </a:p>
        </p:txBody>
      </p:sp>
      <p:pic>
        <p:nvPicPr>
          <p:cNvPr id="109" name="Presenton Native Image 10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71500" y="6296025"/>
            <a:ext cx="11049000" cy="323850"/>
          </a:xfrm>
          <a:prstGeom prst="rect">
            <a:avLst/>
          </a:prstGeom>
        </p:spPr>
      </p:pic>
      <p:sp>
        <p:nvSpPr>
          <p:cNvPr id="24" name="Shape 24"/>
          <p:cNvSpPr/>
          <p:nvPr/>
        </p:nvSpPr>
        <p:spPr>
          <a:xfrm>
            <a:off x="571500" y="6419850"/>
            <a:ext cx="2986534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SDK 6b1666e · online policy · simulation results</a:t>
            </a:r>
            <a:endParaRPr lang="en-US"/>
          </a:p>
        </p:txBody>
      </p:sp>
      <p:sp>
        <p:nvSpPr>
          <p:cNvPr id="25" name="Shape 25"/>
          <p:cNvSpPr/>
          <p:nvPr/>
        </p:nvSpPr>
        <p:spPr>
          <a:xfrm>
            <a:off x="11195298" y="6419850"/>
            <a:ext cx="444252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03 / 12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resenton Native Image 11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571500" y="361950"/>
            <a:ext cx="11049000" cy="376238"/>
          </a:xfrm>
          <a:prstGeom prst="rect">
            <a:avLst/>
          </a:prstGeom>
        </p:spPr>
      </p:pic>
      <p:sp>
        <p:nvSpPr>
          <p:cNvPr id="26" name="Shape 26"/>
          <p:cNvSpPr/>
          <p:nvPr/>
        </p:nvSpPr>
        <p:spPr>
          <a:xfrm>
            <a:off x="571500" y="361950"/>
            <a:ext cx="2141934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NDS / ONLINE IO SCHEDULING</a:t>
            </a:r>
            <a:endParaRPr lang="en-US"/>
          </a:p>
        </p:txBody>
      </p:sp>
      <p:sp>
        <p:nvSpPr>
          <p:cNvPr id="27" name="Shape 27"/>
          <p:cNvSpPr/>
          <p:nvPr/>
        </p:nvSpPr>
        <p:spPr>
          <a:xfrm>
            <a:off x="10211842" y="361950"/>
            <a:ext cx="1427708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03 / ARCHITECTURE</a:t>
            </a:r>
            <a:endParaRPr lang="en-US"/>
          </a:p>
        </p:txBody>
      </p:sp>
      <p:sp>
        <p:nvSpPr>
          <p:cNvPr id="28" name="Shape 28"/>
          <p:cNvSpPr/>
          <p:nvPr/>
        </p:nvSpPr>
        <p:spPr>
          <a:xfrm>
            <a:off x="571500" y="1004888"/>
            <a:ext cx="11068050" cy="4762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750"/>
              </a:lnSpc>
              <a:buNone/>
            </a:pPr>
            <a:r>
              <a:rPr sz="3000" b="1" i="0">
                <a:solidFill>
                  <a:srgbClr val="182230"/>
                </a:solidFill>
                <a:latin typeface="Sora"/>
                <a:ea typeface="Sora"/>
              </a:rPr>
              <a:t>当前决定连接前台搬运和后台缓存</a:t>
            </a:r>
            <a:endParaRPr lang="en-US"/>
          </a:p>
        </p:txBody>
      </p:sp>
      <p:pic>
        <p:nvPicPr>
          <p:cNvPr id="111" name="Presenton Native Image 12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571500" y="1728788"/>
            <a:ext cx="3555950" cy="2470696"/>
          </a:xfrm>
          <a:prstGeom prst="rect">
            <a:avLst/>
          </a:prstGeom>
        </p:spPr>
      </p:pic>
      <p:sp>
        <p:nvSpPr>
          <p:cNvPr id="29" name="Shape 29"/>
          <p:cNvSpPr/>
          <p:nvPr/>
        </p:nvSpPr>
        <p:spPr>
          <a:xfrm>
            <a:off x="800100" y="1995488"/>
            <a:ext cx="3117800" cy="24288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13"/>
              </a:lnSpc>
              <a:buNone/>
            </a:pPr>
            <a:r>
              <a:rPr sz="1275" b="0" i="0">
                <a:solidFill>
                  <a:srgbClr val="1647D8"/>
                </a:solidFill>
                <a:latin typeface="Inter"/>
                <a:ea typeface="Inter"/>
              </a:rPr>
              <a:t>01 / OBSERVE</a:t>
            </a:r>
            <a:endParaRPr lang="en-US"/>
          </a:p>
        </p:txBody>
      </p:sp>
      <p:sp>
        <p:nvSpPr>
          <p:cNvPr id="30" name="Shape 30"/>
          <p:cNvSpPr/>
          <p:nvPr/>
        </p:nvSpPr>
        <p:spPr>
          <a:xfrm>
            <a:off x="800100" y="2352675"/>
            <a:ext cx="3117800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Noto Sans SC"/>
                <a:ea typeface="Noto Sans SC"/>
              </a:rPr>
              <a:t>观察可见工作</a:t>
            </a:r>
            <a:endParaRPr lang="en-US"/>
          </a:p>
        </p:txBody>
      </p:sp>
      <p:sp>
        <p:nvSpPr>
          <p:cNvPr id="31" name="Shape 31"/>
          <p:cNvSpPr/>
          <p:nvPr/>
        </p:nvSpPr>
        <p:spPr>
          <a:xfrm>
            <a:off x="800100" y="2919413"/>
            <a:ext cx="3117800" cy="10514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60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当前未命中请求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各卡各类复制状态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仍未完成的已到达批次</a:t>
            </a:r>
            <a:endParaRPr lang="en-US"/>
          </a:p>
        </p:txBody>
      </p:sp>
      <p:pic>
        <p:nvPicPr>
          <p:cNvPr id="112" name="Presenton Native Image 13" descr=""/>
          <p:cNvPicPr/>
          <p:nvPr/>
        </p:nvPicPr>
        <p:blipFill>
          <a:blip r:embed="rId5" cstate="none"/>
          <a:stretch>
            <a:fillRect/>
          </a:stretch>
        </p:blipFill>
        <p:spPr>
          <a:xfrm>
            <a:off x="4317950" y="1728788"/>
            <a:ext cx="3555950" cy="2470696"/>
          </a:xfrm>
          <a:prstGeom prst="rect">
            <a:avLst/>
          </a:prstGeom>
        </p:spPr>
      </p:pic>
      <p:sp>
        <p:nvSpPr>
          <p:cNvPr id="32" name="Shape 32"/>
          <p:cNvSpPr/>
          <p:nvPr/>
        </p:nvSpPr>
        <p:spPr>
          <a:xfrm>
            <a:off x="4546550" y="1995488"/>
            <a:ext cx="3117800" cy="24288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13"/>
              </a:lnSpc>
              <a:buNone/>
            </a:pPr>
            <a:r>
              <a:rPr sz="1275" b="0" i="0">
                <a:solidFill>
                  <a:srgbClr val="1647D8"/>
                </a:solidFill>
                <a:latin typeface="Inter"/>
                <a:ea typeface="Inter"/>
              </a:rPr>
              <a:t>02 / SCHEDULE</a:t>
            </a:r>
            <a:endParaRPr lang="en-US"/>
          </a:p>
        </p:txBody>
      </p:sp>
      <p:sp>
        <p:nvSpPr>
          <p:cNvPr id="33" name="Shape 33"/>
          <p:cNvSpPr/>
          <p:nvPr/>
        </p:nvSpPr>
        <p:spPr>
          <a:xfrm>
            <a:off x="4546550" y="2352675"/>
            <a:ext cx="3117800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Noto Sans SC"/>
                <a:ea typeface="Noto Sans SC"/>
              </a:rPr>
              <a:t>选择合法方案</a:t>
            </a:r>
            <a:endParaRPr lang="en-US"/>
          </a:p>
        </p:txBody>
      </p:sp>
      <p:sp>
        <p:nvSpPr>
          <p:cNvPr id="34" name="Shape 34"/>
          <p:cNvSpPr/>
          <p:nvPr/>
        </p:nvSpPr>
        <p:spPr>
          <a:xfrm>
            <a:off x="4546550" y="2919413"/>
            <a:ext cx="3117800" cy="10514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60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区间DP与块长候选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有限窗口成本比较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输出读取→复制依赖</a:t>
            </a:r>
            <a:endParaRPr lang="en-US"/>
          </a:p>
        </p:txBody>
      </p:sp>
      <p:pic>
        <p:nvPicPr>
          <p:cNvPr id="113" name="Presenton Native Image 14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8064401" y="1728788"/>
            <a:ext cx="3556099" cy="2470696"/>
          </a:xfrm>
          <a:prstGeom prst="rect">
            <a:avLst/>
          </a:prstGeom>
        </p:spPr>
      </p:pic>
      <p:sp>
        <p:nvSpPr>
          <p:cNvPr id="35" name="Shape 35"/>
          <p:cNvSpPr/>
          <p:nvPr/>
        </p:nvSpPr>
        <p:spPr>
          <a:xfrm>
            <a:off x="8293001" y="1995488"/>
            <a:ext cx="3117949" cy="24288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13"/>
              </a:lnSpc>
              <a:buNone/>
            </a:pPr>
            <a:r>
              <a:rPr sz="1275" b="0" i="0">
                <a:solidFill>
                  <a:srgbClr val="1647D8"/>
                </a:solidFill>
                <a:latin typeface="Inter"/>
                <a:ea typeface="Inter"/>
              </a:rPr>
              <a:t>03 / COMPLETE</a:t>
            </a:r>
            <a:endParaRPr lang="en-US"/>
          </a:p>
        </p:txBody>
      </p:sp>
      <p:sp>
        <p:nvSpPr>
          <p:cNvPr id="36" name="Shape 36"/>
          <p:cNvSpPr/>
          <p:nvPr/>
        </p:nvSpPr>
        <p:spPr>
          <a:xfrm>
            <a:off x="8293001" y="2352675"/>
            <a:ext cx="3117949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Noto Sans SC"/>
                <a:ea typeface="Noto Sans SC"/>
              </a:rPr>
              <a:t>完成后再准入</a:t>
            </a:r>
            <a:endParaRPr lang="en-US"/>
          </a:p>
        </p:txBody>
      </p:sp>
      <p:sp>
        <p:nvSpPr>
          <p:cNvPr id="37" name="Shape 37"/>
          <p:cNvSpPr/>
          <p:nvPr/>
        </p:nvSpPr>
        <p:spPr>
          <a:xfrm>
            <a:off x="8293001" y="2919413"/>
            <a:ext cx="3117949" cy="10514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60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复用和时效检查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新增服务成本预算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命中反馈与来源选择</a:t>
            </a:r>
            <a:endParaRPr lang="en-US"/>
          </a:p>
        </p:txBody>
      </p:sp>
      <p:sp>
        <p:nvSpPr>
          <p:cNvPr id="38" name="Shape 38"/>
          <p:cNvSpPr/>
          <p:nvPr/>
        </p:nvSpPr>
        <p:spPr>
          <a:xfrm>
            <a:off x="571500" y="4504283"/>
            <a:ext cx="11068050" cy="3429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0" i="0">
                <a:solidFill>
                  <a:srgbClr val="182230"/>
                </a:solidFill>
                <a:latin typeface="Noto Sans SC"/>
                <a:ea typeface="Noto Sans SC"/>
              </a:rPr>
              <a:t>资源分配、缓冲释放、TTL/LRU和完成时间由官方SDK执行。</a:t>
            </a:r>
            <a:endParaRPr lang="en-US"/>
          </a:p>
        </p:txBody>
      </p:sp>
      <p:pic>
        <p:nvPicPr>
          <p:cNvPr id="114" name="Presenton Native Image 15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71500" y="6296025"/>
            <a:ext cx="11049000" cy="323850"/>
          </a:xfrm>
          <a:prstGeom prst="rect">
            <a:avLst/>
          </a:prstGeom>
        </p:spPr>
      </p:pic>
      <p:sp>
        <p:nvSpPr>
          <p:cNvPr id="39" name="Shape 39"/>
          <p:cNvSpPr/>
          <p:nvPr/>
        </p:nvSpPr>
        <p:spPr>
          <a:xfrm>
            <a:off x="571500" y="6419850"/>
            <a:ext cx="2986534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SDK 6b1666e · online policy · simulation results</a:t>
            </a:r>
            <a:endParaRPr lang="en-US"/>
          </a:p>
        </p:txBody>
      </p:sp>
      <p:sp>
        <p:nvSpPr>
          <p:cNvPr id="40" name="Shape 40"/>
          <p:cNvSpPr/>
          <p:nvPr/>
        </p:nvSpPr>
        <p:spPr>
          <a:xfrm>
            <a:off x="11191577" y="6419850"/>
            <a:ext cx="447973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04 / 12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resenton Native Image 16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571500" y="361950"/>
            <a:ext cx="11049000" cy="376238"/>
          </a:xfrm>
          <a:prstGeom prst="rect">
            <a:avLst/>
          </a:prstGeom>
        </p:spPr>
      </p:pic>
      <p:sp>
        <p:nvSpPr>
          <p:cNvPr id="41" name="Shape 41"/>
          <p:cNvSpPr/>
          <p:nvPr/>
        </p:nvSpPr>
        <p:spPr>
          <a:xfrm>
            <a:off x="571500" y="361950"/>
            <a:ext cx="2141934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NDS / ONLINE IO SCHEDULING</a:t>
            </a:r>
            <a:endParaRPr lang="en-US"/>
          </a:p>
        </p:txBody>
      </p:sp>
      <p:sp>
        <p:nvSpPr>
          <p:cNvPr id="42" name="Shape 42"/>
          <p:cNvSpPr/>
          <p:nvPr/>
        </p:nvSpPr>
        <p:spPr>
          <a:xfrm>
            <a:off x="10309920" y="361950"/>
            <a:ext cx="1329630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04 / FOREGROUND</a:t>
            </a:r>
            <a:endParaRPr lang="en-US"/>
          </a:p>
        </p:txBody>
      </p:sp>
      <p:sp>
        <p:nvSpPr>
          <p:cNvPr id="43" name="Shape 43"/>
          <p:cNvSpPr/>
          <p:nvPr/>
        </p:nvSpPr>
        <p:spPr>
          <a:xfrm>
            <a:off x="571500" y="1004888"/>
            <a:ext cx="11068050" cy="4762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750"/>
              </a:lnSpc>
              <a:buNone/>
            </a:pPr>
            <a:r>
              <a:rPr sz="3000" b="1" i="0">
                <a:solidFill>
                  <a:srgbClr val="182230"/>
                </a:solidFill>
                <a:latin typeface="Sora"/>
                <a:ea typeface="Sora"/>
              </a:rPr>
              <a:t>分组、块长与路径共同决定成本</a:t>
            </a:r>
            <a:endParaRPr lang="en-US"/>
          </a:p>
        </p:txBody>
      </p:sp>
      <p:pic>
        <p:nvPicPr>
          <p:cNvPr id="116" name="Presenton Native Image 17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571500" y="1728788"/>
            <a:ext cx="11049000" cy="3133725"/>
          </a:xfrm>
          <a:prstGeom prst="rect">
            <a:avLst/>
          </a:prstGeom>
        </p:spPr>
      </p:pic>
      <p:sp>
        <p:nvSpPr>
          <p:cNvPr id="44" name="Shape 44"/>
          <p:cNvSpPr/>
          <p:nvPr/>
        </p:nvSpPr>
        <p:spPr>
          <a:xfrm>
            <a:off x="571500" y="5091113"/>
            <a:ext cx="11068050" cy="6572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588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大块减少命令与小尾块，小块可能改善流水。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选择依据是成本模型与约束，不是测试名称。</a:t>
            </a:r>
            <a:endParaRPr lang="en-US"/>
          </a:p>
        </p:txBody>
      </p:sp>
      <p:pic>
        <p:nvPicPr>
          <p:cNvPr id="117" name="Presenton Native Image 18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71500" y="6296025"/>
            <a:ext cx="11049000" cy="323850"/>
          </a:xfrm>
          <a:prstGeom prst="rect">
            <a:avLst/>
          </a:prstGeom>
        </p:spPr>
      </p:pic>
      <p:sp>
        <p:nvSpPr>
          <p:cNvPr id="45" name="Shape 45"/>
          <p:cNvSpPr/>
          <p:nvPr/>
        </p:nvSpPr>
        <p:spPr>
          <a:xfrm>
            <a:off x="571500" y="6419850"/>
            <a:ext cx="2986534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SDK 6b1666e · online policy · simulation results</a:t>
            </a:r>
            <a:endParaRPr lang="en-US"/>
          </a:p>
        </p:txBody>
      </p:sp>
      <p:sp>
        <p:nvSpPr>
          <p:cNvPr id="46" name="Shape 46"/>
          <p:cNvSpPr/>
          <p:nvPr/>
        </p:nvSpPr>
        <p:spPr>
          <a:xfrm>
            <a:off x="11198572" y="6419850"/>
            <a:ext cx="440978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05 / 12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resenton Native Image 19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571500" y="361950"/>
            <a:ext cx="11049000" cy="376238"/>
          </a:xfrm>
          <a:prstGeom prst="rect">
            <a:avLst/>
          </a:prstGeom>
        </p:spPr>
      </p:pic>
      <p:sp>
        <p:nvSpPr>
          <p:cNvPr id="47" name="Shape 47"/>
          <p:cNvSpPr/>
          <p:nvPr/>
        </p:nvSpPr>
        <p:spPr>
          <a:xfrm>
            <a:off x="571500" y="361950"/>
            <a:ext cx="2141934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NDS / ONLINE IO SCHEDULING</a:t>
            </a:r>
            <a:endParaRPr lang="en-US"/>
          </a:p>
        </p:txBody>
      </p:sp>
      <p:sp>
        <p:nvSpPr>
          <p:cNvPr id="48" name="Shape 48"/>
          <p:cNvSpPr/>
          <p:nvPr/>
        </p:nvSpPr>
        <p:spPr>
          <a:xfrm>
            <a:off x="9876086" y="361950"/>
            <a:ext cx="1763464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05 / OBSERVED WINDOW</a:t>
            </a:r>
            <a:endParaRPr lang="en-US"/>
          </a:p>
        </p:txBody>
      </p:sp>
      <p:sp>
        <p:nvSpPr>
          <p:cNvPr id="49" name="Shape 49"/>
          <p:cNvSpPr/>
          <p:nvPr/>
        </p:nvSpPr>
        <p:spPr>
          <a:xfrm>
            <a:off x="571500" y="1004888"/>
            <a:ext cx="11068050" cy="4762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750"/>
              </a:lnSpc>
              <a:buNone/>
            </a:pPr>
            <a:r>
              <a:rPr sz="3000" b="1" i="0">
                <a:solidFill>
                  <a:srgbClr val="182230"/>
                </a:solidFill>
                <a:latin typeface="Sora"/>
                <a:ea typeface="Sora"/>
              </a:rPr>
              <a:t>把已到达批次之间的竞争纳入比较</a:t>
            </a:r>
            <a:endParaRPr lang="en-US"/>
          </a:p>
        </p:txBody>
      </p:sp>
      <p:pic>
        <p:nvPicPr>
          <p:cNvPr id="119" name="Presenton Native Image 20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71500" y="1728788"/>
            <a:ext cx="5372100" cy="2470696"/>
          </a:xfrm>
          <a:prstGeom prst="rect">
            <a:avLst/>
          </a:prstGeom>
        </p:spPr>
      </p:pic>
      <p:sp>
        <p:nvSpPr>
          <p:cNvPr id="50" name="Shape 50"/>
          <p:cNvSpPr/>
          <p:nvPr/>
        </p:nvSpPr>
        <p:spPr>
          <a:xfrm>
            <a:off x="800100" y="1995488"/>
            <a:ext cx="4933950" cy="24288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13"/>
              </a:lnSpc>
              <a:buNone/>
            </a:pPr>
            <a:r>
              <a:rPr sz="1275" b="0" i="0">
                <a:solidFill>
                  <a:srgbClr val="1647D8"/>
                </a:solidFill>
                <a:latin typeface="Inter"/>
                <a:ea typeface="Inter"/>
              </a:rPr>
              <a:t>BOUNDED SEARCH</a:t>
            </a:r>
            <a:endParaRPr lang="en-US"/>
          </a:p>
        </p:txBody>
      </p:sp>
      <p:sp>
        <p:nvSpPr>
          <p:cNvPr id="51" name="Shape 51"/>
          <p:cNvSpPr/>
          <p:nvPr/>
        </p:nvSpPr>
        <p:spPr>
          <a:xfrm>
            <a:off x="800100" y="2352675"/>
            <a:ext cx="4933950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Noto Sans SC"/>
                <a:ea typeface="Noto Sans SC"/>
              </a:rPr>
              <a:t>至多六种普通候选</a:t>
            </a:r>
            <a:endParaRPr lang="en-US"/>
          </a:p>
        </p:txBody>
      </p:sp>
      <p:sp>
        <p:nvSpPr>
          <p:cNvPr id="52" name="Shape 52"/>
          <p:cNvSpPr/>
          <p:nvPr/>
        </p:nvSpPr>
        <p:spPr>
          <a:xfrm>
            <a:off x="800100" y="2919413"/>
            <a:ext cx="4933950" cy="10514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60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两个块长下的DP结果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及可行路径偏好；窗口最多32批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按iov和操作预算进一步截断</a:t>
            </a:r>
            <a:endParaRPr lang="en-US"/>
          </a:p>
        </p:txBody>
      </p:sp>
      <p:pic>
        <p:nvPicPr>
          <p:cNvPr id="120" name="Presenton Native Image 21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6248400" y="1728788"/>
            <a:ext cx="5372100" cy="2470696"/>
          </a:xfrm>
          <a:prstGeom prst="rect">
            <a:avLst/>
          </a:prstGeom>
        </p:spPr>
      </p:pic>
      <p:sp>
        <p:nvSpPr>
          <p:cNvPr id="53" name="Shape 53"/>
          <p:cNvSpPr/>
          <p:nvPr/>
        </p:nvSpPr>
        <p:spPr>
          <a:xfrm>
            <a:off x="6477000" y="1995488"/>
            <a:ext cx="4933950" cy="24288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13"/>
              </a:lnSpc>
              <a:buNone/>
            </a:pPr>
            <a:r>
              <a:rPr sz="1275" b="0" i="0">
                <a:solidFill>
                  <a:srgbClr val="1647D8"/>
                </a:solidFill>
                <a:latin typeface="Inter"/>
                <a:ea typeface="Inter"/>
              </a:rPr>
              <a:t>ONLINE BOUNDARY</a:t>
            </a:r>
            <a:endParaRPr lang="en-US"/>
          </a:p>
        </p:txBody>
      </p:sp>
      <p:sp>
        <p:nvSpPr>
          <p:cNvPr id="54" name="Shape 54"/>
          <p:cNvSpPr/>
          <p:nvPr/>
        </p:nvSpPr>
        <p:spPr>
          <a:xfrm>
            <a:off x="6477000" y="2352675"/>
            <a:ext cx="4933950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Noto Sans SC"/>
                <a:ea typeface="Noto Sans SC"/>
              </a:rPr>
              <a:t>只执行当前决定</a:t>
            </a:r>
            <a:endParaRPr lang="en-US"/>
          </a:p>
        </p:txBody>
      </p:sp>
      <p:sp>
        <p:nvSpPr>
          <p:cNvPr id="55" name="Shape 55"/>
          <p:cNvSpPr/>
          <p:nvPr/>
        </p:nvSpPr>
        <p:spPr>
          <a:xfrm>
            <a:off x="6477000" y="2919413"/>
            <a:ext cx="4933950" cy="10514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60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窗口内作反事实比较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不修改已经执行的操作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不读取未来Trace</a:t>
            </a:r>
            <a:endParaRPr lang="en-US"/>
          </a:p>
        </p:txBody>
      </p:sp>
      <p:sp>
        <p:nvSpPr>
          <p:cNvPr id="56" name="Shape 56"/>
          <p:cNvSpPr/>
          <p:nvPr/>
        </p:nvSpPr>
        <p:spPr>
          <a:xfrm>
            <a:off x="571500" y="4504283"/>
            <a:ext cx="11068050" cy="1114425"/>
          </a:xfrm>
          <a:prstGeom prst="rect">
            <a:avLst/>
          </a:prstGeom>
          <a:solidFill>
            <a:srgbClr val="DCE8FF"/>
          </a:solidFill>
        </p:spPr>
        <p:txBody>
          <a:bodyPr anchor="t" wrap="square" tIns="228600" bIns="228600" lIns="228600" rIns="228600">
            <a:normAutofit/>
          </a:bodyPr>
          <a:lstStyle/>
          <a:p>
            <a:pPr algn="l">
              <a:lnSpc>
                <a:spcPts val="2588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窗口省略更早工作、缓存命中搬运和后台流量，因此仍是成本代理。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高iov输入限制模拟开销；微批搜索也有明确上限。</a:t>
            </a:r>
            <a:endParaRPr lang="en-US"/>
          </a:p>
        </p:txBody>
      </p:sp>
      <p:pic>
        <p:nvPicPr>
          <p:cNvPr id="121" name="Presenton Native Image 22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571500" y="6296025"/>
            <a:ext cx="11049000" cy="323850"/>
          </a:xfrm>
          <a:prstGeom prst="rect">
            <a:avLst/>
          </a:prstGeom>
        </p:spPr>
      </p:pic>
      <p:sp>
        <p:nvSpPr>
          <p:cNvPr id="57" name="Shape 57"/>
          <p:cNvSpPr/>
          <p:nvPr/>
        </p:nvSpPr>
        <p:spPr>
          <a:xfrm>
            <a:off x="571500" y="6419850"/>
            <a:ext cx="2986534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SDK 6b1666e · online policy · simulation results</a:t>
            </a:r>
            <a:endParaRPr lang="en-US"/>
          </a:p>
        </p:txBody>
      </p:sp>
      <p:sp>
        <p:nvSpPr>
          <p:cNvPr id="58" name="Shape 58"/>
          <p:cNvSpPr/>
          <p:nvPr/>
        </p:nvSpPr>
        <p:spPr>
          <a:xfrm>
            <a:off x="11195000" y="6419850"/>
            <a:ext cx="444550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06 / 12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resenton Native Image 23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571500" y="361950"/>
            <a:ext cx="11049000" cy="376238"/>
          </a:xfrm>
          <a:prstGeom prst="rect">
            <a:avLst/>
          </a:prstGeom>
        </p:spPr>
      </p:pic>
      <p:sp>
        <p:nvSpPr>
          <p:cNvPr id="59" name="Shape 59"/>
          <p:cNvSpPr/>
          <p:nvPr/>
        </p:nvSpPr>
        <p:spPr>
          <a:xfrm>
            <a:off x="571500" y="361950"/>
            <a:ext cx="2141934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NDS / ONLINE IO SCHEDULING</a:t>
            </a:r>
            <a:endParaRPr lang="en-US"/>
          </a:p>
        </p:txBody>
      </p:sp>
      <p:sp>
        <p:nvSpPr>
          <p:cNvPr id="60" name="Shape 60"/>
          <p:cNvSpPr/>
          <p:nvPr/>
        </p:nvSpPr>
        <p:spPr>
          <a:xfrm>
            <a:off x="10818168" y="361950"/>
            <a:ext cx="821382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06 / CACHE</a:t>
            </a:r>
            <a:endParaRPr lang="en-US"/>
          </a:p>
        </p:txBody>
      </p:sp>
      <p:sp>
        <p:nvSpPr>
          <p:cNvPr id="61" name="Shape 61"/>
          <p:cNvSpPr/>
          <p:nvPr/>
        </p:nvSpPr>
        <p:spPr>
          <a:xfrm>
            <a:off x="571500" y="1004888"/>
            <a:ext cx="11068050" cy="4762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750"/>
              </a:lnSpc>
              <a:buNone/>
            </a:pPr>
            <a:r>
              <a:rPr sz="3000" b="1" i="0">
                <a:solidFill>
                  <a:srgbClr val="182230"/>
                </a:solidFill>
                <a:latin typeface="Sora"/>
                <a:ea typeface="Sora"/>
              </a:rPr>
              <a:t>以已观察的复用证据约束缓存投入</a:t>
            </a:r>
            <a:endParaRPr lang="en-US"/>
          </a:p>
        </p:txBody>
      </p:sp>
      <p:pic>
        <p:nvPicPr>
          <p:cNvPr id="123" name="Presenton Native Image 24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571500" y="1728788"/>
            <a:ext cx="11049000" cy="3133725"/>
          </a:xfrm>
          <a:prstGeom prst="rect">
            <a:avLst/>
          </a:prstGeom>
        </p:spPr>
      </p:pic>
      <p:sp>
        <p:nvSpPr>
          <p:cNvPr id="62" name="Shape 62"/>
          <p:cNvSpPr/>
          <p:nvPr/>
        </p:nvSpPr>
        <p:spPr>
          <a:xfrm>
            <a:off x="571500" y="5091113"/>
            <a:ext cx="11068050" cy="6572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588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命中也有H2D成本；历史重复不保证未来继续访问。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预算和时效判断仍是可检验的在线估计。</a:t>
            </a:r>
            <a:endParaRPr lang="en-US"/>
          </a:p>
        </p:txBody>
      </p:sp>
      <p:pic>
        <p:nvPicPr>
          <p:cNvPr id="124" name="Presenton Native Image 25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71500" y="6296025"/>
            <a:ext cx="11049000" cy="323850"/>
          </a:xfrm>
          <a:prstGeom prst="rect">
            <a:avLst/>
          </a:prstGeom>
        </p:spPr>
      </p:pic>
      <p:sp>
        <p:nvSpPr>
          <p:cNvPr id="63" name="Shape 63"/>
          <p:cNvSpPr/>
          <p:nvPr/>
        </p:nvSpPr>
        <p:spPr>
          <a:xfrm>
            <a:off x="571500" y="6419850"/>
            <a:ext cx="2986534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SDK 6b1666e · online policy · simulation results</a:t>
            </a:r>
            <a:endParaRPr lang="en-US"/>
          </a:p>
        </p:txBody>
      </p:sp>
      <p:sp>
        <p:nvSpPr>
          <p:cNvPr id="64" name="Shape 64"/>
          <p:cNvSpPr/>
          <p:nvPr/>
        </p:nvSpPr>
        <p:spPr>
          <a:xfrm>
            <a:off x="11204823" y="6419850"/>
            <a:ext cx="434727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07 / 12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resenton Native Image 26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571500" y="361950"/>
            <a:ext cx="11049000" cy="376238"/>
          </a:xfrm>
          <a:prstGeom prst="rect">
            <a:avLst/>
          </a:prstGeom>
        </p:spPr>
      </p:pic>
      <p:sp>
        <p:nvSpPr>
          <p:cNvPr id="65" name="Shape 65"/>
          <p:cNvSpPr/>
          <p:nvPr/>
        </p:nvSpPr>
        <p:spPr>
          <a:xfrm>
            <a:off x="571500" y="361950"/>
            <a:ext cx="2141934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NDS / ONLINE IO SCHEDULING</a:t>
            </a:r>
            <a:endParaRPr lang="en-US"/>
          </a:p>
        </p:txBody>
      </p:sp>
      <p:sp>
        <p:nvSpPr>
          <p:cNvPr id="66" name="Shape 66"/>
          <p:cNvSpPr/>
          <p:nvPr/>
        </p:nvSpPr>
        <p:spPr>
          <a:xfrm>
            <a:off x="10481667" y="361950"/>
            <a:ext cx="1157883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07 / VALIDATION</a:t>
            </a:r>
            <a:endParaRPr lang="en-US"/>
          </a:p>
        </p:txBody>
      </p:sp>
      <p:sp>
        <p:nvSpPr>
          <p:cNvPr id="67" name="Shape 67"/>
          <p:cNvSpPr/>
          <p:nvPr/>
        </p:nvSpPr>
        <p:spPr>
          <a:xfrm>
            <a:off x="571500" y="1004888"/>
            <a:ext cx="11068050" cy="4762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750"/>
              </a:lnSpc>
              <a:buNone/>
            </a:pPr>
            <a:r>
              <a:rPr sz="3000" b="1" i="0">
                <a:solidFill>
                  <a:srgbClr val="182230"/>
                </a:solidFill>
                <a:latin typeface="Sora"/>
                <a:ea typeface="Sora"/>
              </a:rPr>
              <a:t>438条输入，1314次运行及官方回放</a:t>
            </a:r>
            <a:endParaRPr lang="en-US"/>
          </a:p>
        </p:txBody>
      </p:sp>
      <p:pic>
        <p:nvPicPr>
          <p:cNvPr id="126" name="Presenton Native Image 27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571500" y="1728788"/>
            <a:ext cx="11049000" cy="3133725"/>
          </a:xfrm>
          <a:prstGeom prst="rect">
            <a:avLst/>
          </a:prstGeom>
        </p:spPr>
      </p:pic>
      <p:sp>
        <p:nvSpPr>
          <p:cNvPr id="68" name="Shape 68"/>
          <p:cNvSpPr/>
          <p:nvPr/>
        </p:nvSpPr>
        <p:spPr>
          <a:xfrm>
            <a:off x="571500" y="5129213"/>
            <a:ext cx="11068050" cy="1066800"/>
          </a:xfrm>
          <a:prstGeom prst="rect">
            <a:avLst/>
          </a:prstGeom>
          <a:solidFill>
            <a:srgbClr val="1647D8"/>
          </a:solidFill>
        </p:spPr>
        <p:txBody>
          <a:bodyPr anchor="t" wrap="square" tIns="190500" bIns="190500" lIns="190500" rIns="19050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0" i="0">
                <a:solidFill>
                  <a:srgbClr val="FFFFFF"/>
                </a:solidFill>
                <a:latin typeface="Noto Sans SC"/>
                <a:ea typeface="Noto Sans SC"/>
              </a:rPr>
              <a:t>全部合法；同一输入三次完整输出哈希一致。</a:t>
            </a:r>
            <a:r>
              <a:rPr sz="1800" b="0" i="0">
                <a:solidFill>
                  <a:srgbClr val="FFFFFF"/>
                </a:solidFill>
                <a:latin typeface="Noto Sans SC"/>
                <a:ea typeface="Noto Sans SC"/>
              </a:rPr>
              <a:t xml:space="preserve">
</a:t>
            </a:r>
            <a:r>
              <a:rPr sz="1800" b="0" i="0">
                <a:solidFill>
                  <a:srgbClr val="FFFFFF"/>
                </a:solidFill>
                <a:latin typeface="Noto Sans SC"/>
                <a:ea typeface="Noto Sans SC"/>
              </a:rPr>
              <a:t>合成输入不冒称主办方隐藏集。</a:t>
            </a:r>
            <a:endParaRPr lang="en-US"/>
          </a:p>
        </p:txBody>
      </p:sp>
      <p:pic>
        <p:nvPicPr>
          <p:cNvPr id="127" name="Presenton Native Image 28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71500" y="6296025"/>
            <a:ext cx="11049000" cy="323850"/>
          </a:xfrm>
          <a:prstGeom prst="rect">
            <a:avLst/>
          </a:prstGeom>
        </p:spPr>
      </p:pic>
      <p:sp>
        <p:nvSpPr>
          <p:cNvPr id="69" name="Shape 69"/>
          <p:cNvSpPr/>
          <p:nvPr/>
        </p:nvSpPr>
        <p:spPr>
          <a:xfrm>
            <a:off x="571500" y="6419850"/>
            <a:ext cx="2986534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SDK 6b1666e · online policy · simulation results</a:t>
            </a:r>
            <a:endParaRPr lang="en-US"/>
          </a:p>
        </p:txBody>
      </p:sp>
      <p:sp>
        <p:nvSpPr>
          <p:cNvPr id="70" name="Shape 70"/>
          <p:cNvSpPr/>
          <p:nvPr/>
        </p:nvSpPr>
        <p:spPr>
          <a:xfrm>
            <a:off x="11195149" y="6419850"/>
            <a:ext cx="444401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08 / 12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resenton Native Image 29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571500" y="361950"/>
            <a:ext cx="11049000" cy="376238"/>
          </a:xfrm>
          <a:prstGeom prst="rect">
            <a:avLst/>
          </a:prstGeom>
        </p:spPr>
      </p:pic>
      <p:sp>
        <p:nvSpPr>
          <p:cNvPr id="71" name="Shape 71"/>
          <p:cNvSpPr/>
          <p:nvPr/>
        </p:nvSpPr>
        <p:spPr>
          <a:xfrm>
            <a:off x="571500" y="361950"/>
            <a:ext cx="2141934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NDS / ONLINE IO SCHEDULING</a:t>
            </a:r>
            <a:endParaRPr lang="en-US"/>
          </a:p>
        </p:txBody>
      </p:sp>
      <p:sp>
        <p:nvSpPr>
          <p:cNvPr id="72" name="Shape 72"/>
          <p:cNvSpPr/>
          <p:nvPr/>
        </p:nvSpPr>
        <p:spPr>
          <a:xfrm>
            <a:off x="9912251" y="361950"/>
            <a:ext cx="1727299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08 / COST COMPARISON</a:t>
            </a:r>
            <a:endParaRPr lang="en-US"/>
          </a:p>
        </p:txBody>
      </p:sp>
      <p:sp>
        <p:nvSpPr>
          <p:cNvPr id="73" name="Shape 73"/>
          <p:cNvSpPr/>
          <p:nvPr/>
        </p:nvSpPr>
        <p:spPr>
          <a:xfrm>
            <a:off x="571500" y="1004888"/>
            <a:ext cx="11068050" cy="4762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750"/>
              </a:lnSpc>
              <a:buNone/>
            </a:pPr>
            <a:r>
              <a:rPr sz="3000" b="1" i="0">
                <a:solidFill>
                  <a:srgbClr val="182230"/>
                </a:solidFill>
                <a:latin typeface="Sora"/>
                <a:ea typeface="Sora"/>
              </a:rPr>
              <a:t>同时报告收益和回退</a:t>
            </a:r>
            <a:endParaRPr lang="en-US"/>
          </a:p>
        </p:txBody>
      </p:sp>
      <p:pic>
        <p:nvPicPr>
          <p:cNvPr id="129" name="Presenton Native Image 30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571500" y="1728788"/>
            <a:ext cx="11049000" cy="3762375"/>
          </a:xfrm>
          <a:prstGeom prst="rect">
            <a:avLst/>
          </a:prstGeom>
        </p:spPr>
      </p:pic>
      <p:sp>
        <p:nvSpPr>
          <p:cNvPr id="74" name="Shape 74"/>
          <p:cNvSpPr/>
          <p:nvPr/>
        </p:nvSpPr>
        <p:spPr>
          <a:xfrm>
            <a:off x="571500" y="5681663"/>
            <a:ext cx="11068050" cy="6286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475"/>
              </a:lnSpc>
              <a:buNone/>
            </a:pPr>
            <a:r>
              <a:rPr sz="1650" b="0" i="0">
                <a:solidFill>
                  <a:srgbClr val="182230"/>
                </a:solidFill>
                <a:latin typeface="Noto Sans SC"/>
                <a:ea typeface="Noto Sans SC"/>
              </a:rPr>
              <a:t>成本比 = 方案J / 官方贪心J；越低越好。</a:t>
            </a:r>
            <a:r>
              <a:rPr sz="1650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650" b="0" i="0">
                <a:solidFill>
                  <a:srgbClr val="182230"/>
                </a:solidFill>
                <a:latin typeface="Noto Sans SC"/>
                <a:ea typeface="Noto Sans SC"/>
              </a:rPr>
              <a:t>逐例回退在报告中完整保留，均值不是官方评分。</a:t>
            </a:r>
            <a:endParaRPr lang="en-US"/>
          </a:p>
        </p:txBody>
      </p:sp>
      <p:pic>
        <p:nvPicPr>
          <p:cNvPr id="130" name="Presenton Native Image 31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71500" y="6296025"/>
            <a:ext cx="11049000" cy="323850"/>
          </a:xfrm>
          <a:prstGeom prst="rect">
            <a:avLst/>
          </a:prstGeom>
        </p:spPr>
      </p:pic>
      <p:sp>
        <p:nvSpPr>
          <p:cNvPr id="75" name="Shape 75"/>
          <p:cNvSpPr/>
          <p:nvPr/>
        </p:nvSpPr>
        <p:spPr>
          <a:xfrm>
            <a:off x="571500" y="6419850"/>
            <a:ext cx="2986534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SDK 6b1666e · online policy · simulation results</a:t>
            </a:r>
            <a:endParaRPr lang="en-US"/>
          </a:p>
        </p:txBody>
      </p:sp>
      <p:sp>
        <p:nvSpPr>
          <p:cNvPr id="76" name="Shape 76"/>
          <p:cNvSpPr/>
          <p:nvPr/>
        </p:nvSpPr>
        <p:spPr>
          <a:xfrm>
            <a:off x="11195000" y="6419850"/>
            <a:ext cx="444550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09 / 12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resenton Native Image 32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571500" y="361950"/>
            <a:ext cx="11049000" cy="376238"/>
          </a:xfrm>
          <a:prstGeom prst="rect">
            <a:avLst/>
          </a:prstGeom>
        </p:spPr>
      </p:pic>
      <p:sp>
        <p:nvSpPr>
          <p:cNvPr id="77" name="Shape 77"/>
          <p:cNvSpPr/>
          <p:nvPr/>
        </p:nvSpPr>
        <p:spPr>
          <a:xfrm>
            <a:off x="571500" y="361950"/>
            <a:ext cx="2141934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NDS / ONLINE IO SCHEDULING</a:t>
            </a:r>
            <a:endParaRPr lang="en-US"/>
          </a:p>
        </p:txBody>
      </p:sp>
      <p:sp>
        <p:nvSpPr>
          <p:cNvPr id="78" name="Shape 78"/>
          <p:cNvSpPr/>
          <p:nvPr/>
        </p:nvSpPr>
        <p:spPr>
          <a:xfrm>
            <a:off x="10031909" y="361950"/>
            <a:ext cx="1607641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09 / RESOURCE LIMITS</a:t>
            </a:r>
            <a:endParaRPr lang="en-US"/>
          </a:p>
        </p:txBody>
      </p:sp>
      <p:sp>
        <p:nvSpPr>
          <p:cNvPr id="79" name="Shape 79"/>
          <p:cNvSpPr/>
          <p:nvPr/>
        </p:nvSpPr>
        <p:spPr>
          <a:xfrm>
            <a:off x="571500" y="1004888"/>
            <a:ext cx="11068050" cy="4762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750"/>
              </a:lnSpc>
              <a:buNone/>
            </a:pPr>
            <a:r>
              <a:rPr sz="3000" b="1" i="0">
                <a:solidFill>
                  <a:srgbClr val="182230"/>
                </a:solidFill>
                <a:latin typeface="Sora"/>
                <a:ea typeface="Sora"/>
              </a:rPr>
              <a:t>正确性、决策开销与规模一起验证</a:t>
            </a:r>
            <a:endParaRPr lang="en-US"/>
          </a:p>
        </p:txBody>
      </p:sp>
      <p:pic>
        <p:nvPicPr>
          <p:cNvPr id="132" name="Presenton Native Image 33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571500" y="1728788"/>
            <a:ext cx="3555950" cy="2470696"/>
          </a:xfrm>
          <a:prstGeom prst="rect">
            <a:avLst/>
          </a:prstGeom>
        </p:spPr>
      </p:pic>
      <p:sp>
        <p:nvSpPr>
          <p:cNvPr id="80" name="Shape 80"/>
          <p:cNvSpPr/>
          <p:nvPr/>
        </p:nvSpPr>
        <p:spPr>
          <a:xfrm>
            <a:off x="800100" y="1995488"/>
            <a:ext cx="3117800" cy="24288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13"/>
              </a:lnSpc>
              <a:buNone/>
            </a:pPr>
            <a:r>
              <a:rPr sz="1275" b="0" i="0">
                <a:solidFill>
                  <a:srgbClr val="1647D8"/>
                </a:solidFill>
                <a:latin typeface="Inter"/>
                <a:ea typeface="Inter"/>
              </a:rPr>
              <a:t>SEMANTICS</a:t>
            </a:r>
            <a:endParaRPr lang="en-US"/>
          </a:p>
        </p:txBody>
      </p:sp>
      <p:sp>
        <p:nvSpPr>
          <p:cNvPr id="81" name="Shape 81"/>
          <p:cNvSpPr/>
          <p:nvPr/>
        </p:nvSpPr>
        <p:spPr>
          <a:xfrm>
            <a:off x="800100" y="2352675"/>
            <a:ext cx="3117800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Noto Sans SC"/>
                <a:ea typeface="Noto Sans SC"/>
              </a:rPr>
              <a:t>116项检查</a:t>
            </a:r>
            <a:endParaRPr lang="en-US"/>
          </a:p>
        </p:txBody>
      </p:sp>
      <p:sp>
        <p:nvSpPr>
          <p:cNvPr id="82" name="Shape 82"/>
          <p:cNvSpPr/>
          <p:nvPr/>
        </p:nvSpPr>
        <p:spPr>
          <a:xfrm>
            <a:off x="800100" y="2919413"/>
            <a:ext cx="3117800" cy="10514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60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38功能 + 74边界/变形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+ 4评分失败门禁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74项另做ASan/UBSan</a:t>
            </a:r>
            <a:endParaRPr lang="en-US"/>
          </a:p>
        </p:txBody>
      </p:sp>
      <p:pic>
        <p:nvPicPr>
          <p:cNvPr id="133" name="Presenton Native Image 34" descr=""/>
          <p:cNvPicPr/>
          <p:nvPr/>
        </p:nvPicPr>
        <p:blipFill>
          <a:blip r:embed="rId5" cstate="none"/>
          <a:stretch>
            <a:fillRect/>
          </a:stretch>
        </p:blipFill>
        <p:spPr>
          <a:xfrm>
            <a:off x="4317950" y="1728788"/>
            <a:ext cx="3555950" cy="2470696"/>
          </a:xfrm>
          <a:prstGeom prst="rect">
            <a:avLst/>
          </a:prstGeom>
        </p:spPr>
      </p:pic>
      <p:sp>
        <p:nvSpPr>
          <p:cNvPr id="83" name="Shape 83"/>
          <p:cNvSpPr/>
          <p:nvPr/>
        </p:nvSpPr>
        <p:spPr>
          <a:xfrm>
            <a:off x="4546550" y="1995488"/>
            <a:ext cx="3117800" cy="24288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13"/>
              </a:lnSpc>
              <a:buNone/>
            </a:pPr>
            <a:r>
              <a:rPr sz="1275" b="0" i="0">
                <a:solidFill>
                  <a:srgbClr val="1647D8"/>
                </a:solidFill>
                <a:latin typeface="Inter"/>
                <a:ea typeface="Inter"/>
              </a:rPr>
              <a:t>SCALE</a:t>
            </a:r>
            <a:endParaRPr lang="en-US"/>
          </a:p>
        </p:txBody>
      </p:sp>
      <p:sp>
        <p:nvSpPr>
          <p:cNvPr id="84" name="Shape 84"/>
          <p:cNvSpPr/>
          <p:nvPr/>
        </p:nvSpPr>
        <p:spPr>
          <a:xfrm>
            <a:off x="4546550" y="2352675"/>
            <a:ext cx="3117800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Noto Sans SC"/>
                <a:ea typeface="Noto Sans SC"/>
              </a:rPr>
              <a:t>两类十万请求</a:t>
            </a:r>
            <a:endParaRPr lang="en-US"/>
          </a:p>
        </p:txBody>
      </p:sp>
      <p:sp>
        <p:nvSpPr>
          <p:cNvPr id="85" name="Shape 85"/>
          <p:cNvSpPr/>
          <p:nvPr/>
        </p:nvSpPr>
        <p:spPr>
          <a:xfrm>
            <a:off x="4546550" y="2919413"/>
            <a:ext cx="3117800" cy="10514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60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混合与阶段迁移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各一次完整运行和回放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另测三类高iov，各三次</a:t>
            </a:r>
            <a:endParaRPr lang="en-US"/>
          </a:p>
        </p:txBody>
      </p:sp>
      <p:pic>
        <p:nvPicPr>
          <p:cNvPr id="134" name="Presenton Native Image 35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8064401" y="1728788"/>
            <a:ext cx="3556099" cy="2470696"/>
          </a:xfrm>
          <a:prstGeom prst="rect">
            <a:avLst/>
          </a:prstGeom>
        </p:spPr>
      </p:pic>
      <p:sp>
        <p:nvSpPr>
          <p:cNvPr id="86" name="Shape 86"/>
          <p:cNvSpPr/>
          <p:nvPr/>
        </p:nvSpPr>
        <p:spPr>
          <a:xfrm>
            <a:off x="8293001" y="1995488"/>
            <a:ext cx="3117949" cy="24288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13"/>
              </a:lnSpc>
              <a:buNone/>
            </a:pPr>
            <a:r>
              <a:rPr sz="1275" b="0" i="0">
                <a:solidFill>
                  <a:srgbClr val="1647D8"/>
                </a:solidFill>
                <a:latin typeface="Inter"/>
                <a:ea typeface="Inter"/>
              </a:rPr>
              <a:t>MEASURED LIMITS</a:t>
            </a:r>
            <a:endParaRPr lang="en-US"/>
          </a:p>
        </p:txBody>
      </p:sp>
      <p:sp>
        <p:nvSpPr>
          <p:cNvPr id="87" name="Shape 87"/>
          <p:cNvSpPr/>
          <p:nvPr/>
        </p:nvSpPr>
        <p:spPr>
          <a:xfrm>
            <a:off x="8293001" y="2352675"/>
            <a:ext cx="3117949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Noto Sans SC"/>
                <a:ea typeface="Noto Sans SC"/>
              </a:rPr>
              <a:t>1.32秒</a:t>
            </a:r>
            <a:endParaRPr lang="en-US"/>
          </a:p>
        </p:txBody>
      </p:sp>
      <p:sp>
        <p:nvSpPr>
          <p:cNvPr id="88" name="Shape 88"/>
          <p:cNvSpPr/>
          <p:nvPr/>
        </p:nvSpPr>
        <p:spPr>
          <a:xfrm>
            <a:off x="8293001" y="2919413"/>
            <a:ext cx="3117949" cy="10514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60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所测最大决策耗时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题面上限60秒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profile峰值内存2.82GiB</a:t>
            </a:r>
            <a:endParaRPr lang="en-US"/>
          </a:p>
        </p:txBody>
      </p:sp>
      <p:sp>
        <p:nvSpPr>
          <p:cNvPr id="89" name="Shape 89"/>
          <p:cNvSpPr/>
          <p:nvPr/>
        </p:nvSpPr>
        <p:spPr>
          <a:xfrm>
            <a:off x="571500" y="4504283"/>
            <a:ext cx="11068050" cy="3429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0" i="0">
                <a:solidFill>
                  <a:srgbClr val="182230"/>
                </a:solidFill>
                <a:latin typeface="Noto Sans SC"/>
                <a:ea typeface="Noto Sans SC"/>
              </a:rPr>
              <a:t>墙钟来自共享主机；仿真J与真实硬件吞吐分开解释。</a:t>
            </a:r>
            <a:endParaRPr lang="en-US"/>
          </a:p>
        </p:txBody>
      </p:sp>
      <p:pic>
        <p:nvPicPr>
          <p:cNvPr id="135" name="Presenton Native Image 36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71500" y="6296025"/>
            <a:ext cx="11049000" cy="323850"/>
          </a:xfrm>
          <a:prstGeom prst="rect">
            <a:avLst/>
          </a:prstGeom>
        </p:spPr>
      </p:pic>
      <p:sp>
        <p:nvSpPr>
          <p:cNvPr id="90" name="Shape 90"/>
          <p:cNvSpPr/>
          <p:nvPr/>
        </p:nvSpPr>
        <p:spPr>
          <a:xfrm>
            <a:off x="571500" y="6419850"/>
            <a:ext cx="2986534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SDK 6b1666e · online policy · simulation results</a:t>
            </a:r>
            <a:endParaRPr lang="en-US"/>
          </a:p>
        </p:txBody>
      </p:sp>
      <p:sp>
        <p:nvSpPr>
          <p:cNvPr id="91" name="Shape 91"/>
          <p:cNvSpPr/>
          <p:nvPr/>
        </p:nvSpPr>
        <p:spPr>
          <a:xfrm>
            <a:off x="11223427" y="6419850"/>
            <a:ext cx="416123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10 / 12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resenton Native Image 37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571500" y="361950"/>
            <a:ext cx="11049000" cy="376238"/>
          </a:xfrm>
          <a:prstGeom prst="rect">
            <a:avLst/>
          </a:prstGeom>
        </p:spPr>
      </p:pic>
      <p:sp>
        <p:nvSpPr>
          <p:cNvPr id="92" name="Shape 92"/>
          <p:cNvSpPr/>
          <p:nvPr/>
        </p:nvSpPr>
        <p:spPr>
          <a:xfrm>
            <a:off x="571500" y="361950"/>
            <a:ext cx="2141934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NDS / ONLINE IO SCHEDULING</a:t>
            </a:r>
            <a:endParaRPr lang="en-US"/>
          </a:p>
        </p:txBody>
      </p:sp>
      <p:sp>
        <p:nvSpPr>
          <p:cNvPr id="93" name="Shape 93"/>
          <p:cNvSpPr/>
          <p:nvPr/>
        </p:nvSpPr>
        <p:spPr>
          <a:xfrm>
            <a:off x="10857905" y="361950"/>
            <a:ext cx="781645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10 / SCOPE</a:t>
            </a:r>
            <a:endParaRPr lang="en-US"/>
          </a:p>
        </p:txBody>
      </p:sp>
      <p:sp>
        <p:nvSpPr>
          <p:cNvPr id="94" name="Shape 94"/>
          <p:cNvSpPr/>
          <p:nvPr/>
        </p:nvSpPr>
        <p:spPr>
          <a:xfrm>
            <a:off x="571500" y="1004888"/>
            <a:ext cx="11068050" cy="4762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750"/>
              </a:lnSpc>
              <a:buNone/>
            </a:pPr>
            <a:r>
              <a:rPr sz="3000" b="1" i="0">
                <a:solidFill>
                  <a:srgbClr val="182230"/>
                </a:solidFill>
                <a:latin typeface="Sora"/>
                <a:ea typeface="Sora"/>
              </a:rPr>
              <a:t>通用规则仍有明确边界</a:t>
            </a:r>
            <a:endParaRPr lang="en-US"/>
          </a:p>
        </p:txBody>
      </p:sp>
      <p:pic>
        <p:nvPicPr>
          <p:cNvPr id="137" name="Presenton Native Image 38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571500" y="1728788"/>
            <a:ext cx="3555950" cy="2470696"/>
          </a:xfrm>
          <a:prstGeom prst="rect">
            <a:avLst/>
          </a:prstGeom>
        </p:spPr>
      </p:pic>
      <p:sp>
        <p:nvSpPr>
          <p:cNvPr id="95" name="Shape 95"/>
          <p:cNvSpPr/>
          <p:nvPr/>
        </p:nvSpPr>
        <p:spPr>
          <a:xfrm>
            <a:off x="800100" y="1995488"/>
            <a:ext cx="3117800" cy="24288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13"/>
              </a:lnSpc>
              <a:buNone/>
            </a:pPr>
            <a:r>
              <a:rPr sz="1275" b="0" i="0">
                <a:solidFill>
                  <a:srgbClr val="1647D8"/>
                </a:solidFill>
                <a:latin typeface="Inter"/>
                <a:ea typeface="Inter"/>
              </a:rPr>
              <a:t>FUTURE</a:t>
            </a:r>
            <a:endParaRPr lang="en-US"/>
          </a:p>
        </p:txBody>
      </p:sp>
      <p:sp>
        <p:nvSpPr>
          <p:cNvPr id="96" name="Shape 96"/>
          <p:cNvSpPr/>
          <p:nvPr/>
        </p:nvSpPr>
        <p:spPr>
          <a:xfrm>
            <a:off x="800100" y="2352675"/>
            <a:ext cx="3117800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Noto Sans SC"/>
                <a:ea typeface="Noto Sans SC"/>
              </a:rPr>
              <a:t>未来不可见</a:t>
            </a:r>
            <a:endParaRPr lang="en-US"/>
          </a:p>
        </p:txBody>
      </p:sp>
      <p:sp>
        <p:nvSpPr>
          <p:cNvPr id="97" name="Shape 97"/>
          <p:cNvSpPr/>
          <p:nvPr/>
        </p:nvSpPr>
        <p:spPr>
          <a:xfrm>
            <a:off x="800100" y="2919413"/>
            <a:ext cx="3117800" cy="10514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60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相同前缀可继续复用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也可突然停止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缓存收益没有逐次保证</a:t>
            </a:r>
            <a:endParaRPr lang="en-US"/>
          </a:p>
        </p:txBody>
      </p:sp>
      <p:pic>
        <p:nvPicPr>
          <p:cNvPr id="138" name="Presenton Native Image 39" descr=""/>
          <p:cNvPicPr/>
          <p:nvPr/>
        </p:nvPicPr>
        <p:blipFill>
          <a:blip r:embed="rId5" cstate="none"/>
          <a:stretch>
            <a:fillRect/>
          </a:stretch>
        </p:blipFill>
        <p:spPr>
          <a:xfrm>
            <a:off x="4317950" y="1728788"/>
            <a:ext cx="3555950" cy="2470696"/>
          </a:xfrm>
          <a:prstGeom prst="rect">
            <a:avLst/>
          </a:prstGeom>
        </p:spPr>
      </p:pic>
      <p:sp>
        <p:nvSpPr>
          <p:cNvPr id="98" name="Shape 98"/>
          <p:cNvSpPr/>
          <p:nvPr/>
        </p:nvSpPr>
        <p:spPr>
          <a:xfrm>
            <a:off x="4546550" y="1995488"/>
            <a:ext cx="3117800" cy="24288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13"/>
              </a:lnSpc>
              <a:buNone/>
            </a:pPr>
            <a:r>
              <a:rPr sz="1275" b="0" i="0">
                <a:solidFill>
                  <a:srgbClr val="1647D8"/>
                </a:solidFill>
                <a:latin typeface="Inter"/>
                <a:ea typeface="Inter"/>
              </a:rPr>
              <a:t>MODEL</a:t>
            </a:r>
            <a:endParaRPr lang="en-US"/>
          </a:p>
        </p:txBody>
      </p:sp>
      <p:sp>
        <p:nvSpPr>
          <p:cNvPr id="99" name="Shape 99"/>
          <p:cNvSpPr/>
          <p:nvPr/>
        </p:nvSpPr>
        <p:spPr>
          <a:xfrm>
            <a:off x="4546550" y="2352675"/>
            <a:ext cx="3117800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Noto Sans SC"/>
                <a:ea typeface="Noto Sans SC"/>
              </a:rPr>
              <a:t>有限候选与窗口</a:t>
            </a:r>
            <a:endParaRPr lang="en-US"/>
          </a:p>
        </p:txBody>
      </p:sp>
      <p:sp>
        <p:nvSpPr>
          <p:cNvPr id="100" name="Shape 100"/>
          <p:cNvSpPr/>
          <p:nvPr/>
        </p:nvSpPr>
        <p:spPr>
          <a:xfrm>
            <a:off x="4546550" y="2919413"/>
            <a:ext cx="3117800" cy="10514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60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省略部分在途流量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分组、块长有搜索预算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存在逐例成本回退</a:t>
            </a:r>
            <a:endParaRPr lang="en-US"/>
          </a:p>
        </p:txBody>
      </p:sp>
      <p:pic>
        <p:nvPicPr>
          <p:cNvPr id="139" name="Presenton Native Image 40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8064401" y="1728788"/>
            <a:ext cx="3556099" cy="2470696"/>
          </a:xfrm>
          <a:prstGeom prst="rect">
            <a:avLst/>
          </a:prstGeom>
        </p:spPr>
      </p:pic>
      <p:sp>
        <p:nvSpPr>
          <p:cNvPr id="101" name="Shape 101"/>
          <p:cNvSpPr/>
          <p:nvPr/>
        </p:nvSpPr>
        <p:spPr>
          <a:xfrm>
            <a:off x="8293001" y="1995488"/>
            <a:ext cx="3117949" cy="24288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913"/>
              </a:lnSpc>
              <a:buNone/>
            </a:pPr>
            <a:r>
              <a:rPr sz="1275" b="0" i="0">
                <a:solidFill>
                  <a:srgbClr val="1647D8"/>
                </a:solidFill>
                <a:latin typeface="Inter"/>
                <a:ea typeface="Inter"/>
              </a:rPr>
              <a:t>EVIDENCE</a:t>
            </a:r>
            <a:endParaRPr lang="en-US"/>
          </a:p>
        </p:txBody>
      </p:sp>
      <p:sp>
        <p:nvSpPr>
          <p:cNvPr id="102" name="Shape 102"/>
          <p:cNvSpPr/>
          <p:nvPr/>
        </p:nvSpPr>
        <p:spPr>
          <a:xfrm>
            <a:off x="8293001" y="2352675"/>
            <a:ext cx="3117949" cy="414338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263"/>
              </a:lnSpc>
              <a:buNone/>
            </a:pPr>
            <a:r>
              <a:rPr sz="2175" b="1" i="0">
                <a:solidFill>
                  <a:srgbClr val="182230"/>
                </a:solidFill>
                <a:latin typeface="Noto Sans SC"/>
                <a:ea typeface="Noto Sans SC"/>
              </a:rPr>
              <a:t>验证范围有限</a:t>
            </a:r>
            <a:endParaRPr lang="en-US"/>
          </a:p>
        </p:txBody>
      </p:sp>
      <p:sp>
        <p:nvSpPr>
          <p:cNvPr id="103" name="Shape 103"/>
          <p:cNvSpPr/>
          <p:nvPr/>
        </p:nvSpPr>
        <p:spPr>
          <a:xfrm>
            <a:off x="8293001" y="2919413"/>
            <a:ext cx="3117949" cy="1051471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60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公开成绩不是隐藏排名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合成数据不是实际业务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未宣称全局最优</a:t>
            </a:r>
            <a:endParaRPr lang="en-US"/>
          </a:p>
        </p:txBody>
      </p:sp>
      <p:sp>
        <p:nvSpPr>
          <p:cNvPr id="104" name="Shape 104"/>
          <p:cNvSpPr/>
          <p:nvPr/>
        </p:nvSpPr>
        <p:spPr>
          <a:xfrm>
            <a:off x="571500" y="4504283"/>
            <a:ext cx="11068050" cy="68580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700"/>
              </a:lnSpc>
              <a:buNone/>
            </a:pPr>
            <a:r>
              <a:rPr sz="1800" b="0" i="0">
                <a:solidFill>
                  <a:srgbClr val="182230"/>
                </a:solidFill>
                <a:latin typeface="Noto Sans SC"/>
                <a:ea typeface="Noto Sans SC"/>
              </a:rPr>
              <a:t>不按文件名、题号、instance_id或种子选策略。</a:t>
            </a:r>
            <a:r>
              <a:rPr sz="1800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800" b="0" i="0">
                <a:solidFill>
                  <a:srgbClr val="182230"/>
                </a:solidFill>
                <a:latin typeface="Noto Sans SC"/>
                <a:ea typeface="Noto Sans SC"/>
              </a:rPr>
              <a:t>原始逐例结果、输入哈希与复现脚本随包提供。</a:t>
            </a:r>
            <a:endParaRPr lang="en-US"/>
          </a:p>
        </p:txBody>
      </p:sp>
      <p:pic>
        <p:nvPicPr>
          <p:cNvPr id="140" name="Presenton Native Image 41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71500" y="6296025"/>
            <a:ext cx="11049000" cy="323850"/>
          </a:xfrm>
          <a:prstGeom prst="rect">
            <a:avLst/>
          </a:prstGeom>
        </p:spPr>
      </p:pic>
      <p:sp>
        <p:nvSpPr>
          <p:cNvPr id="105" name="Shape 105"/>
          <p:cNvSpPr/>
          <p:nvPr/>
        </p:nvSpPr>
        <p:spPr>
          <a:xfrm>
            <a:off x="571500" y="6419850"/>
            <a:ext cx="2986534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SDK 6b1666e · online policy · simulation results</a:t>
            </a:r>
            <a:endParaRPr lang="en-US"/>
          </a:p>
        </p:txBody>
      </p:sp>
      <p:sp>
        <p:nvSpPr>
          <p:cNvPr id="106" name="Shape 106"/>
          <p:cNvSpPr/>
          <p:nvPr/>
        </p:nvSpPr>
        <p:spPr>
          <a:xfrm>
            <a:off x="11253341" y="6419850"/>
            <a:ext cx="386209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11 / 12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resenton Native Image 42" descr=""/>
          <p:cNvPicPr/>
          <p:nvPr/>
        </p:nvPicPr>
        <p:blipFill>
          <a:blip r:embed="rId2" cstate="none"/>
          <a:stretch>
            <a:fillRect/>
          </a:stretch>
        </p:blipFill>
        <p:spPr>
          <a:xfrm>
            <a:off x="571500" y="361950"/>
            <a:ext cx="11049000" cy="376238"/>
          </a:xfrm>
          <a:prstGeom prst="rect">
            <a:avLst/>
          </a:prstGeom>
        </p:spPr>
      </p:pic>
      <p:sp>
        <p:nvSpPr>
          <p:cNvPr id="107" name="Shape 107"/>
          <p:cNvSpPr/>
          <p:nvPr/>
        </p:nvSpPr>
        <p:spPr>
          <a:xfrm>
            <a:off x="571500" y="361950"/>
            <a:ext cx="2141934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NDS / ONLINE IO SCHEDULING</a:t>
            </a:r>
            <a:endParaRPr lang="en-US"/>
          </a:p>
        </p:txBody>
      </p:sp>
      <p:sp>
        <p:nvSpPr>
          <p:cNvPr id="108" name="Shape 108"/>
          <p:cNvSpPr/>
          <p:nvPr/>
        </p:nvSpPr>
        <p:spPr>
          <a:xfrm>
            <a:off x="10502354" y="361950"/>
            <a:ext cx="1137196" cy="214313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688"/>
              </a:lnSpc>
              <a:buNone/>
            </a:pPr>
            <a:r>
              <a:rPr sz="1125" b="0" i="0">
                <a:solidFill>
                  <a:srgbClr val="1647D8"/>
                </a:solidFill>
                <a:latin typeface="Inter"/>
                <a:ea typeface="Inter"/>
              </a:rPr>
              <a:t>11 / REPRODUCE</a:t>
            </a:r>
            <a:endParaRPr lang="en-US"/>
          </a:p>
        </p:txBody>
      </p:sp>
      <p:sp>
        <p:nvSpPr>
          <p:cNvPr id="109" name="Shape 109"/>
          <p:cNvSpPr/>
          <p:nvPr/>
        </p:nvSpPr>
        <p:spPr>
          <a:xfrm>
            <a:off x="571500" y="1004888"/>
            <a:ext cx="11068050" cy="476250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3750"/>
              </a:lnSpc>
              <a:buNone/>
            </a:pPr>
            <a:r>
              <a:rPr sz="3000" b="1" i="0">
                <a:solidFill>
                  <a:srgbClr val="182230"/>
                </a:solidFill>
                <a:latin typeface="Sora"/>
                <a:ea typeface="Sora"/>
              </a:rPr>
              <a:t>从入门文档到可运行程序</a:t>
            </a:r>
            <a:endParaRPr lang="en-US"/>
          </a:p>
        </p:txBody>
      </p:sp>
      <p:pic>
        <p:nvPicPr>
          <p:cNvPr id="142" name="Presenton Native Image 43" descr=""/>
          <p:cNvPicPr/>
          <p:nvPr/>
        </p:nvPicPr>
        <p:blipFill>
          <a:blip r:embed="rId4" cstate="none"/>
          <a:stretch>
            <a:fillRect/>
          </a:stretch>
        </p:blipFill>
        <p:spPr>
          <a:xfrm>
            <a:off x="571500" y="1728788"/>
            <a:ext cx="11049000" cy="3762375"/>
          </a:xfrm>
          <a:prstGeom prst="rect">
            <a:avLst/>
          </a:prstGeom>
        </p:spPr>
      </p:pic>
      <p:sp>
        <p:nvSpPr>
          <p:cNvPr id="110" name="Shape 110"/>
          <p:cNvSpPr/>
          <p:nvPr/>
        </p:nvSpPr>
        <p:spPr>
          <a:xfrm>
            <a:off x="571500" y="5681663"/>
            <a:ext cx="11068050" cy="6572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2588"/>
              </a:lnSpc>
              <a:buNone/>
            </a:pP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唯一提交策略：03_程序/player/solution.cpp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 xml:space="preserve">
</a:t>
            </a:r>
            <a:r>
              <a:rPr sz="1725" b="0" i="0">
                <a:solidFill>
                  <a:srgbClr val="182230"/>
                </a:solidFill>
                <a:latin typeface="Noto Sans SC"/>
                <a:ea typeface="Noto Sans SC"/>
              </a:rPr>
              <a:t>源码、程序、报告与答辩材料对应同一冻结实现。</a:t>
            </a:r>
            <a:endParaRPr lang="en-US"/>
          </a:p>
        </p:txBody>
      </p:sp>
      <p:pic>
        <p:nvPicPr>
          <p:cNvPr id="143" name="Presenton Native Image 44" descr=""/>
          <p:cNvPicPr/>
          <p:nvPr/>
        </p:nvPicPr>
        <p:blipFill>
          <a:blip r:embed="rId3" cstate="none"/>
          <a:stretch>
            <a:fillRect/>
          </a:stretch>
        </p:blipFill>
        <p:spPr>
          <a:xfrm>
            <a:off x="571500" y="6296025"/>
            <a:ext cx="11049000" cy="323850"/>
          </a:xfrm>
          <a:prstGeom prst="rect">
            <a:avLst/>
          </a:prstGeom>
        </p:spPr>
      </p:pic>
      <p:sp>
        <p:nvSpPr>
          <p:cNvPr id="111" name="Shape 111"/>
          <p:cNvSpPr/>
          <p:nvPr/>
        </p:nvSpPr>
        <p:spPr>
          <a:xfrm>
            <a:off x="571500" y="6419850"/>
            <a:ext cx="2986534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SDK 6b1666e · online policy · simulation results</a:t>
            </a:r>
            <a:endParaRPr lang="en-US"/>
          </a:p>
        </p:txBody>
      </p:sp>
      <p:sp>
        <p:nvSpPr>
          <p:cNvPr id="112" name="Shape 112"/>
          <p:cNvSpPr/>
          <p:nvPr/>
        </p:nvSpPr>
        <p:spPr>
          <a:xfrm>
            <a:off x="11226254" y="6419850"/>
            <a:ext cx="413296" cy="200025"/>
          </a:xfrm>
          <a:prstGeom prst="rect">
            <a:avLst/>
          </a:prstGeom>
          <a:noFill/>
        </p:spPr>
        <p:txBody>
          <a:bodyPr anchor="t" wrap="square" tIns="0" bIns="0" lIns="0" rIns="0">
            <a:normAutofit/>
          </a:bodyPr>
          <a:lstStyle/>
          <a:p>
            <a:pPr algn="l">
              <a:lnSpc>
                <a:spcPts val="1575"/>
              </a:lnSpc>
              <a:buNone/>
            </a:pPr>
            <a:r>
              <a:rPr sz="1050" b="0" i="0">
                <a:solidFill>
                  <a:srgbClr val="526174"/>
                </a:solidFill>
                <a:latin typeface="Inter"/>
                <a:ea typeface="Inter"/>
              </a:rPr>
              <a:t>12 / 12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mitype="http://purl.org/dcmitype/" xmlns:dcterms="http://purl.org/dc/terms/" xmlns:xsi="http://www.w3.org/2001/XMLSchema-instance">
  <dc:title>NDS 观察窗口调度与复用感知缓存</dc:title>
  <dc:subject>Generated by Presenton export-core</dc:subject>
  <dc:creator>Presenton</dc:creator>
  <cp:lastModifiedBy>Presenton</cp:lastModifiedBy>
  <dcterms:created xsi:type="dcterms:W3CDTF">2026-10-29T18:56:37.765Z</dcterms:created>
  <dcterms:modified xsi:type="dcterms:W3CDTF">2026-10-29T18:56:37.765Z</dcterms:modified>
</cp:coreProperties>
</file>