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png" Extension="png"/>
  <Default ContentType="image/jpeg" Extension="jpeg"/>
  <Default ContentType="image/jpeg" Extension="jpg"/>
  <Default ContentType="video/mp4" Extension="mp4"/>
  <Override ContentType="application/vnd.openxmlformats-officedocument.presentationml.presentation.main+xml" PartName="/ppt/presentation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theme+xml" PartName="/ppt/theme/them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tableStyles+xml" PartName="/ppt/tableStyle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 xmlns:a="http://schemas.openxmlformats.org/drawingml/2006/main">
    <a:defPPr>
      <a:defRPr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90" d="100"/>
          <a:sy n="90" d="100"/>
        </p:scale>
        <p:origin x="12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 sz="half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idx="11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hdr="0" ftr="0" sldNum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-228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2.png"/><Relationship Id="rId4" Type="http://schemas.openxmlformats.org/officeDocument/2006/relationships/image" Target="../media/Presenton_Native_Image_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6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9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12.png"/><Relationship Id="rId5" Type="http://schemas.openxmlformats.org/officeDocument/2006/relationships/image" Target="../media/Presenton_Native_Image_13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17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2.png"/><Relationship Id="rId4" Type="http://schemas.openxmlformats.org/officeDocument/2006/relationships/image" Target="../media/Presenton_Native_Image_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24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27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3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12.png"/><Relationship Id="rId5" Type="http://schemas.openxmlformats.org/officeDocument/2006/relationships/image" Target="../media/Presenton_Native_Image_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12.png"/><Relationship Id="rId5" Type="http://schemas.openxmlformats.org/officeDocument/2006/relationships/image" Target="../media/Presenton_Native_Image_1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4.png"/><Relationship Id="rId4" Type="http://schemas.openxmlformats.org/officeDocument/2006/relationships/image" Target="../media/Presenton_Native_Image_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resenton Native Image 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51" name="Shape 351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52" name="Shape 352"/>
          <p:cNvSpPr/>
          <p:nvPr/>
        </p:nvSpPr>
        <p:spPr>
          <a:xfrm>
            <a:off x="9937998" y="361950"/>
            <a:ext cx="1701552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COMPETITION DEFENSE</a:t>
            </a:r>
            <a:endParaRPr lang="en-US"/>
          </a:p>
        </p:txBody>
      </p:sp>
      <p:sp>
        <p:nvSpPr>
          <p:cNvPr id="353" name="Shape 353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NDS 多路径IO调度与缓存提升</a:t>
            </a:r>
            <a:endParaRPr lang="en-US"/>
          </a:p>
        </p:txBody>
      </p:sp>
      <p:pic>
        <p:nvPicPr>
          <p:cNvPr id="105" name="Presenton Native Image 2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1728788"/>
            <a:ext cx="5372100" cy="2470696"/>
          </a:xfrm>
          <a:prstGeom prst="rect">
            <a:avLst/>
          </a:prstGeom>
        </p:spPr>
      </p:pic>
      <p:sp>
        <p:nvSpPr>
          <p:cNvPr id="354" name="Shape 354"/>
          <p:cNvSpPr/>
          <p:nvPr/>
        </p:nvSpPr>
        <p:spPr>
          <a:xfrm>
            <a:off x="800100" y="1995488"/>
            <a:ext cx="493395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ONLINE POLICY</a:t>
            </a:r>
            <a:endParaRPr lang="en-US"/>
          </a:p>
        </p:txBody>
      </p:sp>
      <p:sp>
        <p:nvSpPr>
          <p:cNvPr id="355" name="Shape 355"/>
          <p:cNvSpPr/>
          <p:nvPr/>
        </p:nvSpPr>
        <p:spPr>
          <a:xfrm>
            <a:off x="800100" y="2352675"/>
            <a:ext cx="4933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观察窗口调度</a:t>
            </a:r>
            <a:endParaRPr lang="en-US"/>
          </a:p>
        </p:txBody>
      </p:sp>
      <p:sp>
        <p:nvSpPr>
          <p:cNvPr id="356" name="Shape 356"/>
          <p:cNvSpPr/>
          <p:nvPr/>
        </p:nvSpPr>
        <p:spPr>
          <a:xfrm>
            <a:off x="800100" y="2919413"/>
            <a:ext cx="493395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区间合并与块长选择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可见窗口中的候选比较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复用预算与新鲜度准入</a:t>
            </a:r>
            <a:endParaRPr lang="en-US"/>
          </a:p>
        </p:txBody>
      </p:sp>
      <p:pic>
        <p:nvPicPr>
          <p:cNvPr id="106" name="Presenton Native Image 3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248400" y="1728788"/>
            <a:ext cx="5372100" cy="2470696"/>
          </a:xfrm>
          <a:prstGeom prst="rect">
            <a:avLst/>
          </a:prstGeom>
        </p:spPr>
      </p:pic>
      <p:sp>
        <p:nvSpPr>
          <p:cNvPr id="357" name="Shape 357"/>
          <p:cNvSpPr/>
          <p:nvPr/>
        </p:nvSpPr>
        <p:spPr>
          <a:xfrm>
            <a:off x="6477000" y="1995488"/>
            <a:ext cx="493395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OFFICIAL PUBLIC SUITE</a:t>
            </a:r>
            <a:endParaRPr lang="en-US"/>
          </a:p>
        </p:txBody>
      </p:sp>
      <p:sp>
        <p:nvSpPr>
          <p:cNvPr id="358" name="Shape 358"/>
          <p:cNvSpPr/>
          <p:nvPr/>
        </p:nvSpPr>
        <p:spPr>
          <a:xfrm>
            <a:off x="6477000" y="2352675"/>
            <a:ext cx="4933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89.9899 / 90</a:t>
            </a:r>
            <a:endParaRPr lang="en-US"/>
          </a:p>
        </p:txBody>
      </p:sp>
      <p:sp>
        <p:nvSpPr>
          <p:cNvPr id="359" name="Shape 359"/>
          <p:cNvSpPr/>
          <p:nvPr/>
        </p:nvSpPr>
        <p:spPr>
          <a:xfrm>
            <a:off x="6477000" y="2919413"/>
            <a:ext cx="493395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官方贪心67.1981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原始39条全部合法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另10分由评委人工评定</a:t>
            </a:r>
            <a:endParaRPr lang="en-US"/>
          </a:p>
        </p:txBody>
      </p:sp>
      <p:sp>
        <p:nvSpPr>
          <p:cNvPr id="360" name="Shape 360"/>
          <p:cNvSpPr/>
          <p:nvPr/>
        </p:nvSpPr>
        <p:spPr>
          <a:xfrm>
            <a:off x="571500" y="4504283"/>
            <a:ext cx="11068050" cy="7143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813"/>
              </a:lnSpc>
              <a:buNone/>
            </a:pP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>单一C++17策略 · Linux可执行程序 · 官方回放</a:t>
            </a: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>团队 / 作者：按参赛登记填写</a:t>
            </a:r>
            <a:endParaRPr lang="en-US"/>
          </a:p>
        </p:txBody>
      </p:sp>
      <p:pic>
        <p:nvPicPr>
          <p:cNvPr id="107" name="Presenton Native Image 4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361" name="Shape 361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362" name="Shape 362"/>
          <p:cNvSpPr/>
          <p:nvPr/>
        </p:nvSpPr>
        <p:spPr>
          <a:xfrm>
            <a:off x="11223427" y="6419850"/>
            <a:ext cx="416123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01 / 12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resenton Native Image 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63" name="Shape 363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64" name="Shape 364"/>
          <p:cNvSpPr/>
          <p:nvPr/>
        </p:nvSpPr>
        <p:spPr>
          <a:xfrm>
            <a:off x="10334179" y="361950"/>
            <a:ext cx="1305371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01 / THE PROBLEM</a:t>
            </a:r>
            <a:endParaRPr lang="en-US"/>
          </a:p>
        </p:txBody>
      </p:sp>
      <p:sp>
        <p:nvSpPr>
          <p:cNvPr id="365" name="Shape 365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先把数据搬到计算设备，才能使用</a:t>
            </a:r>
            <a:endParaRPr lang="en-US"/>
          </a:p>
        </p:txBody>
      </p:sp>
      <p:pic>
        <p:nvPicPr>
          <p:cNvPr id="109" name="Presenton Native Image 6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228850"/>
          </a:xfrm>
          <a:prstGeom prst="rect">
            <a:avLst/>
          </a:prstGeom>
        </p:spPr>
      </p:pic>
      <p:sp>
        <p:nvSpPr>
          <p:cNvPr id="366" name="Shape 366"/>
          <p:cNvSpPr/>
          <p:nvPr/>
        </p:nvSpPr>
        <p:spPr>
          <a:xfrm>
            <a:off x="571500" y="4186238"/>
            <a:ext cx="11068050" cy="71437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813"/>
              </a:lnSpc>
              <a:buNone/>
            </a:pP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>在线：每次只能利用已到达请求、当前状态和历史。</a:t>
            </a: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875" b="0" i="0">
                <a:solidFill>
                  <a:srgbClr val="182230"/>
                </a:solidFill>
                <a:latin typeface="Noto Sans SC"/>
                <a:ea typeface="Noto Sans SC"/>
              </a:rPr>
              <a:t>仿真器计算实际完成事件，策略负责选择搬运方案。</a:t>
            </a:r>
            <a:endParaRPr lang="en-US"/>
          </a:p>
        </p:txBody>
      </p:sp>
      <p:pic>
        <p:nvPicPr>
          <p:cNvPr id="110" name="Presenton Native Image 7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367" name="Shape 367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368" name="Shape 368"/>
          <p:cNvSpPr/>
          <p:nvPr/>
        </p:nvSpPr>
        <p:spPr>
          <a:xfrm>
            <a:off x="11196340" y="6419850"/>
            <a:ext cx="44321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02 / 12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resenton Native Image 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69" name="Shape 369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70" name="Shape 370"/>
          <p:cNvSpPr/>
          <p:nvPr/>
        </p:nvSpPr>
        <p:spPr>
          <a:xfrm>
            <a:off x="10521702" y="361950"/>
            <a:ext cx="111784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02 / OBJECTIVE</a:t>
            </a:r>
            <a:endParaRPr lang="en-US"/>
          </a:p>
        </p:txBody>
      </p:sp>
      <p:sp>
        <p:nvSpPr>
          <p:cNvPr id="371" name="Shape 371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减少整条Trace的时间与调用成本</a:t>
            </a:r>
            <a:endParaRPr lang="en-US"/>
          </a:p>
        </p:txBody>
      </p:sp>
      <p:pic>
        <p:nvPicPr>
          <p:cNvPr id="112" name="Presenton Native Image 9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228850"/>
          </a:xfrm>
          <a:prstGeom prst="rect">
            <a:avLst/>
          </a:prstGeom>
        </p:spPr>
      </p:pic>
      <p:sp>
        <p:nvSpPr>
          <p:cNvPr id="372" name="Shape 372"/>
          <p:cNvSpPr/>
          <p:nvPr/>
        </p:nvSpPr>
        <p:spPr>
          <a:xfrm>
            <a:off x="571500" y="4186238"/>
            <a:ext cx="110680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0" i="0">
                <a:solidFill>
                  <a:srgbClr val="1647D8"/>
                </a:solidFill>
                <a:latin typeface="Noto Sans SC"/>
                <a:ea typeface="Noto Sans SC"/>
              </a:rPr>
              <a:t>J = 时间权重 × TraceTime + CPUCost + NPUCost</a:t>
            </a:r>
            <a:endParaRPr lang="en-US"/>
          </a:p>
        </p:txBody>
      </p:sp>
      <p:pic>
        <p:nvPicPr>
          <p:cNvPr id="113" name="Presenton Native Image 10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373" name="Shape 373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374" name="Shape 374"/>
          <p:cNvSpPr/>
          <p:nvPr/>
        </p:nvSpPr>
        <p:spPr>
          <a:xfrm>
            <a:off x="11195298" y="6419850"/>
            <a:ext cx="444252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03 / 12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resenton Native Image 1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75" name="Shape 375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76" name="Shape 376"/>
          <p:cNvSpPr/>
          <p:nvPr/>
        </p:nvSpPr>
        <p:spPr>
          <a:xfrm>
            <a:off x="10211842" y="361950"/>
            <a:ext cx="1427708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03 / ARCHITECTURE</a:t>
            </a:r>
            <a:endParaRPr lang="en-US"/>
          </a:p>
        </p:txBody>
      </p:sp>
      <p:sp>
        <p:nvSpPr>
          <p:cNvPr id="377" name="Shape 377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当前决定连接前台搬运和后台缓存</a:t>
            </a:r>
            <a:endParaRPr lang="en-US"/>
          </a:p>
        </p:txBody>
      </p:sp>
      <p:pic>
        <p:nvPicPr>
          <p:cNvPr id="115" name="Presenton Native Image 12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3555950" cy="2470696"/>
          </a:xfrm>
          <a:prstGeom prst="rect">
            <a:avLst/>
          </a:prstGeom>
        </p:spPr>
      </p:pic>
      <p:sp>
        <p:nvSpPr>
          <p:cNvPr id="378" name="Shape 378"/>
          <p:cNvSpPr/>
          <p:nvPr/>
        </p:nvSpPr>
        <p:spPr>
          <a:xfrm>
            <a:off x="80010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01 / OBSERVE</a:t>
            </a:r>
            <a:endParaRPr lang="en-US"/>
          </a:p>
        </p:txBody>
      </p:sp>
      <p:sp>
        <p:nvSpPr>
          <p:cNvPr id="379" name="Shape 379"/>
          <p:cNvSpPr/>
          <p:nvPr/>
        </p:nvSpPr>
        <p:spPr>
          <a:xfrm>
            <a:off x="80010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观察可见工作</a:t>
            </a:r>
            <a:endParaRPr lang="en-US"/>
          </a:p>
        </p:txBody>
      </p:sp>
      <p:sp>
        <p:nvSpPr>
          <p:cNvPr id="380" name="Shape 380"/>
          <p:cNvSpPr/>
          <p:nvPr/>
        </p:nvSpPr>
        <p:spPr>
          <a:xfrm>
            <a:off x="80010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当前未命中请求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各卡各类复制状态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仍未完成的已到达批次</a:t>
            </a:r>
            <a:endParaRPr lang="en-US"/>
          </a:p>
        </p:txBody>
      </p:sp>
      <p:pic>
        <p:nvPicPr>
          <p:cNvPr id="116" name="Presenton Native Image 13" descr=""/>
          <p:cNvPicPr/>
          <p:nvPr/>
        </p:nvPicPr>
        <p:blipFill>
          <a:blip r:embed="rId5" cstate="none"/>
          <a:stretch>
            <a:fillRect/>
          </a:stretch>
        </p:blipFill>
        <p:spPr>
          <a:xfrm>
            <a:off x="4317950" y="1728788"/>
            <a:ext cx="3555950" cy="2470696"/>
          </a:xfrm>
          <a:prstGeom prst="rect">
            <a:avLst/>
          </a:prstGeom>
        </p:spPr>
      </p:pic>
      <p:sp>
        <p:nvSpPr>
          <p:cNvPr id="381" name="Shape 381"/>
          <p:cNvSpPr/>
          <p:nvPr/>
        </p:nvSpPr>
        <p:spPr>
          <a:xfrm>
            <a:off x="454655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02 / SCHEDULE</a:t>
            </a:r>
            <a:endParaRPr lang="en-US"/>
          </a:p>
        </p:txBody>
      </p:sp>
      <p:sp>
        <p:nvSpPr>
          <p:cNvPr id="382" name="Shape 382"/>
          <p:cNvSpPr/>
          <p:nvPr/>
        </p:nvSpPr>
        <p:spPr>
          <a:xfrm>
            <a:off x="454655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选择合法方案</a:t>
            </a:r>
            <a:endParaRPr lang="en-US"/>
          </a:p>
        </p:txBody>
      </p:sp>
      <p:sp>
        <p:nvSpPr>
          <p:cNvPr id="383" name="Shape 383"/>
          <p:cNvSpPr/>
          <p:nvPr/>
        </p:nvSpPr>
        <p:spPr>
          <a:xfrm>
            <a:off x="454655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区间DP与块长候选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有限窗口成本比较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输出读取→复制依赖</a:t>
            </a:r>
            <a:endParaRPr lang="en-US"/>
          </a:p>
        </p:txBody>
      </p:sp>
      <p:pic>
        <p:nvPicPr>
          <p:cNvPr id="117" name="Presenton Native Image 14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8064401" y="1728788"/>
            <a:ext cx="3556099" cy="2470696"/>
          </a:xfrm>
          <a:prstGeom prst="rect">
            <a:avLst/>
          </a:prstGeom>
        </p:spPr>
      </p:pic>
      <p:sp>
        <p:nvSpPr>
          <p:cNvPr id="384" name="Shape 384"/>
          <p:cNvSpPr/>
          <p:nvPr/>
        </p:nvSpPr>
        <p:spPr>
          <a:xfrm>
            <a:off x="8293001" y="1995488"/>
            <a:ext cx="3117949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03 / COMPLETE</a:t>
            </a:r>
            <a:endParaRPr lang="en-US"/>
          </a:p>
        </p:txBody>
      </p:sp>
      <p:sp>
        <p:nvSpPr>
          <p:cNvPr id="385" name="Shape 385"/>
          <p:cNvSpPr/>
          <p:nvPr/>
        </p:nvSpPr>
        <p:spPr>
          <a:xfrm>
            <a:off x="8293001" y="2352675"/>
            <a:ext cx="3117949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完成后再准入</a:t>
            </a:r>
            <a:endParaRPr lang="en-US"/>
          </a:p>
        </p:txBody>
      </p:sp>
      <p:sp>
        <p:nvSpPr>
          <p:cNvPr id="386" name="Shape 386"/>
          <p:cNvSpPr/>
          <p:nvPr/>
        </p:nvSpPr>
        <p:spPr>
          <a:xfrm>
            <a:off x="8293001" y="2919413"/>
            <a:ext cx="3117949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复用和时效检查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新增服务成本预算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命中反馈与来源选择</a:t>
            </a:r>
            <a:endParaRPr lang="en-US"/>
          </a:p>
        </p:txBody>
      </p:sp>
      <p:sp>
        <p:nvSpPr>
          <p:cNvPr id="387" name="Shape 387"/>
          <p:cNvSpPr/>
          <p:nvPr/>
        </p:nvSpPr>
        <p:spPr>
          <a:xfrm>
            <a:off x="571500" y="4504283"/>
            <a:ext cx="11068050" cy="3429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182230"/>
                </a:solidFill>
                <a:latin typeface="Noto Sans SC"/>
                <a:ea typeface="Noto Sans SC"/>
              </a:rPr>
              <a:t>资源分配、缓冲释放、TTL/LRU和完成时间由官方SDK执行。</a:t>
            </a:r>
            <a:endParaRPr lang="en-US"/>
          </a:p>
        </p:txBody>
      </p:sp>
      <p:pic>
        <p:nvPicPr>
          <p:cNvPr id="118" name="Presenton Native Image 1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388" name="Shape 388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389" name="Shape 389"/>
          <p:cNvSpPr/>
          <p:nvPr/>
        </p:nvSpPr>
        <p:spPr>
          <a:xfrm>
            <a:off x="11191577" y="6419850"/>
            <a:ext cx="447973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04 / 12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resenton Native Image 1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90" name="Shape 390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91" name="Shape 391"/>
          <p:cNvSpPr/>
          <p:nvPr/>
        </p:nvSpPr>
        <p:spPr>
          <a:xfrm>
            <a:off x="10309920" y="361950"/>
            <a:ext cx="132963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04 / FOREGROUND</a:t>
            </a:r>
            <a:endParaRPr lang="en-US"/>
          </a:p>
        </p:txBody>
      </p:sp>
      <p:sp>
        <p:nvSpPr>
          <p:cNvPr id="392" name="Shape 392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分组、块长与路径共同决定成本</a:t>
            </a:r>
            <a:endParaRPr lang="en-US"/>
          </a:p>
        </p:txBody>
      </p:sp>
      <p:pic>
        <p:nvPicPr>
          <p:cNvPr id="120" name="Presenton Native Image 17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228850"/>
          </a:xfrm>
          <a:prstGeom prst="rect">
            <a:avLst/>
          </a:prstGeom>
        </p:spPr>
      </p:pic>
      <p:sp>
        <p:nvSpPr>
          <p:cNvPr id="393" name="Shape 393"/>
          <p:cNvSpPr/>
          <p:nvPr/>
        </p:nvSpPr>
        <p:spPr>
          <a:xfrm>
            <a:off x="571500" y="4186238"/>
            <a:ext cx="11068050" cy="6572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大块减少命令与小尾块，小块可能改善流水。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选择依据是成本模型与约束，不是测试名称。</a:t>
            </a:r>
            <a:endParaRPr lang="en-US"/>
          </a:p>
        </p:txBody>
      </p:sp>
      <p:pic>
        <p:nvPicPr>
          <p:cNvPr id="121" name="Presenton Native Image 1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394" name="Shape 394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395" name="Shape 395"/>
          <p:cNvSpPr/>
          <p:nvPr/>
        </p:nvSpPr>
        <p:spPr>
          <a:xfrm>
            <a:off x="11198572" y="6419850"/>
            <a:ext cx="440978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05 / 12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Presenton Native Image 1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396" name="Shape 396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397" name="Shape 397"/>
          <p:cNvSpPr/>
          <p:nvPr/>
        </p:nvSpPr>
        <p:spPr>
          <a:xfrm>
            <a:off x="9876086" y="361950"/>
            <a:ext cx="176346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05 / OBSERVED WINDOW</a:t>
            </a:r>
            <a:endParaRPr lang="en-US"/>
          </a:p>
        </p:txBody>
      </p:sp>
      <p:sp>
        <p:nvSpPr>
          <p:cNvPr id="398" name="Shape 398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把已到达批次之间的竞争纳入比较</a:t>
            </a:r>
            <a:endParaRPr lang="en-US"/>
          </a:p>
        </p:txBody>
      </p:sp>
      <p:pic>
        <p:nvPicPr>
          <p:cNvPr id="123" name="Presenton Native Image 20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1728788"/>
            <a:ext cx="5372100" cy="2470696"/>
          </a:xfrm>
          <a:prstGeom prst="rect">
            <a:avLst/>
          </a:prstGeom>
        </p:spPr>
      </p:pic>
      <p:sp>
        <p:nvSpPr>
          <p:cNvPr id="399" name="Shape 399"/>
          <p:cNvSpPr/>
          <p:nvPr/>
        </p:nvSpPr>
        <p:spPr>
          <a:xfrm>
            <a:off x="800100" y="1995488"/>
            <a:ext cx="493395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BOUNDED SEARCH</a:t>
            </a:r>
            <a:endParaRPr lang="en-US"/>
          </a:p>
        </p:txBody>
      </p:sp>
      <p:sp>
        <p:nvSpPr>
          <p:cNvPr id="400" name="Shape 400"/>
          <p:cNvSpPr/>
          <p:nvPr/>
        </p:nvSpPr>
        <p:spPr>
          <a:xfrm>
            <a:off x="800100" y="2352675"/>
            <a:ext cx="4933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至多六种普通候选</a:t>
            </a:r>
            <a:endParaRPr lang="en-US"/>
          </a:p>
        </p:txBody>
      </p:sp>
      <p:sp>
        <p:nvSpPr>
          <p:cNvPr id="401" name="Shape 401"/>
          <p:cNvSpPr/>
          <p:nvPr/>
        </p:nvSpPr>
        <p:spPr>
          <a:xfrm>
            <a:off x="800100" y="2919413"/>
            <a:ext cx="493395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两个块长下的DP结果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及可行路径偏好；窗口最多32批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按iov和操作预算进一步截断</a:t>
            </a:r>
            <a:endParaRPr lang="en-US"/>
          </a:p>
        </p:txBody>
      </p:sp>
      <p:pic>
        <p:nvPicPr>
          <p:cNvPr id="124" name="Presenton Native Image 2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248400" y="1728788"/>
            <a:ext cx="5372100" cy="2470696"/>
          </a:xfrm>
          <a:prstGeom prst="rect">
            <a:avLst/>
          </a:prstGeom>
        </p:spPr>
      </p:pic>
      <p:sp>
        <p:nvSpPr>
          <p:cNvPr id="402" name="Shape 402"/>
          <p:cNvSpPr/>
          <p:nvPr/>
        </p:nvSpPr>
        <p:spPr>
          <a:xfrm>
            <a:off x="6477000" y="1995488"/>
            <a:ext cx="493395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ONLINE BOUNDARY</a:t>
            </a:r>
            <a:endParaRPr lang="en-US"/>
          </a:p>
        </p:txBody>
      </p:sp>
      <p:sp>
        <p:nvSpPr>
          <p:cNvPr id="403" name="Shape 403"/>
          <p:cNvSpPr/>
          <p:nvPr/>
        </p:nvSpPr>
        <p:spPr>
          <a:xfrm>
            <a:off x="6477000" y="2352675"/>
            <a:ext cx="493395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只执行当前决定</a:t>
            </a:r>
            <a:endParaRPr lang="en-US"/>
          </a:p>
        </p:txBody>
      </p:sp>
      <p:sp>
        <p:nvSpPr>
          <p:cNvPr id="404" name="Shape 404"/>
          <p:cNvSpPr/>
          <p:nvPr/>
        </p:nvSpPr>
        <p:spPr>
          <a:xfrm>
            <a:off x="6477000" y="2919413"/>
            <a:ext cx="493395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窗口内作反事实比较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不修改已经执行的操作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不读取未来Trace</a:t>
            </a:r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571500" y="4504283"/>
            <a:ext cx="11068050" cy="1114425"/>
          </a:xfrm>
          <a:prstGeom prst="rect">
            <a:avLst/>
          </a:prstGeom>
          <a:solidFill>
            <a:srgbClr val="DCE8FF"/>
          </a:solidFill>
        </p:spPr>
        <p:txBody>
          <a:bodyPr anchor="t" wrap="square" tIns="228600" bIns="228600" lIns="228600" rIns="22860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窗口省略更早工作、缓存命中搬运和后台流量，因此仍是成本代理。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高iov输入限制模拟开销；微批搜索也有明确上限。</a:t>
            </a:r>
            <a:endParaRPr lang="en-US"/>
          </a:p>
        </p:txBody>
      </p:sp>
      <p:pic>
        <p:nvPicPr>
          <p:cNvPr id="125" name="Presenton Native Image 22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06" name="Shape 406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07" name="Shape 407"/>
          <p:cNvSpPr/>
          <p:nvPr/>
        </p:nvSpPr>
        <p:spPr>
          <a:xfrm>
            <a:off x="11195000" y="6419850"/>
            <a:ext cx="4445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06 / 12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resenton Native Image 2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08" name="Shape 408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09" name="Shape 409"/>
          <p:cNvSpPr/>
          <p:nvPr/>
        </p:nvSpPr>
        <p:spPr>
          <a:xfrm>
            <a:off x="10818168" y="361950"/>
            <a:ext cx="821382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06 / CACHE</a:t>
            </a:r>
            <a:endParaRPr lang="en-US"/>
          </a:p>
        </p:txBody>
      </p:sp>
      <p:sp>
        <p:nvSpPr>
          <p:cNvPr id="410" name="Shape 410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以已观察的复用证据约束缓存投入</a:t>
            </a:r>
            <a:endParaRPr lang="en-US"/>
          </a:p>
        </p:txBody>
      </p:sp>
      <p:pic>
        <p:nvPicPr>
          <p:cNvPr id="127" name="Presenton Native Image 24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228850"/>
          </a:xfrm>
          <a:prstGeom prst="rect">
            <a:avLst/>
          </a:prstGeom>
        </p:spPr>
      </p:pic>
      <p:sp>
        <p:nvSpPr>
          <p:cNvPr id="411" name="Shape 411"/>
          <p:cNvSpPr/>
          <p:nvPr/>
        </p:nvSpPr>
        <p:spPr>
          <a:xfrm>
            <a:off x="571500" y="4186238"/>
            <a:ext cx="11068050" cy="6572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满池仍允许新热点替换旧数据，不以零淘汰为目标。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未知未来、间隔突变和替换价值仍有估计误差。</a:t>
            </a:r>
            <a:endParaRPr lang="en-US"/>
          </a:p>
        </p:txBody>
      </p:sp>
      <p:pic>
        <p:nvPicPr>
          <p:cNvPr id="128" name="Presenton Native Image 2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12" name="Shape 412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13" name="Shape 413"/>
          <p:cNvSpPr/>
          <p:nvPr/>
        </p:nvSpPr>
        <p:spPr>
          <a:xfrm>
            <a:off x="11204823" y="6419850"/>
            <a:ext cx="434727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07 / 12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Presenton Native Image 2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14" name="Shape 414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15" name="Shape 415"/>
          <p:cNvSpPr/>
          <p:nvPr/>
        </p:nvSpPr>
        <p:spPr>
          <a:xfrm>
            <a:off x="10481667" y="361950"/>
            <a:ext cx="1157883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07 / VALIDATION</a:t>
            </a:r>
            <a:endParaRPr lang="en-US"/>
          </a:p>
        </p:txBody>
      </p:sp>
      <p:sp>
        <p:nvSpPr>
          <p:cNvPr id="416" name="Shape 416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481条输入，1443次运行及官方回放</a:t>
            </a:r>
            <a:endParaRPr lang="en-US"/>
          </a:p>
        </p:txBody>
      </p:sp>
      <p:pic>
        <p:nvPicPr>
          <p:cNvPr id="130" name="Presenton Native Image 27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676525"/>
          </a:xfrm>
          <a:prstGeom prst="rect">
            <a:avLst/>
          </a:prstGeom>
        </p:spPr>
      </p:pic>
      <p:sp>
        <p:nvSpPr>
          <p:cNvPr id="417" name="Shape 417"/>
          <p:cNvSpPr/>
          <p:nvPr/>
        </p:nvSpPr>
        <p:spPr>
          <a:xfrm>
            <a:off x="571500" y="4672013"/>
            <a:ext cx="11068050" cy="1066800"/>
          </a:xfrm>
          <a:prstGeom prst="rect">
            <a:avLst/>
          </a:prstGeom>
          <a:solidFill>
            <a:srgbClr val="1647D8"/>
          </a:solidFill>
        </p:spPr>
        <p:txBody>
          <a:bodyPr anchor="t" wrap="square" tIns="190500" bIns="190500" lIns="190500" rIns="19050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FFFFFF"/>
                </a:solidFill>
                <a:latin typeface="Noto Sans SC"/>
                <a:ea typeface="Noto Sans SC"/>
              </a:rPr>
              <a:t>全部合法；同一输入三次完整输出哈希一致。</a:t>
            </a:r>
            <a:r>
              <a:rPr sz="1800" b="0" i="0">
                <a:solidFill>
                  <a:srgbClr val="FFFFFF"/>
                </a:solidFill>
                <a:latin typeface="Noto Sans SC"/>
                <a:ea typeface="Noto Sans SC"/>
              </a:rPr>
              <a:t xml:space="preserve">
</a:t>
            </a:r>
            <a:r>
              <a:rPr sz="1800" b="0" i="0">
                <a:solidFill>
                  <a:srgbClr val="FFFFFF"/>
                </a:solidFill>
                <a:latin typeface="Noto Sans SC"/>
                <a:ea typeface="Noto Sans SC"/>
              </a:rPr>
              <a:t>合成输入不冒称主办方隐藏集。</a:t>
            </a:r>
            <a:endParaRPr lang="en-US"/>
          </a:p>
        </p:txBody>
      </p:sp>
      <p:pic>
        <p:nvPicPr>
          <p:cNvPr id="131" name="Presenton Native Image 2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18" name="Shape 418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19" name="Shape 419"/>
          <p:cNvSpPr/>
          <p:nvPr/>
        </p:nvSpPr>
        <p:spPr>
          <a:xfrm>
            <a:off x="11195149" y="6419850"/>
            <a:ext cx="444401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08 / 12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resenton Native Image 2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20" name="Shape 420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21" name="Shape 421"/>
          <p:cNvSpPr/>
          <p:nvPr/>
        </p:nvSpPr>
        <p:spPr>
          <a:xfrm>
            <a:off x="9912251" y="361950"/>
            <a:ext cx="1727299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08 / COST COMPARISON</a:t>
            </a:r>
            <a:endParaRPr lang="en-US"/>
          </a:p>
        </p:txBody>
      </p:sp>
      <p:sp>
        <p:nvSpPr>
          <p:cNvPr id="422" name="Shape 422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同时报告收益和回退</a:t>
            </a:r>
            <a:endParaRPr lang="en-US"/>
          </a:p>
        </p:txBody>
      </p:sp>
      <p:pic>
        <p:nvPicPr>
          <p:cNvPr id="133" name="Presenton Native Image 30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3343275"/>
          </a:xfrm>
          <a:prstGeom prst="rect">
            <a:avLst/>
          </a:prstGeom>
        </p:spPr>
      </p:pic>
      <p:sp>
        <p:nvSpPr>
          <p:cNvPr id="423" name="Shape 423"/>
          <p:cNvSpPr/>
          <p:nvPr/>
        </p:nvSpPr>
        <p:spPr>
          <a:xfrm>
            <a:off x="571500" y="5262563"/>
            <a:ext cx="11068050" cy="6286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475"/>
              </a:lnSpc>
              <a:buNone/>
            </a:pPr>
            <a:r>
              <a:rPr sz="1650" b="0" i="0">
                <a:solidFill>
                  <a:srgbClr val="182230"/>
                </a:solidFill>
                <a:latin typeface="Noto Sans SC"/>
                <a:ea typeface="Noto Sans SC"/>
              </a:rPr>
              <a:t>成本比 = 方案J / 官方贪心J；越低越好。</a:t>
            </a:r>
            <a:r>
              <a:rPr sz="1650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650" b="0" i="0">
                <a:solidFill>
                  <a:srgbClr val="182230"/>
                </a:solidFill>
                <a:latin typeface="Noto Sans SC"/>
                <a:ea typeface="Noto Sans SC"/>
              </a:rPr>
              <a:t>逐例回退在报告中完整保留，均值不是官方评分。</a:t>
            </a:r>
            <a:endParaRPr lang="en-US"/>
          </a:p>
        </p:txBody>
      </p:sp>
      <p:pic>
        <p:nvPicPr>
          <p:cNvPr id="134" name="Presenton Native Image 3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24" name="Shape 424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25" name="Shape 425"/>
          <p:cNvSpPr/>
          <p:nvPr/>
        </p:nvSpPr>
        <p:spPr>
          <a:xfrm>
            <a:off x="11195000" y="6419850"/>
            <a:ext cx="44455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09 / 12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Presenton Native Image 3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26" name="Shape 426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27" name="Shape 427"/>
          <p:cNvSpPr/>
          <p:nvPr/>
        </p:nvSpPr>
        <p:spPr>
          <a:xfrm>
            <a:off x="10031909" y="361950"/>
            <a:ext cx="1607641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09 / RESOURCE LIMITS</a:t>
            </a:r>
            <a:endParaRPr lang="en-US"/>
          </a:p>
        </p:txBody>
      </p:sp>
      <p:sp>
        <p:nvSpPr>
          <p:cNvPr id="428" name="Shape 428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正确性、决策开销与规模一起验证</a:t>
            </a:r>
            <a:endParaRPr lang="en-US"/>
          </a:p>
        </p:txBody>
      </p:sp>
      <p:pic>
        <p:nvPicPr>
          <p:cNvPr id="136" name="Presenton Native Image 33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3555950" cy="2470696"/>
          </a:xfrm>
          <a:prstGeom prst="rect">
            <a:avLst/>
          </a:prstGeom>
        </p:spPr>
      </p:pic>
      <p:sp>
        <p:nvSpPr>
          <p:cNvPr id="429" name="Shape 429"/>
          <p:cNvSpPr/>
          <p:nvPr/>
        </p:nvSpPr>
        <p:spPr>
          <a:xfrm>
            <a:off x="80010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SEMANTICS</a:t>
            </a:r>
            <a:endParaRPr lang="en-US"/>
          </a:p>
        </p:txBody>
      </p:sp>
      <p:sp>
        <p:nvSpPr>
          <p:cNvPr id="430" name="Shape 430"/>
          <p:cNvSpPr/>
          <p:nvPr/>
        </p:nvSpPr>
        <p:spPr>
          <a:xfrm>
            <a:off x="80010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135项检查</a:t>
            </a:r>
            <a:endParaRPr lang="en-US"/>
          </a:p>
        </p:txBody>
      </p:sp>
      <p:sp>
        <p:nvSpPr>
          <p:cNvPr id="431" name="Shape 431"/>
          <p:cNvSpPr/>
          <p:nvPr/>
        </p:nvSpPr>
        <p:spPr>
          <a:xfrm>
            <a:off x="80010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38功能 + 74边界/变形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+ 19准入 + 4门禁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74项另做ASan/UBSan</a:t>
            </a:r>
            <a:endParaRPr lang="en-US"/>
          </a:p>
        </p:txBody>
      </p:sp>
      <p:pic>
        <p:nvPicPr>
          <p:cNvPr id="137" name="Presenton Native Image 34" descr=""/>
          <p:cNvPicPr/>
          <p:nvPr/>
        </p:nvPicPr>
        <p:blipFill>
          <a:blip r:embed="rId5" cstate="none"/>
          <a:stretch>
            <a:fillRect/>
          </a:stretch>
        </p:blipFill>
        <p:spPr>
          <a:xfrm>
            <a:off x="4317950" y="1728788"/>
            <a:ext cx="3555950" cy="2470696"/>
          </a:xfrm>
          <a:prstGeom prst="rect">
            <a:avLst/>
          </a:prstGeom>
        </p:spPr>
      </p:pic>
      <p:sp>
        <p:nvSpPr>
          <p:cNvPr id="432" name="Shape 432"/>
          <p:cNvSpPr/>
          <p:nvPr/>
        </p:nvSpPr>
        <p:spPr>
          <a:xfrm>
            <a:off x="454655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433" name="Shape 433"/>
          <p:cNvSpPr/>
          <p:nvPr/>
        </p:nvSpPr>
        <p:spPr>
          <a:xfrm>
            <a:off x="454655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两类十万请求</a:t>
            </a:r>
            <a:endParaRPr lang="en-US"/>
          </a:p>
        </p:txBody>
      </p:sp>
      <p:sp>
        <p:nvSpPr>
          <p:cNvPr id="434" name="Shape 434"/>
          <p:cNvSpPr/>
          <p:nvPr/>
        </p:nvSpPr>
        <p:spPr>
          <a:xfrm>
            <a:off x="454655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混合与阶段迁移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各一次完整运行和回放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另测三类高iov，各三次</a:t>
            </a:r>
            <a:endParaRPr lang="en-US"/>
          </a:p>
        </p:txBody>
      </p:sp>
      <p:pic>
        <p:nvPicPr>
          <p:cNvPr id="138" name="Presenton Native Image 35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8064401" y="1728788"/>
            <a:ext cx="3556099" cy="2470696"/>
          </a:xfrm>
          <a:prstGeom prst="rect">
            <a:avLst/>
          </a:prstGeom>
        </p:spPr>
      </p:pic>
      <p:sp>
        <p:nvSpPr>
          <p:cNvPr id="435" name="Shape 435"/>
          <p:cNvSpPr/>
          <p:nvPr/>
        </p:nvSpPr>
        <p:spPr>
          <a:xfrm>
            <a:off x="8293001" y="1995488"/>
            <a:ext cx="3117949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MEASURED LIMITS</a:t>
            </a:r>
            <a:endParaRPr lang="en-US"/>
          </a:p>
        </p:txBody>
      </p:sp>
      <p:sp>
        <p:nvSpPr>
          <p:cNvPr id="436" name="Shape 436"/>
          <p:cNvSpPr/>
          <p:nvPr/>
        </p:nvSpPr>
        <p:spPr>
          <a:xfrm>
            <a:off x="8293001" y="2352675"/>
            <a:ext cx="3117949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1.26秒</a:t>
            </a:r>
            <a:endParaRPr lang="en-US"/>
          </a:p>
        </p:txBody>
      </p:sp>
      <p:sp>
        <p:nvSpPr>
          <p:cNvPr id="437" name="Shape 437"/>
          <p:cNvSpPr/>
          <p:nvPr/>
        </p:nvSpPr>
        <p:spPr>
          <a:xfrm>
            <a:off x="8293001" y="2919413"/>
            <a:ext cx="3117949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所测最大决策耗时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题面上限60秒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profile峰值内存2.57GiB</a:t>
            </a:r>
            <a:endParaRPr lang="en-US"/>
          </a:p>
        </p:txBody>
      </p:sp>
      <p:sp>
        <p:nvSpPr>
          <p:cNvPr id="438" name="Shape 438"/>
          <p:cNvSpPr/>
          <p:nvPr/>
        </p:nvSpPr>
        <p:spPr>
          <a:xfrm>
            <a:off x="571500" y="4504283"/>
            <a:ext cx="11068050" cy="3429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182230"/>
                </a:solidFill>
                <a:latin typeface="Noto Sans SC"/>
                <a:ea typeface="Noto Sans SC"/>
              </a:rPr>
              <a:t>墙钟来自共享主机；仿真J与真实硬件吞吐分开解释。</a:t>
            </a:r>
            <a:endParaRPr lang="en-US"/>
          </a:p>
        </p:txBody>
      </p:sp>
      <p:pic>
        <p:nvPicPr>
          <p:cNvPr id="139" name="Presenton Native Image 36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39" name="Shape 439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40" name="Shape 440"/>
          <p:cNvSpPr/>
          <p:nvPr/>
        </p:nvSpPr>
        <p:spPr>
          <a:xfrm>
            <a:off x="11223427" y="6419850"/>
            <a:ext cx="416123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10 / 12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resenton Native Image 3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41" name="Shape 441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42" name="Shape 442"/>
          <p:cNvSpPr/>
          <p:nvPr/>
        </p:nvSpPr>
        <p:spPr>
          <a:xfrm>
            <a:off x="10857905" y="361950"/>
            <a:ext cx="781645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10 / SCOPE</a:t>
            </a:r>
            <a:endParaRPr lang="en-US"/>
          </a:p>
        </p:txBody>
      </p:sp>
      <p:sp>
        <p:nvSpPr>
          <p:cNvPr id="443" name="Shape 443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通用规则仍有明确边界</a:t>
            </a:r>
            <a:endParaRPr lang="en-US"/>
          </a:p>
        </p:txBody>
      </p:sp>
      <p:pic>
        <p:nvPicPr>
          <p:cNvPr id="141" name="Presenton Native Image 38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3555950" cy="2470696"/>
          </a:xfrm>
          <a:prstGeom prst="rect">
            <a:avLst/>
          </a:prstGeom>
        </p:spPr>
      </p:pic>
      <p:sp>
        <p:nvSpPr>
          <p:cNvPr id="444" name="Shape 444"/>
          <p:cNvSpPr/>
          <p:nvPr/>
        </p:nvSpPr>
        <p:spPr>
          <a:xfrm>
            <a:off x="80010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FUTURE</a:t>
            </a:r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80010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未来不可见</a:t>
            </a:r>
            <a:endParaRPr lang="en-US"/>
          </a:p>
        </p:txBody>
      </p:sp>
      <p:sp>
        <p:nvSpPr>
          <p:cNvPr id="446" name="Shape 446"/>
          <p:cNvSpPr/>
          <p:nvPr/>
        </p:nvSpPr>
        <p:spPr>
          <a:xfrm>
            <a:off x="80010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相同前缀可继续复用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也可突然停止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缓存收益没有逐次保证</a:t>
            </a:r>
            <a:endParaRPr lang="en-US"/>
          </a:p>
        </p:txBody>
      </p:sp>
      <p:pic>
        <p:nvPicPr>
          <p:cNvPr id="142" name="Presenton Native Image 39" descr=""/>
          <p:cNvPicPr/>
          <p:nvPr/>
        </p:nvPicPr>
        <p:blipFill>
          <a:blip r:embed="rId5" cstate="none"/>
          <a:stretch>
            <a:fillRect/>
          </a:stretch>
        </p:blipFill>
        <p:spPr>
          <a:xfrm>
            <a:off x="4317950" y="1728788"/>
            <a:ext cx="3555950" cy="2470696"/>
          </a:xfrm>
          <a:prstGeom prst="rect">
            <a:avLst/>
          </a:prstGeom>
        </p:spPr>
      </p:pic>
      <p:sp>
        <p:nvSpPr>
          <p:cNvPr id="447" name="Shape 447"/>
          <p:cNvSpPr/>
          <p:nvPr/>
        </p:nvSpPr>
        <p:spPr>
          <a:xfrm>
            <a:off x="4546550" y="1995488"/>
            <a:ext cx="3117800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MODEL</a:t>
            </a:r>
            <a:endParaRPr lang="en-US"/>
          </a:p>
        </p:txBody>
      </p:sp>
      <p:sp>
        <p:nvSpPr>
          <p:cNvPr id="448" name="Shape 448"/>
          <p:cNvSpPr/>
          <p:nvPr/>
        </p:nvSpPr>
        <p:spPr>
          <a:xfrm>
            <a:off x="4546550" y="2352675"/>
            <a:ext cx="3117800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有限候选与窗口</a:t>
            </a:r>
            <a:endParaRPr lang="en-US"/>
          </a:p>
        </p:txBody>
      </p:sp>
      <p:sp>
        <p:nvSpPr>
          <p:cNvPr id="449" name="Shape 449"/>
          <p:cNvSpPr/>
          <p:nvPr/>
        </p:nvSpPr>
        <p:spPr>
          <a:xfrm>
            <a:off x="4546550" y="2919413"/>
            <a:ext cx="3117800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省略部分在途流量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分组、块长有搜索预算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存在逐例成本回退</a:t>
            </a:r>
            <a:endParaRPr lang="en-US"/>
          </a:p>
        </p:txBody>
      </p:sp>
      <p:pic>
        <p:nvPicPr>
          <p:cNvPr id="143" name="Presenton Native Image 40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8064401" y="1728788"/>
            <a:ext cx="3556099" cy="2470696"/>
          </a:xfrm>
          <a:prstGeom prst="rect">
            <a:avLst/>
          </a:prstGeom>
        </p:spPr>
      </p:pic>
      <p:sp>
        <p:nvSpPr>
          <p:cNvPr id="450" name="Shape 450"/>
          <p:cNvSpPr/>
          <p:nvPr/>
        </p:nvSpPr>
        <p:spPr>
          <a:xfrm>
            <a:off x="8293001" y="1995488"/>
            <a:ext cx="3117949" cy="24288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913"/>
              </a:lnSpc>
              <a:buNone/>
            </a:pPr>
            <a:r>
              <a:rPr sz="1275" b="0" i="0">
                <a:solidFill>
                  <a:srgbClr val="1647D8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451" name="Shape 451"/>
          <p:cNvSpPr/>
          <p:nvPr/>
        </p:nvSpPr>
        <p:spPr>
          <a:xfrm>
            <a:off x="8293001" y="2352675"/>
            <a:ext cx="3117949" cy="414338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1" i="0">
                <a:solidFill>
                  <a:srgbClr val="182230"/>
                </a:solidFill>
                <a:latin typeface="Noto Sans SC"/>
                <a:ea typeface="Noto Sans SC"/>
              </a:rPr>
              <a:t>验证范围有限</a:t>
            </a:r>
            <a:endParaRPr lang="en-US"/>
          </a:p>
        </p:txBody>
      </p:sp>
      <p:sp>
        <p:nvSpPr>
          <p:cNvPr id="452" name="Shape 452"/>
          <p:cNvSpPr/>
          <p:nvPr/>
        </p:nvSpPr>
        <p:spPr>
          <a:xfrm>
            <a:off x="8293001" y="2919413"/>
            <a:ext cx="3117949" cy="105147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公开成绩不是隐藏排名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合成数据不是实际业务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未宣称全局最优</a:t>
            </a:r>
            <a:endParaRPr lang="en-US"/>
          </a:p>
        </p:txBody>
      </p:sp>
      <p:sp>
        <p:nvSpPr>
          <p:cNvPr id="453" name="Shape 453"/>
          <p:cNvSpPr/>
          <p:nvPr/>
        </p:nvSpPr>
        <p:spPr>
          <a:xfrm>
            <a:off x="571500" y="4504283"/>
            <a:ext cx="11068050" cy="6858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00"/>
              </a:lnSpc>
              <a:buNone/>
            </a:pPr>
            <a:r>
              <a:rPr sz="1800" b="0" i="0">
                <a:solidFill>
                  <a:srgbClr val="182230"/>
                </a:solidFill>
                <a:latin typeface="Noto Sans SC"/>
                <a:ea typeface="Noto Sans SC"/>
              </a:rPr>
              <a:t>不按文件名、题号、instance_id或种子选策略。</a:t>
            </a:r>
            <a:r>
              <a:rPr sz="1800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800" b="0" i="0">
                <a:solidFill>
                  <a:srgbClr val="182230"/>
                </a:solidFill>
                <a:latin typeface="Noto Sans SC"/>
                <a:ea typeface="Noto Sans SC"/>
              </a:rPr>
              <a:t>原始逐例结果、输入哈希与复现脚本随包提供。</a:t>
            </a:r>
            <a:endParaRPr lang="en-US"/>
          </a:p>
        </p:txBody>
      </p:sp>
      <p:pic>
        <p:nvPicPr>
          <p:cNvPr id="144" name="Presenton Native Image 4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54" name="Shape 454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55" name="Shape 455"/>
          <p:cNvSpPr/>
          <p:nvPr/>
        </p:nvSpPr>
        <p:spPr>
          <a:xfrm>
            <a:off x="11253341" y="6419850"/>
            <a:ext cx="38620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11 / 12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Presenton Native Image 4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71500" y="361950"/>
            <a:ext cx="11049000" cy="376238"/>
          </a:xfrm>
          <a:prstGeom prst="rect">
            <a:avLst/>
          </a:prstGeom>
        </p:spPr>
      </p:pic>
      <p:sp>
        <p:nvSpPr>
          <p:cNvPr id="456" name="Shape 456"/>
          <p:cNvSpPr/>
          <p:nvPr/>
        </p:nvSpPr>
        <p:spPr>
          <a:xfrm>
            <a:off x="571500" y="361950"/>
            <a:ext cx="2141934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NDS / ONLINE IO SCHEDULING</a:t>
            </a:r>
            <a:endParaRPr lang="en-US"/>
          </a:p>
        </p:txBody>
      </p:sp>
      <p:sp>
        <p:nvSpPr>
          <p:cNvPr id="457" name="Shape 457"/>
          <p:cNvSpPr/>
          <p:nvPr/>
        </p:nvSpPr>
        <p:spPr>
          <a:xfrm>
            <a:off x="10502354" y="361950"/>
            <a:ext cx="1137196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647D8"/>
                </a:solidFill>
                <a:latin typeface="Inter"/>
                <a:ea typeface="Inter"/>
              </a:rPr>
              <a:t>11 / REPRODUCE</a:t>
            </a:r>
            <a:endParaRPr lang="en-US"/>
          </a:p>
        </p:txBody>
      </p:sp>
      <p:sp>
        <p:nvSpPr>
          <p:cNvPr id="458" name="Shape 458"/>
          <p:cNvSpPr/>
          <p:nvPr/>
        </p:nvSpPr>
        <p:spPr>
          <a:xfrm>
            <a:off x="571500" y="1004888"/>
            <a:ext cx="11068050" cy="4762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750"/>
              </a:lnSpc>
              <a:buNone/>
            </a:pPr>
            <a:r>
              <a:rPr sz="3000" b="1" i="0">
                <a:solidFill>
                  <a:srgbClr val="182230"/>
                </a:solidFill>
                <a:latin typeface="Sora"/>
                <a:ea typeface="Sora"/>
              </a:rPr>
              <a:t>从入门文档到可运行程序</a:t>
            </a:r>
            <a:endParaRPr lang="en-US"/>
          </a:p>
        </p:txBody>
      </p:sp>
      <p:pic>
        <p:nvPicPr>
          <p:cNvPr id="146" name="Presenton Native Image 43" descr=""/>
          <p:cNvPicPr/>
          <p:nvPr/>
        </p:nvPicPr>
        <p:blipFill>
          <a:blip r:embed="rId4" cstate="none"/>
          <a:stretch>
            <a:fillRect/>
          </a:stretch>
        </p:blipFill>
        <p:spPr>
          <a:xfrm>
            <a:off x="571500" y="1728788"/>
            <a:ext cx="11049000" cy="2676525"/>
          </a:xfrm>
          <a:prstGeom prst="rect">
            <a:avLst/>
          </a:prstGeom>
        </p:spPr>
      </p:pic>
      <p:sp>
        <p:nvSpPr>
          <p:cNvPr id="459" name="Shape 459"/>
          <p:cNvSpPr/>
          <p:nvPr/>
        </p:nvSpPr>
        <p:spPr>
          <a:xfrm>
            <a:off x="571500" y="4595813"/>
            <a:ext cx="11068050" cy="6572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588"/>
              </a:lnSpc>
              <a:buNone/>
            </a:pP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唯一提交策略：03_程序/player/solution.cpp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 xml:space="preserve">
</a:t>
            </a:r>
            <a:r>
              <a:rPr sz="1725" b="0" i="0">
                <a:solidFill>
                  <a:srgbClr val="182230"/>
                </a:solidFill>
                <a:latin typeface="Noto Sans SC"/>
                <a:ea typeface="Noto Sans SC"/>
              </a:rPr>
              <a:t>源码、程序、报告与答辩材料对应同一冻结实现。</a:t>
            </a:r>
            <a:endParaRPr lang="en-US"/>
          </a:p>
        </p:txBody>
      </p:sp>
      <p:pic>
        <p:nvPicPr>
          <p:cNvPr id="147" name="Presenton Native Image 44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571500" y="6296025"/>
            <a:ext cx="11049000" cy="323850"/>
          </a:xfrm>
          <a:prstGeom prst="rect">
            <a:avLst/>
          </a:prstGeom>
        </p:spPr>
      </p:pic>
      <p:sp>
        <p:nvSpPr>
          <p:cNvPr id="460" name="Shape 460"/>
          <p:cNvSpPr/>
          <p:nvPr/>
        </p:nvSpPr>
        <p:spPr>
          <a:xfrm>
            <a:off x="571500" y="6419850"/>
            <a:ext cx="29865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SDK 6b1666e · online policy · simulation results</a:t>
            </a:r>
            <a:endParaRPr lang="en-US"/>
          </a:p>
        </p:txBody>
      </p:sp>
      <p:sp>
        <p:nvSpPr>
          <p:cNvPr id="461" name="Shape 461"/>
          <p:cNvSpPr/>
          <p:nvPr/>
        </p:nvSpPr>
        <p:spPr>
          <a:xfrm>
            <a:off x="11226254" y="6419850"/>
            <a:ext cx="413296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526174"/>
                </a:solidFill>
                <a:latin typeface="Inter"/>
                <a:ea typeface="Inter"/>
              </a:rPr>
              <a:t>12 / 12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mitype="http://purl.org/dcmitype/" xmlns:dcterms="http://purl.org/dc/terms/" xmlns:xsi="http://www.w3.org/2001/XMLSchema-instance">
  <dc:title>NDS 观察窗口调度与复用感知缓存</dc:title>
  <dc:subject>Generated by Presenton export-core</dc:subject>
  <dc:creator>Presenton</dc:creator>
  <cp:lastModifiedBy>Presenton</cp:lastModifiedBy>
  <dcterms:created xsi:type="dcterms:W3CDTF">2026-10-30T05:57:49.981Z</dcterms:created>
  <dcterms:modified xsi:type="dcterms:W3CDTF">2026-10-30T05:57:49.981Z</dcterms:modified>
</cp:coreProperties>
</file>