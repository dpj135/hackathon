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先讲事实观察，再讲设计选择。观察1只回答怎样合并：合并可能减少操作固定费，重叠请求还可共享物理读取，但组数和块大小会改变SSD并发、性能桶、缓冲占用，因此不能认为越合并越好。观察2只回答怎样选路：同一组数据在满足对齐、槽位和池容量条件时可能有多条合法路径；DIRECT没有中转复制，AGGREGATE和FALLBACK使用不同临时池、复制类型和调用结构。并非任意组都能走三条路径，低费用也不等于整条Trace更优。前两个观察共同推出一个设计：把分组边界与路径放在同一候选转移中，由联合DP选择，而不是先固定合并再按规则选路；两阶段实现见后续DP页。观察3回答是否值得缓存：PROMOTE先付搬运和调用费，成功入池后才可能被后续同键请求复用；缓存命中仍需KV到目标HBM的复制。复用不足、证据过时或资源竞争可能使投入无法回收，所以后台按复用证据、正的预计净收益、历史预算及容量压力准入；它不是预测必回本的保证。前台节省本次读取成本，后台限制为未来复用支付的额外成本，两者都服务于降低完整Trace的J。组估价E=时间单价×(读工作+复制工作)×池压力系数+调用费；读按物理字节、复制按有效字节，来自公开性能表。DIRECT系数1，中转为1+0.5×对应池已用比例。该启发式只用于估价，不是官方最终J公式。具体阈值与公式留到算法页和设计文档，本页不以公式覆盖观察逻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顺序是同一前台规划的三个串行步骤，不是两个互相投票的独立算法。快速DP每批必运行：用片段数与卡上请求数作为初始负载代理，对合法的分组加路径候选求一维前缀最小值，输出完整基础方案。细化DP不是只给原方案打分，也不是只改变路径：它复用同一合法候选边集合，从基础方案读取组数与卡号/复制类型比例，在固定候选总组数cnt后重新求解D[h][j]，可同时改变分组和路径。cnt影响SSD估价并发；复制估价按基础方案的各卡/类型占比计算，并按对应上限处理。为何有两阶段：分组影响并发，而并发影响估价；基础方案提供复制分布，有限细化缓解该相互依赖，避免每批进行高维全量搜索。细化入口要求无活动传输、排队、在途提升、占槽或旧未完成请求；最多1024请求、2048 iov、16384片段，基础方案最多2048操作。合法边至多262144，单次存储状态至多131072，共享200万估价/转移预算；具体预检查与回溯另计。每个cnt回溯后检查总槽位和两类临时池容量。最终选通过检查且完成求解的细化候选中估价最低者；无可用候选则保留基础方案。代码不将快速E和细化E直接比较，也不保证细化后的真实J必降。DP只处理当前未命中的合法连续片段，每起点最多向后看128片段，不规划未来、不决定PROMOTE。五次点击依次显示基础规划、细化、输出选择、更新公式与数值示例、实际结果。三个源区间[0,512)、[512,1024)、[1024,1536)，目标同卡且分别对齐。快速阶段qs=qc=3，整组D/A/F的E为5.406/32.820/22.559；快速dp[1/2/3]=3.135/4.271/5.406。细化时基础方案全DIRECT，复制估价q=1，因此整组AGGREGATE E重算为81.648，不能沿用快速阶段数值。页面只展示同一细化阶段内可比的最终候选：1/2/3组最低E为5.406/7.406/9.406，均由DIRECT取得；代码实际尝试顺序1、3、2。最终读工作3.4059797微秒，Trace时间向上取整为4微秒，调用费2，官方J=6；分别读3次时T=4、调用费6、J=10。已核验输入、估价及官方输出；放映不运行C++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Vmax为单个请求最多iov数，L为最终片段与目标iov的有效交集数。快速DP每个起点至多扩展W个片段，每组比较三条路径；维护std::set的所有者集合带log W因子，因此仅这一核心的保守界为O(nW log(W+1))。固定cnt时DP状态至多cnt*n，每状态看至多3W条边；若无采样和预算约束，全枚举cnt=1..n的核心转移上界可达O(n^3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扩展655条策略堆峰值13.06MiB；极端碎片探针1.58GiB，和公开集口径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high_mixed可直接核验：贪心3566次提升、提升调用费292412、命中0；本方案均0。全Trace J530416→174066还有前台变化，不能全算缓存收益。提升调用费单项下降96.59%，提升搬运字节3881057800→327938527，下降91.55%。补充消融与主图分开：双方各自保留前台，仅关闭PROMOTE，贪心J3686550→3581641，缓存净贡献104909；本方案2344079→2273874，缓存净贡献70205。绝对命中量和缓存净贡献较小，不能声称缓存模块在同一前台下收益更大。消融双方各6例正收益，贪心17例负收益、本方案2例；这不表示相对baseline退化。06_reuse_hot：本方案开/关36356/36302，baseline41233；mid_reuse：88409/87179，baseline185453。完整方案分别优于baseline11.83%、52.33%。公开39条35胜4平0负；扩展292条96条退化，详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设计依据 · 三条观察，两项设计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设计依据 · 三条观察，两项设计</a:t>
            </a:r>
          </a:p>
        </p:txBody>
      </p:sp>
      <p:sp>
        <p:nvSpPr>
          <p:cNvPr id="3" name="前台联合分组与选路，后台按收益准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前台联合分组与选路，后台按收益准入</a:t>
            </a:r>
          </a:p>
        </p:txBody>
      </p:sp>
      <p:sp>
        <p:nvSpPr>
          <p:cNvPr id="4" name="先看三个问题特性：合并的收益与代价、路径的成本差异，以及缓存的回本条件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先看三个问题特性：合并的收益与代价、路径的成本差异，以及缓存的回本条件。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前台 · 本次读取"/>
          <p:cNvSpPr txBox="1"/>
          <p:nvPr/>
        </p:nvSpPr>
        <p:spPr>
          <a:xfrm>
            <a:off x="609600" y="2009774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本次读取</a:t>
            </a:r>
          </a:p>
        </p:txBody>
      </p:sp>
      <p:sp>
        <p:nvSpPr>
          <p:cNvPr id="9" name="后台 · 后续复用"/>
          <p:cNvSpPr txBox="1"/>
          <p:nvPr/>
        </p:nvSpPr>
        <p:spPr>
          <a:xfrm>
            <a:off x="8077200" y="2009774"/>
            <a:ext cx="35052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· 后续复用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观察 1"/>
          <p:cNvSpPr txBox="1"/>
          <p:nvPr/>
        </p:nvSpPr>
        <p:spPr>
          <a:xfrm>
            <a:off x="7810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1</a:t>
            </a:r>
          </a:p>
        </p:txBody>
      </p:sp>
      <p:sp>
        <p:nvSpPr>
          <p:cNvPr id="13" name="合并有收益，也有代价"/>
          <p:cNvSpPr txBox="1"/>
          <p:nvPr/>
        </p:nvSpPr>
        <p:spPr>
          <a:xfrm>
            <a:off x="7810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合并有收益，也有代价</a:t>
            </a:r>
          </a:p>
        </p:txBody>
      </p:sp>
      <p:sp>
        <p:nvSpPr>
          <p:cNvPr id="14" name="合并可少付固定费， 重叠请求可共享物理读取； 组数与块大小改变， 并发和缓冲占用也会改变。"/>
          <p:cNvSpPr txBox="1"/>
          <p:nvPr/>
        </p:nvSpPr>
        <p:spPr>
          <a:xfrm>
            <a:off x="7810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合并可少付固定费，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重叠请求可共享物理读取；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组数与块大小改变，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并发和缓冲占用也会改变。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观察 2"/>
          <p:cNvSpPr txBox="1"/>
          <p:nvPr/>
        </p:nvSpPr>
        <p:spPr>
          <a:xfrm>
            <a:off x="45148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2</a:t>
            </a:r>
          </a:p>
        </p:txBody>
      </p:sp>
      <p:sp>
        <p:nvSpPr>
          <p:cNvPr id="18" name="路径可替代，成本不同"/>
          <p:cNvSpPr txBox="1"/>
          <p:nvPr/>
        </p:nvSpPr>
        <p:spPr>
          <a:xfrm>
            <a:off x="45148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路径可替代，成本不同</a:t>
            </a:r>
          </a:p>
        </p:txBody>
      </p:sp>
      <p:sp>
        <p:nvSpPr>
          <p:cNvPr id="19" name="同组数据可有多条合法路径； 调用费、复制和池需求不同。 分组与资源改变时， 低成本路径也可能改变。"/>
          <p:cNvSpPr txBox="1"/>
          <p:nvPr/>
        </p:nvSpPr>
        <p:spPr>
          <a:xfrm>
            <a:off x="45148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同组数据可有多条合法路径；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调用费、复制和池需求不同。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分组与资源改变时，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低成本路径也可能改变。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2409825"/>
            <a:ext cx="3505200" cy="24955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7200" y="2409825"/>
            <a:ext cx="28575" cy="24955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观察 3"/>
          <p:cNvSpPr txBox="1"/>
          <p:nvPr/>
        </p:nvSpPr>
        <p:spPr>
          <a:xfrm>
            <a:off x="8248650" y="25241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4756D"/>
                </a:solidFill>
                <a:latin typeface="Microsoft YaHei"/>
                <a:ea typeface="Microsoft YaHei"/>
              </a:rPr>
              <a:t>观察 3</a:t>
            </a:r>
          </a:p>
        </p:txBody>
      </p:sp>
      <p:sp>
        <p:nvSpPr>
          <p:cNvPr id="23" name="缓存先投入，后回报"/>
          <p:cNvSpPr txBox="1"/>
          <p:nvPr/>
        </p:nvSpPr>
        <p:spPr>
          <a:xfrm>
            <a:off x="8248650" y="2886075"/>
            <a:ext cx="31623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缓存先投入，后回报</a:t>
            </a:r>
          </a:p>
        </p:txBody>
      </p:sp>
      <p:sp>
        <p:nvSpPr>
          <p:cNvPr id="24" name="提升先付搬运与调用费； 命中仍要复制到目标 HBM。 复用不够或证据过时， 就可能收不回这次投入。"/>
          <p:cNvSpPr txBox="1"/>
          <p:nvPr/>
        </p:nvSpPr>
        <p:spPr>
          <a:xfrm>
            <a:off x="8248650" y="3419475"/>
            <a:ext cx="31623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提升先付搬运与调用费；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命中仍要复制到目标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复用不够或证据过时，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就可能收不回这次投入。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198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" y="5086350"/>
            <a:ext cx="3733800" cy="0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52900" y="5086350"/>
            <a:ext cx="0" cy="17145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29800" y="4905375"/>
            <a:ext cx="0" cy="352425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5286375"/>
            <a:ext cx="7086600" cy="73342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设计：用联合 DP 同时选择分组边界与路径"/>
          <p:cNvSpPr txBox="1"/>
          <p:nvPr/>
        </p:nvSpPr>
        <p:spPr>
          <a:xfrm>
            <a:off x="781050" y="5381625"/>
            <a:ext cx="67437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设计：用联合 DP 同时选择分组边界与路径</a:t>
            </a:r>
          </a:p>
        </p:txBody>
      </p:sp>
      <p:sp>
        <p:nvSpPr>
          <p:cNvPr id="32" name="每个合法分组比较各条路径，用同一成本口径排序。"/>
          <p:cNvSpPr txBox="1"/>
          <p:nvPr/>
        </p:nvSpPr>
        <p:spPr>
          <a:xfrm>
            <a:off x="781050" y="5753100"/>
            <a:ext cx="6743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每个合法分组比较各条路径，用同一成本口径排序。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7200" y="5286375"/>
            <a:ext cx="3505200" cy="733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设计：按净收益与预算准入"/>
          <p:cNvSpPr txBox="1"/>
          <p:nvPr/>
        </p:nvSpPr>
        <p:spPr>
          <a:xfrm>
            <a:off x="8248650" y="5391150"/>
            <a:ext cx="31623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设计：按净收益与预算准入</a:t>
            </a:r>
          </a:p>
        </p:txBody>
      </p:sp>
      <p:sp>
        <p:nvSpPr>
          <p:cNvPr id="35" name="复用证据有效，再决定是否提升。"/>
          <p:cNvSpPr txBox="1"/>
          <p:nvPr/>
        </p:nvSpPr>
        <p:spPr>
          <a:xfrm>
            <a:off x="8248650" y="57626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复用证据有效，再决定是否提升。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联合 DP：基础方案 → 按需细化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DP：基础方案 → 按需细化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分组与路径联合规划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分组与路径联合规划</a:t>
            </a:r>
          </a:p>
        </p:txBody>
      </p:sp>
      <p:sp>
        <p:nvSpPr>
          <p:cNvPr id="3" name="联合 DP：先出基础方案，再按需细化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联合 DP：先出基础方案，再按需细化</a:t>
            </a:r>
          </a:p>
        </p:txBody>
      </p:sp>
      <p:sp>
        <p:nvSpPr>
          <p:cNvPr id="4" name="分组影响并发，并发又影响成本；基础方案提供复制分布，细化按候选组数重新求解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分组影响并发，并发又影响成本；基础方案提供复制分布，细化按候选组数重新求解。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grpSp>
        <p:nvGrpSpPr>
          <p:cNvPr id="8" name="步骤1：快速 DP 输出基础方案"/>
          <p:cNvGrpSpPr/>
          <p:nvPr/>
        </p:nvGrpSpPr>
        <p:grpSpPr>
          <a:xfrm>
            <a:off x="609600" y="2076450"/>
            <a:ext cx="3143250" cy="1114425"/>
            <a:chOff x="609600" y="2076450"/>
            <a:chExt cx="3143250" cy="1114425"/>
          </a:xfrm>
        </p:grpSpPr>
        <p:sp>
          <p:nvSpPr>
            <p:cNvPr id="9" name="Rectangle 8"/>
            <p:cNvSpPr/>
            <p:nvPr/>
          </p:nvSpPr>
          <p:spPr>
            <a:xfrm>
              <a:off x="609600" y="2076450"/>
              <a:ext cx="3143250" cy="11144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① 快速 DP：先有方案"/>
            <p:cNvSpPr txBox="1"/>
            <p:nvPr/>
          </p:nvSpPr>
          <p:spPr>
            <a:xfrm>
              <a:off x="762000" y="2209800"/>
              <a:ext cx="28384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① 快速 DP：先有方案</a:t>
              </a:r>
            </a:p>
          </p:txBody>
        </p:sp>
        <p:sp>
          <p:nvSpPr>
            <p:cNvPr id="11" name="联合选分组和路径 同时得到各卡的复制路径占比"/>
            <p:cNvSpPr txBox="1"/>
            <p:nvPr/>
          </p:nvSpPr>
          <p:spPr>
            <a:xfrm>
              <a:off x="762000" y="2619375"/>
              <a:ext cx="2838450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联合选分组和路径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同时得到各卡的复制路径占比</a:t>
              </a:r>
            </a:p>
          </p:txBody>
        </p:sp>
      </p:grpSp>
      <p:grpSp>
        <p:nvGrpSpPr>
          <p:cNvPr id="12" name="步骤2：沿用候选与基础方案统计，按需细化"/>
          <p:cNvGrpSpPr/>
          <p:nvPr/>
        </p:nvGrpSpPr>
        <p:grpSpPr>
          <a:xfrm>
            <a:off x="3829050" y="2076450"/>
            <a:ext cx="3857624" cy="1114425"/>
            <a:chOff x="3829050" y="2076450"/>
            <a:chExt cx="3857624" cy="1114425"/>
          </a:xfrm>
        </p:grpSpPr>
        <p:cxnSp>
          <p:nvCxnSpPr>
            <p:cNvPr id="13" name="Connector 12"/>
            <p:cNvCxnSpPr/>
            <p:nvPr/>
          </p:nvCxnSpPr>
          <p:spPr>
            <a:xfrm>
              <a:off x="3829050" y="2609850"/>
              <a:ext cx="238125" cy="0"/>
            </a:xfrm>
            <a:prstGeom prst="line">
              <a:avLst/>
            </a:prstGeom>
            <a:ln w="2032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4190999" y="2076450"/>
              <a:ext cx="3495675" cy="11144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② 细化 DP：按组数重估"/>
            <p:cNvSpPr txBox="1"/>
            <p:nvPr/>
          </p:nvSpPr>
          <p:spPr>
            <a:xfrm>
              <a:off x="4343400" y="2209800"/>
              <a:ext cx="31908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② 细化 DP：按组数重估</a:t>
              </a:r>
            </a:p>
          </p:txBody>
        </p:sp>
        <p:sp>
          <p:nvSpPr>
            <p:cNvPr id="16" name="沿用候选，重估 SSD / 复制并发 重新选择分组和路径"/>
            <p:cNvSpPr txBox="1"/>
            <p:nvPr/>
          </p:nvSpPr>
          <p:spPr>
            <a:xfrm>
              <a:off x="4343400" y="2619375"/>
              <a:ext cx="3190875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沿用候选，重估 SSD / 复制并发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重新选择分组和路径</a:t>
              </a:r>
            </a:p>
          </p:txBody>
        </p:sp>
      </p:grpSp>
      <p:grpSp>
        <p:nvGrpSpPr>
          <p:cNvPr id="17" name="步骤3：按条件选择唯一的提交方案"/>
          <p:cNvGrpSpPr/>
          <p:nvPr/>
        </p:nvGrpSpPr>
        <p:grpSpPr>
          <a:xfrm>
            <a:off x="609600" y="2076450"/>
            <a:ext cx="10972800" cy="1524000"/>
            <a:chOff x="609600" y="2076450"/>
            <a:chExt cx="10972800" cy="1524000"/>
          </a:xfrm>
        </p:grpSpPr>
        <p:cxnSp>
          <p:nvCxnSpPr>
            <p:cNvPr id="18" name="Connector 17"/>
            <p:cNvCxnSpPr/>
            <p:nvPr/>
          </p:nvCxnSpPr>
          <p:spPr>
            <a:xfrm>
              <a:off x="7762875" y="2609850"/>
              <a:ext cx="238125" cy="0"/>
            </a:xfrm>
            <a:prstGeom prst="line">
              <a:avLst/>
            </a:prstGeom>
            <a:ln w="2032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8124824" y="2076450"/>
              <a:ext cx="3457575" cy="11144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③ 只提交一份最终方案"/>
            <p:cNvSpPr txBox="1"/>
            <p:nvPr/>
          </p:nvSpPr>
          <p:spPr>
            <a:xfrm>
              <a:off x="8277225" y="2209800"/>
              <a:ext cx="31527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③ 只提交一份最终方案</a:t>
              </a:r>
            </a:p>
          </p:txBody>
        </p:sp>
        <p:sp>
          <p:nvSpPr>
            <p:cNvPr id="21" name="有可用细化候选：选其最低估价 否则：保留基础方案"/>
            <p:cNvSpPr txBox="1"/>
            <p:nvPr/>
          </p:nvSpPr>
          <p:spPr>
            <a:xfrm>
              <a:off x="8277225" y="2619375"/>
              <a:ext cx="3152775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有可用细化候选：选其最低估价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否则：保留基础方案</a:t>
              </a:r>
            </a:p>
          </p:txBody>
        </p:sp>
        <p:sp>
          <p:nvSpPr>
            <p:cNvPr id="22" name="细化入口：系统空闲，规模与预算允许；候选回溯后，还须通过总槽位与池容量检查。"/>
            <p:cNvSpPr txBox="1"/>
            <p:nvPr/>
          </p:nvSpPr>
          <p:spPr>
            <a:xfrm>
              <a:off x="609600" y="3324225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细化入口：系统空闲，规模与预算允许；候选回溯后，还须通过总槽位与池容量检查。</a:t>
              </a:r>
            </a:p>
          </p:txBody>
        </p:sp>
      </p:grpSp>
      <p:grpSp>
        <p:nvGrpSpPr>
          <p:cNvPr id="23" name="步骤4：同一个联合更新规则与三片段示例"/>
          <p:cNvGrpSpPr/>
          <p:nvPr/>
        </p:nvGrpSpPr>
        <p:grpSpPr>
          <a:xfrm>
            <a:off x="609600" y="3838575"/>
            <a:ext cx="10972800" cy="1447800"/>
            <a:chOff x="609600" y="3838575"/>
            <a:chExt cx="10972800" cy="1447800"/>
          </a:xfrm>
        </p:grpSpPr>
        <p:sp>
          <p:nvSpPr>
            <p:cNvPr id="24" name="Rectangle 23"/>
            <p:cNvSpPr/>
            <p:nvPr/>
          </p:nvSpPr>
          <p:spPr>
            <a:xfrm>
              <a:off x="609600" y="3838575"/>
              <a:ext cx="5238750" cy="14478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核心更新：每次同时选择边界 i 与路径 path"/>
            <p:cNvSpPr txBox="1"/>
            <p:nvPr/>
          </p:nvSpPr>
          <p:spPr>
            <a:xfrm>
              <a:off x="781050" y="3962399"/>
              <a:ext cx="48958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核心更新：每次同时选择边界 i 与路径 path</a:t>
              </a:r>
            </a:p>
          </p:txBody>
        </p:sp>
        <p:sp>
          <p:nvSpPr>
            <p:cNvPr id="26" name="dp[j] = min { dp[i] + E(i, j, path) }"/>
            <p:cNvSpPr txBox="1"/>
            <p:nvPr/>
          </p:nvSpPr>
          <p:spPr>
            <a:xfrm>
              <a:off x="781050" y="4343400"/>
              <a:ext cx="4895850" cy="3238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dp[j] = min { dp[i] + E(i, j, path) }</a:t>
              </a:r>
            </a:p>
          </p:txBody>
        </p:sp>
        <p:sp>
          <p:nvSpPr>
            <p:cNvPr id="27" name="记录前驱与路径；细化时增加已分组数 h， 用 D[h][j] 约束最终组数。"/>
            <p:cNvSpPr txBox="1"/>
            <p:nvPr/>
          </p:nvSpPr>
          <p:spPr>
            <a:xfrm>
              <a:off x="781050" y="4781550"/>
              <a:ext cx="4895850" cy="4095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记录前驱与路径；细化时增加已分组数 h，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用 D[h][j] 约束最终组数。</a:t>
              </a:r>
            </a:p>
          </p:txBody>
        </p:sp>
        <p:sp>
          <p:nvSpPr>
            <p:cNvPr id="28" name="同卡相邻片段：512B + 512B + 512B"/>
            <p:cNvSpPr txBox="1"/>
            <p:nvPr/>
          </p:nvSpPr>
          <p:spPr>
            <a:xfrm>
              <a:off x="6191250" y="3848099"/>
              <a:ext cx="53911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同卡相邻片段：512B + 512B + 512B</a:t>
              </a:r>
            </a:p>
          </p:txBody>
        </p:sp>
        <p:sp>
          <p:nvSpPr>
            <p:cNvPr id="29" name="细化候选组数       1          2          3"/>
            <p:cNvSpPr txBox="1"/>
            <p:nvPr/>
          </p:nvSpPr>
          <p:spPr>
            <a:xfrm>
              <a:off x="6191250" y="4267200"/>
              <a:ext cx="53911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细化候选组数       1          2          3</a:t>
              </a:r>
            </a:p>
          </p:txBody>
        </p:sp>
        <p:sp>
          <p:nvSpPr>
            <p:cNvPr id="30" name="最低估价 E       5.406     7.406     9.406"/>
            <p:cNvSpPr txBox="1"/>
            <p:nvPr/>
          </p:nvSpPr>
          <p:spPr>
            <a:xfrm>
              <a:off x="6191250" y="4581525"/>
              <a:ext cx="53911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最低估价 E       5.406     7.406     9.406</a:t>
              </a:r>
            </a:p>
          </p:txBody>
        </p:sp>
        <p:sp>
          <p:nvSpPr>
            <p:cNvPr id="31" name="本例：快速、细化均选 1 组 DIRECT。"/>
            <p:cNvSpPr txBox="1"/>
            <p:nvPr/>
          </p:nvSpPr>
          <p:spPr>
            <a:xfrm>
              <a:off x="6191250" y="4981575"/>
              <a:ext cx="5391150" cy="247649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本例：快速、细化均选 1 组 DIRECT。</a:t>
              </a:r>
            </a:p>
          </p:txBody>
        </p:sp>
      </p:grpSp>
      <p:grpSp>
        <p:nvGrpSpPr>
          <p:cNvPr id="32" name="步骤5：回溯映射并输出真实计划"/>
          <p:cNvGrpSpPr/>
          <p:nvPr/>
        </p:nvGrpSpPr>
        <p:grpSpPr>
          <a:xfrm>
            <a:off x="609600" y="5505450"/>
            <a:ext cx="10972800" cy="504825"/>
            <a:chOff x="609600" y="5505450"/>
            <a:chExt cx="10972800" cy="504825"/>
          </a:xfrm>
        </p:grpSpPr>
        <p:sp>
          <p:nvSpPr>
            <p:cNvPr id="33" name="Rectangle 32"/>
            <p:cNvSpPr/>
            <p:nvPr/>
          </p:nvSpPr>
          <p:spPr>
            <a:xfrm>
              <a:off x="609600" y="5505450"/>
              <a:ext cx="10972800" cy="5048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最终：1 组 DIRECT 读 1536B；官方 J = 6，分别读取 J = 10，成本降低 40%。"/>
            <p:cNvSpPr txBox="1"/>
            <p:nvPr/>
          </p:nvSpPr>
          <p:spPr>
            <a:xfrm>
              <a:off x="781050" y="5619750"/>
              <a:ext cx="10629900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最终：1 组 DIRECT 读 1536B；官方 J = 6，分别读取 J = 10，成本降低 40%。</a:t>
              </a:r>
            </a:p>
          </p:txBody>
        </p:sp>
      </p:grpSp>
      <p:sp>
        <p:nvSpPr>
          <p:cNvPr id="35" name="E 是候选排序估价；全过程使用公开性能表，策略内部不执行模拟器。"/>
          <p:cNvSpPr txBox="1"/>
          <p:nvPr/>
        </p:nvSpPr>
        <p:spPr>
          <a:xfrm>
            <a:off x="609600" y="6076950"/>
            <a:ext cx="10972800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lang="zh-CN">
                <a:solidFill>
                  <a:srgbClr val="657184"/>
                </a:solidFill>
                <a:latin typeface="Microsoft YaHei"/>
                <a:ea typeface="Microsoft YaHei"/>
              </a:rPr>
              <a:t>E 是候选排序估价；全过程使用公开性能表，策略内部不执行模拟器。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筛掉不值得的提升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用复用证据与成本准入，筛掉不值得的提升</a:t>
            </a:r>
          </a:p>
        </p:txBody>
      </p:sp>
      <p:sp>
        <p:nvSpPr>
          <p:cNvPr id="4" name="读取完成后决定是否缓存；四道条件依次判断，让额外搬运与调用投入有据可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读取完成后决定是否缓存；四道条件依次判断，让额外搬运与调用投入有据可依。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读取已完成，PROMOTE 只服务未来复用；池满可替换，提升完成后才能命中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读取已完成，PROMOTE 只服务未来复用；池满可替换，提升完成后才能命中。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；细化追加组数维度 h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paths；细化追加组数维度 h</a:t>
            </a:r>
          </a:p>
        </p:txBody>
      </p:sp>
      <p:sp>
        <p:nvSpPr>
          <p:cNvPr id="24" name="共用分组与路径候选；回溯生成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共用分组与路径候选；回溯生成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有限窗口与搜索预算，控制在线调度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用有限窗口与搜索预算，控制在线调度开销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阶段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7241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7241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7241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670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快速区间 DP"/>
          <p:cNvSpPr txBox="1"/>
          <p:nvPr/>
        </p:nvSpPr>
        <p:spPr>
          <a:xfrm>
            <a:off x="742950" y="31813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快速区间 DP</a:t>
            </a:r>
          </a:p>
        </p:txBody>
      </p:sp>
      <p:sp>
        <p:nvSpPr>
          <p:cNvPr id="19" name="O(nW log(W+1))：含所有者集合维护"/>
          <p:cNvSpPr txBox="1"/>
          <p:nvPr/>
        </p:nvSpPr>
        <p:spPr>
          <a:xfrm>
            <a:off x="3009900" y="31813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log(W+1))：含所有者集合维护</a:t>
            </a:r>
          </a:p>
        </p:txBody>
      </p:sp>
      <p:sp>
        <p:nvSpPr>
          <p:cNvPr id="20" name="dp / prev / paths 为 O(n)"/>
          <p:cNvSpPr txBox="1"/>
          <p:nvPr/>
        </p:nvSpPr>
        <p:spPr>
          <a:xfrm>
            <a:off x="7343775" y="31813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5242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细化 DP（固定 cnt）"/>
          <p:cNvSpPr txBox="1"/>
          <p:nvPr/>
        </p:nvSpPr>
        <p:spPr>
          <a:xfrm>
            <a:off x="742950" y="36385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3" name="最坏 O(cnt × n × W)"/>
          <p:cNvSpPr txBox="1"/>
          <p:nvPr/>
        </p:nvSpPr>
        <p:spPr>
          <a:xfrm>
            <a:off x="3009900" y="36385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4" name="状态 O(cnt × n)，合法边 O(nW)"/>
          <p:cNvSpPr txBox="1"/>
          <p:nvPr/>
        </p:nvSpPr>
        <p:spPr>
          <a:xfrm>
            <a:off x="7343775" y="36385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814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映射与输出"/>
          <p:cNvSpPr txBox="1"/>
          <p:nvPr/>
        </p:nvSpPr>
        <p:spPr>
          <a:xfrm>
            <a:off x="742950" y="40957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27" name="约 O(n log Vmax + L)"/>
          <p:cNvSpPr txBox="1"/>
          <p:nvPr/>
        </p:nvSpPr>
        <p:spPr>
          <a:xfrm>
            <a:off x="3009900" y="40957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28" name="O(L)，L 为片段与目标 iov 的交集数"/>
          <p:cNvSpPr txBox="1"/>
          <p:nvPr/>
        </p:nvSpPr>
        <p:spPr>
          <a:xfrm>
            <a:off x="7343775" y="40957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4386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后台同步 / 扫描"/>
          <p:cNvSpPr txBox="1"/>
          <p:nvPr/>
        </p:nvSpPr>
        <p:spPr>
          <a:xfrm>
            <a:off x="742950" y="45529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1" name="O(R log(R+1)+A)，另有状态查表"/>
          <p:cNvSpPr txBox="1"/>
          <p:nvPr/>
        </p:nvSpPr>
        <p:spPr>
          <a:xfrm>
            <a:off x="3009900" y="45529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2" name="临时 O(R)，持久 O(H+U+R)"/>
          <p:cNvSpPr txBox="1"/>
          <p:nvPr/>
        </p:nvSpPr>
        <p:spPr>
          <a:xfrm>
            <a:off x="7343775" y="45529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958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细化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细化搜索：单次至多 131072 个存储状态；每批共享 200 万次边估价 / 转移预算。</a:t>
            </a:r>
          </a:p>
        </p:txBody>
      </p:sp>
      <p:sp>
        <p:nvSpPr>
          <p:cNvPr id="35" name="R / A = 在途提升 / 活动传输数；H / U = 历史记录 / 未完成请求数（历史含更新队列）。 预算不覆盖全部预检查、输入与输出开销；输入索引和未完成请求增长时，总内存仍会增长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预算不覆盖全部预检查、输入与输出开销；输入索引和未完成请求增长时，总内存仍会增长。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多投入 0.322s 策略计算，进程总耗时下降 14.4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多投入 0.322s 策略计算，进程总耗时下降 14.4%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增加 0.322s，约 +38.7%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增加 0.322s，约 +38.7%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堆峰值 12.34MiB，进程 RSS 下降 33.3%；策略计算增加，整体执行仍更省时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策略堆峰值 12.34MiB，进程 RSS 下降 33.3%；策略计算增加，整体执行仍更省时。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实例 high_mixed：双方命中均为 0，提升 3,566 → 0，省去 292,412 调用费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原因实例 high_mixed：双方命中均为 0，提升 3,566 → 0，省去 292,412 调用费。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