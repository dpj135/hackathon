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风花雪月战队。选题：24.NDS多路径IO分配、聚合与缓存提升算法。队员：刁鹏杰、胡海川、杜杰贵。介绍前台联合动态规划、后台缓存准入、代码实现及验证结果。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CPU/NPU成本是题目规定的调用费，不是本机CPU运行时间。Trace历时包含已经提交的尾部PROMOTE。目标卡由请求给定，策略不能自行改卡。命中也需要从KV池搬到目标HBM。所有J来自外部官方engine，策略不调用模拟器。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合并的两个直接作用是减少重复调用和共享物理读取；对并发、传输大小、资源占用也有影响，故不能只按调用费决定合并。路径替代是同一个候选边的另一个维度，并非另设一个优化模块。官方贪心按逐iov的固定分支选路、同键第二次未命中后尝试HBM提升；本方案改为联合DP和成本准入。池压力权重0.5是启发式，没有最优性保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程序的实际调用关系。load_trace/create_policy/Simulator::run/write_json_file在官方player入口；自定义策略在solution.cpp中实现两个回调。build_decision和solve_count是on_submit内的局部lambda。engine先查缓存，只将未命中交给on_submit；命中仍有完成回调，可通过缺少arrivals_登记辨认。在线策略不重放Trace；外部nds_validate用于完成后的合法性验证。源码定位：on_submit约319行、build_decision约376行、solve_count约511行、operation约261行、plan_work约220行、on_iocb_complete约647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4次点击，左侧代码与右侧数据成组同步出现。1输入：SSD区间[0,512)、[512,1024)、[1024,1536)，目标分别对齐，不必彼此连续。2从i=0枚举终点j及AllPaths，每条边先过合法性过滤；表格展示整组的3条合法路径。3更新dp、prev、paths；前缀dp[1]和dp[2]也来自此前合法边。i=1和i=2的最佳延伸都为7.406，不能改写dp[3]=5.406。4回溯输出。数值为实际主线快速区间DP观测值，保留3位小数；计数搜索在此例也保留一个DIRECT组。E=5.406不等于最终J=6。演示是预先核验的原生PPT动画，不在放映时执行C++。输入与输出使用材料中的相邻对齐小读示例；临时观察版只增加日志，已与原始预编译程序和官方validator核对决策、事件、指标一致。简写把源码j+1统一记成半开区间终点j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是排序后的片段数。公式中的E仍是工作量估价；左下两个J来自外部官方回放，不在策略内模拟。系统保守空闲要求无活动传输、排队IOCB、在途提升、占槽IOCB及旧未完成请求。入口还要求≤1024请求、≤2048iov、≤16384片段、初始操作≤2048，状态上限131072。n≤24时cnt全枚举，否则取公开q桶边界、几何序列、尺寸桶及最佳cnt邻域。D2D和H2D按卡区分，复制并发不是一律加cnt。全部NDS所有者按不同IOCB检查槽位，HBM/DDR缓冲分别检查总量。只是检查每个cnt最低估价的回溯结果，可能漏掉同cnt其他可行划分。复杂度表述按候选转移计，候选维护、索引和目标映射另有开销；不等于整程序内存或时间恒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道条件与末尾数值例子各一次点击。缓存键按卡号、SSD起点、完整长度。命中通过缺少arrivals_登记辨认；已准入且无新的真实miss也不重复提升。复用还有字节距离不能超过池容量的检查。频率0&lt;gap&lt;TTL；新鲜度age&lt;TTL且age≤max(1微秒,gap+2jitter)，1微秒下限与TTL严格小于关系均按代码保留。gain扣除命中H2D费用，并按本卡份额、是否能被到达空隙吸收调整时间项。提升投入包含80固定费、来源传输和调用费，选较便宜来源。教学例取R=30、D=10、H=12、C=12、a=1、时间权重w=0、c_t=1，所以gain=10；每次可记预算52，第二次104不够112.5、第三次156足够。已有及在途占用计入需替换字节。这是算式假设不是实测Trace。credit是投入节制，不等于预测未来必命中的次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ovIndex、Piece和DP是当前批规划结构。Work在on_submit最终选定后，按组内各请求的有效字节分摊读、复制工作与调用费，并带上本卡有效字节占比card_share；完成时消费。History跨请求维护。promotions_记录在途提升状态，pending_keys_用于查重。这里不是把候选试算都记账，只记录真实提交计划。缓存同键可以复制到这张卡的另一个目标地址。大输入的索引、Work、返回JSON等仍可能增长，计数搜索预算不代表总内存恒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Vmax为单个请求最多iov数，L为最终片段与目标iov的有效交集数。快速DP每个起点至多扩展W个片段，每组比较三条路径；维护std::set的所有者集合带log W因子，因此仅这一核心的保守界为O(nW log(W+1))。固定cnt时DP状态至多cnt*n，每状态看至多3W条边；若无采样和预算约束，全枚举cnt=1..n的核心转移上界可达O(n^3 W)。实现使用采样，单次状态上限131072、合法边上限262144，估价和转移每批共享2000000预算。状态/边预检查以及回溯后的所有者和缓冲检查另计。复制估价按卡维护映射，也有集合访问成本。后台若有R个在途提升和A个活动传输，同步约O(R log(R+1))，还扫描A项、查history和未完成请求map；不逐次扫描全部缓存。history_queue最多131072条更新记录，未完成Work及输入输出不受这一常数限制。这里按模块分析，没有把整个策略概括为O(nW)。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专门回答调度算法开销，不把优化后的模拟J当成本机加速。所有数字来自主线验证报告和资源开销CSV。回调覆盖两个策略函数，正式策略本身没有计时器，测试使用外层计时器。逐例三轮取中位数后求和得到1.153s与0.831s；进程总时间同时包含框架执行、数据结构和JSON输入输出，故回调更慢而总程序更快并不矛盾。峰值取所有公开例正式轮的最大值，策略堆与RSS是不同范围。预热、编译和独立validator另计；共享主机噪声与硬件会影响实测值。不从总程序时间独立推断某一算法模块加速。扩展655条策略堆峰值13.06MiB；极端碎片探针1.58GiB，和公开集口径分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张柱形图各自使用同一零点和比例，不能横向比较不同量纲的柱长。39条全Trace合计，前台指schedule_decisions内全部operation，排除promotion_decisions及框架自动命中H2D。两方案收到的未命中请求集合不同，这是完整方案比较，不是相同miss集合的模块消融。前台物理读分别41400624128B和35332572160B；GiB为2^30B。调用费按engine逐操作公式重算，和提升费、命中费相加严格等于官方CPU+NPU总费。DIRECT/AGGREGATE/FALLBACK操作分别105767/65366/6047→69417/12045/306。物理读合并与缓存有交互，不把14.66%单独归因给DP。总J为3581641→2273874，下降36.51%；自动分采用官方权重，所以总J百分比与评分不是一个口径。最小read_direct_high例中物理读均10MiB、CPU费40960→320、J64212→1483，可直接解释调用减少。39条启用策略的输出哈希与既有报告完全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真实请求命中率=cache_hits/198542个请求，不使用engine的promote_hit_rate：该字段实际是promote_success/promote_count，只代表成功入池率。命中字节从未进入schedule_decisions的请求长度求和，和官方cache_hits计数交叉核验；它是缓存服务的逻辑字节，不能直接当成节省的物理SSD字节。提升搬运字节3.615GiB→0.305GiB，调用费722994→24676；命中复制仍付费81662→16806。缓存净收益对双方各自前台策略做关闭PROMOTE对照；保留其他参数及前台代码，计入缓存改变资源竞争、命中和后续选路的联动，是完整Trace净效应而非单次命中的价格。baseline关闭/启用总J3686550/3581641，净贡献104909；本方案2344079/2273874，净贡献70205。启用缓存相对关闭缓存：双方均6例正收益；贪心17例负收益，本方案2例负收益，其余持平。不能据绝对贡献较小声称缓存模块独立胜过贪心：更便宜的前台减少了可被缓存替代的成本。总J节省1307767可按官方计费恒等式拆为前台调用费408197、提升调用费698318、命中调用费64856、模拟时间费136396，费用拆分不是独立因果消融。39×双方×开关=156次运行均通过官方validator；单次测确定性成本，不产生新的墙钟速度结论。所有原启用版本输出哈希与已有三轮记录一致。扩展退化和极端碎片1.58GiB边界仍见验证报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62000" y="1000125"/>
            <a:ext cx="628650" cy="47625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风花雪月战队"/>
          <p:cNvSpPr txBox="1"/>
          <p:nvPr/>
        </p:nvSpPr>
        <p:spPr>
          <a:xfrm>
            <a:off x="762000" y="1333500"/>
            <a:ext cx="10477500" cy="4572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50" b="1" lang="zh-CN">
                <a:solidFill>
                  <a:srgbClr val="285EA8"/>
                </a:solidFill>
                <a:latin typeface="Microsoft YaHei"/>
                <a:ea typeface="Microsoft YaHei"/>
              </a:rPr>
              <a:t>风花雪月战队</a:t>
            </a:r>
          </a:p>
        </p:txBody>
      </p:sp>
      <p:sp>
        <p:nvSpPr>
          <p:cNvPr id="4" name="24.NDS多路径IO分配、 聚合与缓存提升算法"/>
          <p:cNvSpPr txBox="1"/>
          <p:nvPr/>
        </p:nvSpPr>
        <p:spPr>
          <a:xfrm>
            <a:off x="762000" y="2505075"/>
            <a:ext cx="10572750" cy="15716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900" b="1" lang="zh-CN">
                <a:solidFill>
                  <a:srgbClr val="1F2937"/>
                </a:solidFill>
                <a:latin typeface="Microsoft YaHei"/>
                <a:ea typeface="Microsoft YaHei"/>
              </a:rPr>
              <a:t>24.NDS多路径IO分配、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900" b="1" lang="zh-CN">
                <a:solidFill>
                  <a:srgbClr val="1F2937"/>
                </a:solidFill>
                <a:latin typeface="Microsoft YaHei"/>
                <a:ea typeface="Microsoft YaHei"/>
              </a:rPr>
              <a:t>聚合与缓存提升算法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62000" y="4581525"/>
            <a:ext cx="106680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队员：刁鹏杰   胡海川   杜杰贵"/>
          <p:cNvSpPr txBox="1"/>
          <p:nvPr/>
        </p:nvSpPr>
        <p:spPr>
          <a:xfrm>
            <a:off x="762000" y="5076825"/>
            <a:ext cx="10477500" cy="4286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250" b="0" lang="zh-CN">
                <a:solidFill>
                  <a:srgbClr val="1F2937"/>
                </a:solidFill>
                <a:latin typeface="Microsoft YaHei"/>
                <a:ea typeface="Microsoft YaHei"/>
              </a:rPr>
              <a:t>队员：刁鹏杰   胡海川   杜杰贵</a:t>
            </a:r>
          </a:p>
        </p:txBody>
      </p:sp>
      <p:sp>
        <p:nvSpPr>
          <p:cNvPr id="7" name="调度策略 · 核心实现 · 性能验证"/>
          <p:cNvSpPr txBox="1"/>
          <p:nvPr/>
        </p:nvSpPr>
        <p:spPr>
          <a:xfrm>
            <a:off x="762000" y="5810250"/>
            <a:ext cx="104775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调度策略 · 核心实现 · 性能验证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目标与调度边界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目标与调度边界</a:t>
            </a:r>
          </a:p>
        </p:txBody>
      </p:sp>
      <p:sp>
        <p:nvSpPr>
          <p:cNvPr id="3" name="一次完整 Trace：正确搬完数据，并降低总成本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一次完整 Trace：正确搬完数据，并降低总成本</a:t>
            </a:r>
          </a:p>
        </p:txBody>
      </p:sp>
      <p:sp>
        <p:nvSpPr>
          <p:cNvPr id="4" name="Trace 是按时刻到达的一串读取批次；算法在线处理，只使用已见请求和当前状态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Trace 是按时刻到达的一串读取批次；算法在线处理，只使用已见请求和当前状态。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1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52650"/>
            <a:ext cx="10972800" cy="91440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J = 每微秒成本 × Trace 历时 + CPU 调用费 + NPU 调用费"/>
          <p:cNvSpPr txBox="1"/>
          <p:nvPr/>
        </p:nvSpPr>
        <p:spPr>
          <a:xfrm>
            <a:off x="838200" y="2352675"/>
            <a:ext cx="10477500" cy="4381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250" b="1" lang="zh-CN">
                <a:solidFill>
                  <a:srgbClr val="285EA8"/>
                </a:solidFill>
                <a:latin typeface="Microsoft YaHei"/>
                <a:ea typeface="Microsoft YaHei"/>
              </a:rPr>
              <a:t>J = 每微秒成本 × Trace 历时 + CPU 调用费 + NPU 调用费</a:t>
            </a:r>
          </a:p>
        </p:txBody>
      </p:sp>
      <p:sp>
        <p:nvSpPr>
          <p:cNvPr id="10" name="三条前台路径，写入请求指定的目标 HBM"/>
          <p:cNvSpPr txBox="1"/>
          <p:nvPr/>
        </p:nvSpPr>
        <p:spPr>
          <a:xfrm>
            <a:off x="609600" y="3371850"/>
            <a:ext cx="7524749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1F2937"/>
                </a:solidFill>
                <a:latin typeface="Microsoft YaHei"/>
                <a:ea typeface="Microsoft YaHei"/>
              </a:rPr>
              <a:t>三条前台路径，写入请求指定的目标 HBM</a:t>
            </a:r>
          </a:p>
        </p:txBody>
      </p:sp>
      <p:sp>
        <p:nvSpPr>
          <p:cNvPr id="11" name="DIRECT"/>
          <p:cNvSpPr txBox="1"/>
          <p:nvPr/>
        </p:nvSpPr>
        <p:spPr>
          <a:xfrm>
            <a:off x="609600" y="3971925"/>
            <a:ext cx="1762125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DIRECT</a:t>
            </a:r>
          </a:p>
        </p:txBody>
      </p:sp>
      <p:sp>
        <p:nvSpPr>
          <p:cNvPr id="12" name="SSD  →  目标 HBM"/>
          <p:cNvSpPr txBox="1"/>
          <p:nvPr/>
        </p:nvSpPr>
        <p:spPr>
          <a:xfrm>
            <a:off x="2409825" y="3971925"/>
            <a:ext cx="581025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0" lang="zh-CN">
                <a:solidFill>
                  <a:srgbClr val="1F2937"/>
                </a:solidFill>
                <a:latin typeface="Microsoft YaHei"/>
                <a:ea typeface="Microsoft YaHei"/>
              </a:rPr>
              <a:t>SSD  →  目标 HBM</a:t>
            </a:r>
          </a:p>
        </p:txBody>
      </p:sp>
      <p:sp>
        <p:nvSpPr>
          <p:cNvPr id="13" name="AGGREGATE"/>
          <p:cNvSpPr txBox="1"/>
          <p:nvPr/>
        </p:nvSpPr>
        <p:spPr>
          <a:xfrm>
            <a:off x="609600" y="4562475"/>
            <a:ext cx="1762125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AGGREGATE</a:t>
            </a:r>
          </a:p>
        </p:txBody>
      </p:sp>
      <p:sp>
        <p:nvSpPr>
          <p:cNvPr id="14" name="SSD  →  临时 HBM  →  目标 HBM"/>
          <p:cNvSpPr txBox="1"/>
          <p:nvPr/>
        </p:nvSpPr>
        <p:spPr>
          <a:xfrm>
            <a:off x="2409825" y="4562475"/>
            <a:ext cx="581025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0" lang="zh-CN">
                <a:solidFill>
                  <a:srgbClr val="1F2937"/>
                </a:solidFill>
                <a:latin typeface="Microsoft YaHei"/>
                <a:ea typeface="Microsoft YaHei"/>
              </a:rPr>
              <a:t>SSD  →  临时 HBM  →  目标 HBM</a:t>
            </a:r>
          </a:p>
        </p:txBody>
      </p:sp>
      <p:sp>
        <p:nvSpPr>
          <p:cNvPr id="15" name="FALLBACK"/>
          <p:cNvSpPr txBox="1"/>
          <p:nvPr/>
        </p:nvSpPr>
        <p:spPr>
          <a:xfrm>
            <a:off x="609600" y="5153025"/>
            <a:ext cx="1762125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FALLBACK</a:t>
            </a:r>
          </a:p>
        </p:txBody>
      </p:sp>
      <p:sp>
        <p:nvSpPr>
          <p:cNvPr id="16" name="SSD  →  DDR  →  目标 HBM"/>
          <p:cNvSpPr txBox="1"/>
          <p:nvPr/>
        </p:nvSpPr>
        <p:spPr>
          <a:xfrm>
            <a:off x="2409825" y="5153025"/>
            <a:ext cx="581025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0" lang="zh-CN">
                <a:solidFill>
                  <a:srgbClr val="1F2937"/>
                </a:solidFill>
                <a:latin typeface="Microsoft YaHei"/>
                <a:ea typeface="Microsoft YaHei"/>
              </a:rPr>
              <a:t>SSD  →  DDR  →  目标 HBM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29650" y="3429000"/>
            <a:ext cx="0" cy="2352675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策略决定"/>
          <p:cNvSpPr txBox="1"/>
          <p:nvPr/>
        </p:nvSpPr>
        <p:spPr>
          <a:xfrm>
            <a:off x="8991600" y="3495675"/>
            <a:ext cx="2590800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1F2937"/>
                </a:solidFill>
                <a:latin typeface="Microsoft YaHei"/>
                <a:ea typeface="Microsoft YaHei"/>
              </a:rPr>
              <a:t>策略决定</a:t>
            </a:r>
          </a:p>
        </p:txBody>
      </p:sp>
      <p:sp>
        <p:nvSpPr>
          <p:cNvPr id="19" name="分组、路径、传输依赖 缓存准入与提升来源"/>
          <p:cNvSpPr txBox="1"/>
          <p:nvPr/>
        </p:nvSpPr>
        <p:spPr>
          <a:xfrm>
            <a:off x="8991600" y="3924300"/>
            <a:ext cx="2590800" cy="6286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分组、路径、传输依赖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缓存准入与提升来源</a:t>
            </a:r>
          </a:p>
        </p:txBody>
      </p:sp>
      <p:sp>
        <p:nvSpPr>
          <p:cNvPr id="20" name="框架执行"/>
          <p:cNvSpPr txBox="1"/>
          <p:nvPr/>
        </p:nvSpPr>
        <p:spPr>
          <a:xfrm>
            <a:off x="8991600" y="4876800"/>
            <a:ext cx="2590800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1F2937"/>
                </a:solidFill>
                <a:latin typeface="Microsoft YaHei"/>
                <a:ea typeface="Microsoft YaHei"/>
              </a:rPr>
              <a:t>框架执行</a:t>
            </a:r>
          </a:p>
        </p:txBody>
      </p:sp>
      <p:sp>
        <p:nvSpPr>
          <p:cNvPr id="21" name="缓存查找、排队与搬运 带宽共享、回放与计费"/>
          <p:cNvSpPr txBox="1"/>
          <p:nvPr/>
        </p:nvSpPr>
        <p:spPr>
          <a:xfrm>
            <a:off x="8991600" y="5305425"/>
            <a:ext cx="2590800" cy="6286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缓存查找、排队与搬运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带宽共享、回放与计费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关键观察与设计依据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关键观察与设计依据</a:t>
            </a:r>
          </a:p>
        </p:txBody>
      </p:sp>
      <p:sp>
        <p:nvSpPr>
          <p:cNvPr id="3" name="分组边界与路径互相影响，必须放进同一个 DP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分组边界与路径互相影响，必须放进同一个 DP</a:t>
            </a:r>
          </a:p>
        </p:txBody>
      </p:sp>
      <p:sp>
        <p:nvSpPr>
          <p:cNvPr id="4" name="前台选“哪些片段一起搬、走哪条路”；后台另行判断“是否为后续复用建立缓存”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前台选“哪些片段一起搬、走哪条路”；后台另行判断“是否为后续复用建立缓存”。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2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52650"/>
            <a:ext cx="7086600" cy="263842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152650"/>
            <a:ext cx="38100" cy="2638425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前台观察 → 联合枚举（分组，路径）"/>
          <p:cNvSpPr txBox="1"/>
          <p:nvPr/>
        </p:nvSpPr>
        <p:spPr>
          <a:xfrm>
            <a:off x="819150" y="2324100"/>
            <a:ext cx="666750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100" b="1" lang="zh-CN">
                <a:solidFill>
                  <a:srgbClr val="285EA8"/>
                </a:solidFill>
                <a:latin typeface="Microsoft YaHei"/>
                <a:ea typeface="Microsoft YaHei"/>
              </a:rPr>
              <a:t>前台观察 → 联合枚举（分组，路径）</a:t>
            </a:r>
          </a:p>
        </p:txBody>
      </p:sp>
      <p:sp>
        <p:nvSpPr>
          <p:cNvPr id="11" name="合并减少操作固定费，也可能减少重叠的物理读取； 但组数变少、块变大，会改变并发、带宽和池占用。"/>
          <p:cNvSpPr txBox="1"/>
          <p:nvPr/>
        </p:nvSpPr>
        <p:spPr>
          <a:xfrm>
            <a:off x="819150" y="2847975"/>
            <a:ext cx="6667500" cy="685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0" lang="zh-CN">
                <a:solidFill>
                  <a:srgbClr val="1F2937"/>
                </a:solidFill>
                <a:latin typeface="Microsoft YaHei"/>
                <a:ea typeface="Microsoft YaHei"/>
              </a:rPr>
              <a:t>合并减少操作固定费，也可能减少重叠的物理读取；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0" lang="zh-CN">
                <a:solidFill>
                  <a:srgbClr val="1F2937"/>
                </a:solidFill>
                <a:latin typeface="Microsoft YaHei"/>
                <a:ea typeface="Microsoft YaHei"/>
              </a:rPr>
              <a:t>但组数变少、块变大，会改变并发、带宽和池占用。</a:t>
            </a:r>
          </a:p>
        </p:txBody>
      </p:sp>
      <p:sp>
        <p:nvSpPr>
          <p:cNvPr id="12" name="同一组可走不同路径，调用费和复制资源随之改变。 因此每个合法分组都比较 DIRECT / AGGREGATE / FALLBACK， 由 DP 一起决定边界和路径。"/>
          <p:cNvSpPr txBox="1"/>
          <p:nvPr/>
        </p:nvSpPr>
        <p:spPr>
          <a:xfrm>
            <a:off x="819150" y="3695700"/>
            <a:ext cx="6667500" cy="7905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同一组可走不同路径，调用费和复制资源随之改变。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因此每个合法分组都比较 DIRECT / AGGREGATE / FALLBACK，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由 DP 一起决定边界和路径。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4799" y="2152650"/>
            <a:ext cx="3657600" cy="2638425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24799" y="2152650"/>
            <a:ext cx="38100" cy="2638425"/>
          </a:xfrm>
          <a:prstGeom prst="rect">
            <a:avLst/>
          </a:prstGeom>
          <a:solidFill>
            <a:srgbClr val="247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后台观察 → 有条件地缓存"/>
          <p:cNvSpPr txBox="1"/>
          <p:nvPr/>
        </p:nvSpPr>
        <p:spPr>
          <a:xfrm>
            <a:off x="8134350" y="2324100"/>
            <a:ext cx="323850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4756D"/>
                </a:solidFill>
                <a:latin typeface="Microsoft YaHei"/>
                <a:ea typeface="Microsoft YaHei"/>
              </a:rPr>
              <a:t>后台观察 → 有条件地缓存</a:t>
            </a:r>
          </a:p>
        </p:txBody>
      </p:sp>
      <p:sp>
        <p:nvSpPr>
          <p:cNvPr id="16" name="PROMOTE 先付搬运和调用费， 未来命中仍需 KV → HBM。  只有复用证据有效、预计净收益 为正且历史预算够，才投入。"/>
          <p:cNvSpPr txBox="1"/>
          <p:nvPr/>
        </p:nvSpPr>
        <p:spPr>
          <a:xfrm>
            <a:off x="8134350" y="2857500"/>
            <a:ext cx="3238500" cy="15811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PROMOTE 先付搬运和调用费，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未来命中仍需 KV → HBM。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只有复用证据有效、预计净收益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为正且历史预算够，才投入。</a:t>
            </a:r>
          </a:p>
        </p:txBody>
      </p:sp>
      <p:sp>
        <p:nvSpPr>
          <p:cNvPr id="17" name="一组的估价 E = 时间单价 ×（读工作 + 复制工作）× 池压力系数 + 调用费"/>
          <p:cNvSpPr txBox="1"/>
          <p:nvPr/>
        </p:nvSpPr>
        <p:spPr>
          <a:xfrm>
            <a:off x="609600" y="5010150"/>
            <a:ext cx="109728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一组的估价 E = 时间单价 ×（读工作 + 复制工作）× 池压力系数 + 调用费</a:t>
            </a:r>
          </a:p>
        </p:txBody>
      </p:sp>
      <p:sp>
        <p:nvSpPr>
          <p:cNvPr id="18" name="读按物理字节、复制按有效字节；工作量由公开性能表估计。DIRECT 系数为 1， 中转为 1 + 0.5 × 对应池已用比例；这是局部估价，不是官方最终 J。"/>
          <p:cNvSpPr txBox="1"/>
          <p:nvPr/>
        </p:nvSpPr>
        <p:spPr>
          <a:xfrm>
            <a:off x="609600" y="5448300"/>
            <a:ext cx="10972800" cy="523874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657184"/>
                </a:solidFill>
                <a:latin typeface="Microsoft YaHei"/>
                <a:ea typeface="Microsoft YaHei"/>
              </a:rPr>
              <a:t>读按物理字节、复制按有效字节；工作量由公开性能表估计。DIRECT 系数为 1，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657184"/>
                </a:solidFill>
                <a:latin typeface="Microsoft YaHei"/>
                <a:ea typeface="Microsoft YaHei"/>
              </a:rPr>
              <a:t>中转为 1 + 0.5 × 对应池已用比例；这是局部估价，不是官方最终 J。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代码总流程 · solution.cpp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代码总流程 · solution.cpp</a:t>
            </a:r>
          </a:p>
        </p:txBody>
      </p:sp>
      <p:sp>
        <p:nvSpPr>
          <p:cNvPr id="3" name="从两个回调进入：前台生成计划，后台决定 PROMOTE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从两个回调进入：前台生成计划，后台决定 PROMOTE</a:t>
            </a:r>
          </a:p>
        </p:txBody>
      </p:sp>
      <p:sp>
        <p:nvSpPr>
          <p:cNvPr id="4" name="官方 player 加载输入并创建 AdaptivePolicy；engine 负责触发回调和执行返回的指令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 player 加载输入并创建 AdaptivePolicy；engine 负责触发回调和执行返回的指令。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3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05025"/>
            <a:ext cx="10972800" cy="45720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load_trace()  →  create_policy()  →  官方 Simulator::run()  →  write_json_file()"/>
          <p:cNvSpPr txBox="1"/>
          <p:nvPr/>
        </p:nvSpPr>
        <p:spPr>
          <a:xfrm>
            <a:off x="790575" y="2209800"/>
            <a:ext cx="10620375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load_trace()  →  create_policy()  →  官方 Simulator::run()  →  write_json_file()</a:t>
            </a:r>
          </a:p>
        </p:txBody>
      </p:sp>
      <p:sp>
        <p:nvSpPr>
          <p:cNvPr id="10" name="前台 on_submit()"/>
          <p:cNvSpPr txBox="1"/>
          <p:nvPr/>
        </p:nvSpPr>
        <p:spPr>
          <a:xfrm>
            <a:off x="609600" y="2771775"/>
            <a:ext cx="533400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85EA8"/>
                </a:solidFill>
                <a:latin typeface="Microsoft YaHei"/>
                <a:ea typeface="Microsoft YaHei"/>
              </a:rPr>
              <a:t>前台 on_submit()</a:t>
            </a:r>
          </a:p>
        </p:txBody>
      </p:sp>
      <p:sp>
        <p:nvSpPr>
          <p:cNvPr id="11" name="后台 on_iocb_complete()"/>
          <p:cNvSpPr txBox="1"/>
          <p:nvPr/>
        </p:nvSpPr>
        <p:spPr>
          <a:xfrm>
            <a:off x="6343650" y="2771775"/>
            <a:ext cx="52387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4756D"/>
                </a:solidFill>
                <a:latin typeface="Microsoft YaHei"/>
                <a:ea typeface="Microsoft YaHei"/>
              </a:rPr>
              <a:t>后台 on_iocb_complete()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219450"/>
            <a:ext cx="5238750" cy="61912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登记与映射"/>
          <p:cNvSpPr txBox="1"/>
          <p:nvPr/>
        </p:nvSpPr>
        <p:spPr>
          <a:xfrm>
            <a:off x="762000" y="3286125"/>
            <a:ext cx="49339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登记与映射</a:t>
            </a:r>
          </a:p>
        </p:txBody>
      </p:sp>
      <p:sp>
        <p:nvSpPr>
          <p:cNvPr id="14" name="arrivals_ / History / IovIndex"/>
          <p:cNvSpPr txBox="1"/>
          <p:nvPr/>
        </p:nvSpPr>
        <p:spPr>
          <a:xfrm>
            <a:off x="762000" y="3581400"/>
            <a:ext cx="4933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arrivals_ / History / IovIndex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43650" y="3219450"/>
            <a:ext cx="5238750" cy="619125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识别命中、去重"/>
          <p:cNvSpPr txBox="1"/>
          <p:nvPr/>
        </p:nvSpPr>
        <p:spPr>
          <a:xfrm>
            <a:off x="6496050" y="3286125"/>
            <a:ext cx="49339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4756D"/>
                </a:solidFill>
                <a:latin typeface="Microsoft YaHei"/>
                <a:ea typeface="Microsoft YaHei"/>
              </a:rPr>
              <a:t>识别命中、去重</a:t>
            </a:r>
          </a:p>
        </p:txBody>
      </p:sp>
      <p:sp>
        <p:nvSpPr>
          <p:cNvPr id="17" name="查 arrivals_；sync_promotions() 更新在途状态"/>
          <p:cNvSpPr txBox="1"/>
          <p:nvPr/>
        </p:nvSpPr>
        <p:spPr>
          <a:xfrm>
            <a:off x="6496050" y="3581400"/>
            <a:ext cx="4933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查 arrivals_；sync_promotions() 更新在途状态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190875" y="3838575"/>
            <a:ext cx="0" cy="114300"/>
          </a:xfrm>
          <a:prstGeom prst="line">
            <a:avLst/>
          </a:prstGeom>
          <a:ln w="17780">
            <a:solidFill>
              <a:srgbClr val="285EA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953500" y="3838575"/>
            <a:ext cx="0" cy="114300"/>
          </a:xfrm>
          <a:prstGeom prst="line">
            <a:avLst/>
          </a:prstGeom>
          <a:ln w="17780">
            <a:solidFill>
              <a:srgbClr val="24756D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09600" y="3981450"/>
            <a:ext cx="5238750" cy="61912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分块与联合 DP"/>
          <p:cNvSpPr txBox="1"/>
          <p:nvPr/>
        </p:nvSpPr>
        <p:spPr>
          <a:xfrm>
            <a:off x="762000" y="4048124"/>
            <a:ext cx="49339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分块与联合 DP</a:t>
            </a:r>
          </a:p>
        </p:txBody>
      </p:sp>
      <p:sp>
        <p:nvSpPr>
          <p:cNvPr id="22" name="build_decision() → estimate() / solve_count()"/>
          <p:cNvSpPr txBox="1"/>
          <p:nvPr/>
        </p:nvSpPr>
        <p:spPr>
          <a:xfrm>
            <a:off x="762000" y="4343400"/>
            <a:ext cx="4933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build_decision() → estimate() / solve_count()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43650" y="3981450"/>
            <a:ext cx="5238750" cy="619125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检查是否值得缓存"/>
          <p:cNvSpPr txBox="1"/>
          <p:nvPr/>
        </p:nvSpPr>
        <p:spPr>
          <a:xfrm>
            <a:off x="6496050" y="4048124"/>
            <a:ext cx="49339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4756D"/>
                </a:solidFill>
                <a:latin typeface="Microsoft YaHei"/>
                <a:ea typeface="Microsoft YaHei"/>
              </a:rPr>
              <a:t>检查是否值得缓存</a:t>
            </a:r>
          </a:p>
        </p:txBody>
      </p:sp>
      <p:sp>
        <p:nvSpPr>
          <p:cNvPr id="25" name="History 的复用证据 + Work 的可替代成本"/>
          <p:cNvSpPr txBox="1"/>
          <p:nvPr/>
        </p:nvSpPr>
        <p:spPr>
          <a:xfrm>
            <a:off x="6496050" y="4343400"/>
            <a:ext cx="4933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History 的复用证据 + Work 的可替代成本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190875" y="4600575"/>
            <a:ext cx="0" cy="114300"/>
          </a:xfrm>
          <a:prstGeom prst="line">
            <a:avLst/>
          </a:prstGeom>
          <a:ln w="17780">
            <a:solidFill>
              <a:srgbClr val="285EA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953500" y="4600575"/>
            <a:ext cx="0" cy="114300"/>
          </a:xfrm>
          <a:prstGeom prst="line">
            <a:avLst/>
          </a:prstGeom>
          <a:ln w="17780">
            <a:solidFill>
              <a:srgbClr val="24756D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09600" y="4743450"/>
            <a:ext cx="5238750" cy="61912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生成操作、记录工作"/>
          <p:cNvSpPr txBox="1"/>
          <p:nvPr/>
        </p:nvSpPr>
        <p:spPr>
          <a:xfrm>
            <a:off x="762000" y="4810125"/>
            <a:ext cx="49339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生成操作、记录工作</a:t>
            </a:r>
          </a:p>
        </p:txBody>
      </p:sp>
      <p:sp>
        <p:nvSpPr>
          <p:cNvPr id="30" name="operation() → plan_work() → Work"/>
          <p:cNvSpPr txBox="1"/>
          <p:nvPr/>
        </p:nvSpPr>
        <p:spPr>
          <a:xfrm>
            <a:off x="762000" y="5105400"/>
            <a:ext cx="4933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operation() → plan_work() → Work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43650" y="4743450"/>
            <a:ext cx="5238750" cy="619125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选择来源、检查准入"/>
          <p:cNvSpPr txBox="1"/>
          <p:nvPr/>
        </p:nvSpPr>
        <p:spPr>
          <a:xfrm>
            <a:off x="6496050" y="4810125"/>
            <a:ext cx="49339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4756D"/>
                </a:solidFill>
                <a:latin typeface="Microsoft YaHei"/>
                <a:ea typeface="Microsoft YaHei"/>
              </a:rPr>
              <a:t>选择来源、检查准入</a:t>
            </a:r>
          </a:p>
        </p:txBody>
      </p:sp>
      <p:sp>
        <p:nvSpPr>
          <p:cNvPr id="33" name="比较 HBM / SSD；gain &gt; 0 且 credit ≥ 门槛"/>
          <p:cNvSpPr txBox="1"/>
          <p:nvPr/>
        </p:nvSpPr>
        <p:spPr>
          <a:xfrm>
            <a:off x="6496050" y="5105400"/>
            <a:ext cx="4933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比较 HBM / SSD；gain &gt; 0 且 credit ≥ 门槛</a:t>
            </a:r>
          </a:p>
        </p:txBody>
      </p:sp>
      <p:sp>
        <p:nvSpPr>
          <p:cNvPr id="34" name="返回 SCHEDULE_DECISION，交给 engine 执行"/>
          <p:cNvSpPr txBox="1"/>
          <p:nvPr/>
        </p:nvSpPr>
        <p:spPr>
          <a:xfrm>
            <a:off x="762000" y="5600700"/>
            <a:ext cx="493395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返回 SCHEDULE_DECISION，交给 engine 执行</a:t>
            </a:r>
          </a:p>
        </p:txBody>
      </p:sp>
      <p:sp>
        <p:nvSpPr>
          <p:cNvPr id="35" name="返回 PROMOTE 或 nullopt（不提升）"/>
          <p:cNvSpPr txBox="1"/>
          <p:nvPr/>
        </p:nvSpPr>
        <p:spPr>
          <a:xfrm>
            <a:off x="6496050" y="5600700"/>
            <a:ext cx="493395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4756D"/>
                </a:solidFill>
                <a:latin typeface="Microsoft YaHei"/>
                <a:ea typeface="Microsoft YaHei"/>
              </a:rPr>
              <a:t>返回 PROMOTE 或 nullopt（不提升）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代码可视化演示 · 联合 DP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代码可视化演示 · 联合 DP</a:t>
            </a:r>
          </a:p>
        </p:txBody>
      </p:sp>
      <p:sp>
        <p:nvSpPr>
          <p:cNvPr id="3" name="同一次转移，同时比较分组边界和路径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同一次转移，同时比较分组边界和路径</a:t>
            </a:r>
          </a:p>
        </p:txBody>
      </p:sp>
      <p:sp>
        <p:nvSpPr>
          <p:cNvPr id="4" name="三个相邻 512B 请求、同卡且源与目标都对齐；按点击依次展开代码、估价和输出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三个相邻 512B 请求、同卡且源与目标都对齐；按点击依次展开代码、估价和输出。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4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4</a:t>
            </a:r>
          </a:p>
        </p:txBody>
      </p:sp>
      <p:grpSp>
        <p:nvGrpSpPr>
          <p:cNvPr id="8" name="演示1：输入片段与初始状态"/>
          <p:cNvGrpSpPr/>
          <p:nvPr/>
        </p:nvGrpSpPr>
        <p:grpSpPr>
          <a:xfrm>
            <a:off x="609600" y="2047875"/>
            <a:ext cx="10972799" cy="419100"/>
            <a:chOff x="609600" y="2047875"/>
            <a:chExt cx="10972799" cy="419100"/>
          </a:xfrm>
        </p:grpSpPr>
        <p:sp>
          <p:nvSpPr>
            <p:cNvPr id="9" name="排序后的 Piece"/>
            <p:cNvSpPr txBox="1"/>
            <p:nvPr/>
          </p:nvSpPr>
          <p:spPr>
            <a:xfrm>
              <a:off x="609600" y="2114550"/>
              <a:ext cx="1762125" cy="29527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725" b="1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排序后的 Piece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438400" y="2047875"/>
              <a:ext cx="1571625" cy="419100"/>
            </a:xfrm>
            <a:prstGeom prst="rect">
              <a:avLst/>
            </a:prstGeom>
            <a:solidFill>
              <a:srgbClr val="EDF3FA"/>
            </a:solidFill>
            <a:ln w="8890">
              <a:solidFill>
                <a:srgbClr val="DCE2E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P0 · 512B"/>
            <p:cNvSpPr txBox="1"/>
            <p:nvPr/>
          </p:nvSpPr>
          <p:spPr>
            <a:xfrm>
              <a:off x="2514600" y="2133600"/>
              <a:ext cx="1419225" cy="2762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ctr">
                <a:lnSpc>
                  <a:spcPct val="112000"/>
                </a:lnSpc>
                <a:spcAft>
                  <a:spcPts val="500"/>
                </a:spcAft>
              </a:pPr>
              <a:r>
                <a:rPr sz="1725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P0 · 512B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162424" y="2047875"/>
              <a:ext cx="1571625" cy="419100"/>
            </a:xfrm>
            <a:prstGeom prst="rect">
              <a:avLst/>
            </a:prstGeom>
            <a:solidFill>
              <a:srgbClr val="EDF3FA"/>
            </a:solidFill>
            <a:ln w="8890">
              <a:solidFill>
                <a:srgbClr val="DCE2E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P1 · 512B"/>
            <p:cNvSpPr txBox="1"/>
            <p:nvPr/>
          </p:nvSpPr>
          <p:spPr>
            <a:xfrm>
              <a:off x="4238625" y="2133600"/>
              <a:ext cx="1419225" cy="2762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ctr">
                <a:lnSpc>
                  <a:spcPct val="112000"/>
                </a:lnSpc>
                <a:spcAft>
                  <a:spcPts val="500"/>
                </a:spcAft>
              </a:pPr>
              <a:r>
                <a:rPr sz="1725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P1 · 512B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886450" y="2047875"/>
              <a:ext cx="1571625" cy="419100"/>
            </a:xfrm>
            <a:prstGeom prst="rect">
              <a:avLst/>
            </a:prstGeom>
            <a:solidFill>
              <a:srgbClr val="EDF3FA"/>
            </a:solidFill>
            <a:ln w="8890">
              <a:solidFill>
                <a:srgbClr val="DCE2E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P2 · 512B"/>
            <p:cNvSpPr txBox="1"/>
            <p:nvPr/>
          </p:nvSpPr>
          <p:spPr>
            <a:xfrm>
              <a:off x="5962650" y="2133600"/>
              <a:ext cx="1419225" cy="2762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ctr">
                <a:lnSpc>
                  <a:spcPct val="112000"/>
                </a:lnSpc>
                <a:spcAft>
                  <a:spcPts val="500"/>
                </a:spcAft>
              </a:pPr>
              <a:r>
                <a:rPr sz="1725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P2 · 512B</a:t>
              </a:r>
            </a:p>
          </p:txBody>
        </p:sp>
        <p:sp>
          <p:nvSpPr>
            <p:cNvPr id="16" name="dp[0] = 0，其余初始不可达"/>
            <p:cNvSpPr txBox="1"/>
            <p:nvPr/>
          </p:nvSpPr>
          <p:spPr>
            <a:xfrm>
              <a:off x="7981949" y="2133600"/>
              <a:ext cx="3600450" cy="28575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650" b="1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dp[0] = 0，其余初始不可达</a:t>
              </a:r>
            </a:p>
          </p:txBody>
        </p:sp>
      </p:grpSp>
      <p:sp>
        <p:nvSpPr>
          <p:cNvPr id="17" name="dp[j] = 前 j 个片段的最低累计估价"/>
          <p:cNvSpPr txBox="1"/>
          <p:nvPr/>
        </p:nvSpPr>
        <p:spPr>
          <a:xfrm>
            <a:off x="609600" y="2657475"/>
            <a:ext cx="49530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1" lang="zh-CN">
                <a:solidFill>
                  <a:srgbClr val="657184"/>
                </a:solidFill>
                <a:latin typeface="Microsoft YaHei"/>
                <a:ea typeface="Microsoft YaHei"/>
              </a:rPr>
              <a:t>dp[j] = 前 j 个片段的最低累计估价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3009900"/>
            <a:ext cx="4953000" cy="21336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9" name="演示2：枚举组终点和路径，计算组估价"/>
          <p:cNvGrpSpPr/>
          <p:nvPr/>
        </p:nvGrpSpPr>
        <p:grpSpPr>
          <a:xfrm>
            <a:off x="781050" y="2657475"/>
            <a:ext cx="10801350" cy="1571625"/>
            <a:chOff x="781050" y="2657475"/>
            <a:chExt cx="10801350" cy="1571625"/>
          </a:xfrm>
        </p:grpSpPr>
        <p:sp>
          <p:nvSpPr>
            <p:cNvPr id="20" name="for (i = 0; i &lt; n; ++i)   for (j : 合法的分组终点)     for (path : AllPaths) {"/>
            <p:cNvSpPr txBox="1"/>
            <p:nvPr/>
          </p:nvSpPr>
          <p:spPr>
            <a:xfrm>
              <a:off x="781050" y="3124200"/>
              <a:ext cx="4667250" cy="962024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for (i = 0; i &lt; n; ++i)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  for (j : 合法的分组终点)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    for (path : AllPaths) {</a:t>
              </a:r>
            </a:p>
          </p:txBody>
        </p:sp>
        <p:sp>
          <p:nvSpPr>
            <p:cNvPr id="21" name="先看 i = 0, j = 3：三个片段合成一组"/>
            <p:cNvSpPr txBox="1"/>
            <p:nvPr/>
          </p:nvSpPr>
          <p:spPr>
            <a:xfrm>
              <a:off x="5924550" y="2657475"/>
              <a:ext cx="5657850" cy="28575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725" b="1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先看 i = 0, j = 3：三个片段合成一组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5924550" y="3038475"/>
              <a:ext cx="2295525" cy="314325"/>
            </a:xfrm>
            <a:prstGeom prst="rect">
              <a:avLst/>
            </a:prstGeom>
            <a:solidFill>
              <a:srgbClr val="EDF3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路径"/>
            <p:cNvSpPr txBox="1"/>
            <p:nvPr/>
          </p:nvSpPr>
          <p:spPr>
            <a:xfrm>
              <a:off x="6019800" y="3076575"/>
              <a:ext cx="2124075" cy="25717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425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路径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8220075" y="3038475"/>
              <a:ext cx="1476375" cy="314325"/>
            </a:xfrm>
            <a:prstGeom prst="rect">
              <a:avLst/>
            </a:prstGeom>
            <a:solidFill>
              <a:srgbClr val="EDF3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E：本组估价"/>
            <p:cNvSpPr txBox="1"/>
            <p:nvPr/>
          </p:nvSpPr>
          <p:spPr>
            <a:xfrm>
              <a:off x="8315325" y="3076575"/>
              <a:ext cx="1304925" cy="25717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425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E：本组估价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96450" y="3038475"/>
              <a:ext cx="1885950" cy="314325"/>
            </a:xfrm>
            <a:prstGeom prst="rect">
              <a:avLst/>
            </a:prstGeom>
            <a:solidFill>
              <a:srgbClr val="EDF3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物理读 / 复制"/>
            <p:cNvSpPr txBox="1"/>
            <p:nvPr/>
          </p:nvSpPr>
          <p:spPr>
            <a:xfrm>
              <a:off x="9791700" y="3076575"/>
              <a:ext cx="1714500" cy="25717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425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物理读 / 复制</a:t>
              </a:r>
            </a:p>
          </p:txBody>
        </p:sp>
        <p:sp>
          <p:nvSpPr>
            <p:cNvPr id="28" name="DIRECT"/>
            <p:cNvSpPr txBox="1"/>
            <p:nvPr/>
          </p:nvSpPr>
          <p:spPr>
            <a:xfrm>
              <a:off x="6019800" y="3419475"/>
              <a:ext cx="2105025" cy="25717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DIRECT</a:t>
              </a:r>
            </a:p>
          </p:txBody>
        </p:sp>
        <p:sp>
          <p:nvSpPr>
            <p:cNvPr id="29" name="5.406"/>
            <p:cNvSpPr txBox="1"/>
            <p:nvPr/>
          </p:nvSpPr>
          <p:spPr>
            <a:xfrm>
              <a:off x="8315325" y="3419475"/>
              <a:ext cx="1285875" cy="25717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5.406</a:t>
              </a:r>
            </a:p>
          </p:txBody>
        </p:sp>
        <p:sp>
          <p:nvSpPr>
            <p:cNvPr id="30" name="1536B / 0"/>
            <p:cNvSpPr txBox="1"/>
            <p:nvPr/>
          </p:nvSpPr>
          <p:spPr>
            <a:xfrm>
              <a:off x="9791700" y="3419475"/>
              <a:ext cx="1733550" cy="25717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425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1536B / 0</a:t>
              </a:r>
            </a:p>
          </p:txBody>
        </p:sp>
        <p:sp>
          <p:nvSpPr>
            <p:cNvPr id="31" name="AGGREGATE"/>
            <p:cNvSpPr txBox="1"/>
            <p:nvPr/>
          </p:nvSpPr>
          <p:spPr>
            <a:xfrm>
              <a:off x="6019800" y="3695700"/>
              <a:ext cx="2105025" cy="25717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AGGREGATE</a:t>
              </a:r>
            </a:p>
          </p:txBody>
        </p:sp>
        <p:sp>
          <p:nvSpPr>
            <p:cNvPr id="32" name="32.820"/>
            <p:cNvSpPr txBox="1"/>
            <p:nvPr/>
          </p:nvSpPr>
          <p:spPr>
            <a:xfrm>
              <a:off x="8315325" y="3695700"/>
              <a:ext cx="1285875" cy="25717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32.820</a:t>
              </a:r>
            </a:p>
          </p:txBody>
        </p:sp>
        <p:sp>
          <p:nvSpPr>
            <p:cNvPr id="33" name="1536B / 1536B"/>
            <p:cNvSpPr txBox="1"/>
            <p:nvPr/>
          </p:nvSpPr>
          <p:spPr>
            <a:xfrm>
              <a:off x="9791700" y="3695700"/>
              <a:ext cx="1733550" cy="25717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425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1536B / 1536B</a:t>
              </a:r>
            </a:p>
          </p:txBody>
        </p:sp>
        <p:sp>
          <p:nvSpPr>
            <p:cNvPr id="34" name="FALLBACK"/>
            <p:cNvSpPr txBox="1"/>
            <p:nvPr/>
          </p:nvSpPr>
          <p:spPr>
            <a:xfrm>
              <a:off x="6019800" y="3971925"/>
              <a:ext cx="2105025" cy="25717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FALLBACK</a:t>
              </a:r>
            </a:p>
          </p:txBody>
        </p:sp>
        <p:sp>
          <p:nvSpPr>
            <p:cNvPr id="35" name="22.559"/>
            <p:cNvSpPr txBox="1"/>
            <p:nvPr/>
          </p:nvSpPr>
          <p:spPr>
            <a:xfrm>
              <a:off x="8315325" y="3971925"/>
              <a:ext cx="1285875" cy="25717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22.559</a:t>
              </a:r>
            </a:p>
          </p:txBody>
        </p:sp>
        <p:sp>
          <p:nvSpPr>
            <p:cNvPr id="36" name="1536B / 1536B"/>
            <p:cNvSpPr txBox="1"/>
            <p:nvPr/>
          </p:nvSpPr>
          <p:spPr>
            <a:xfrm>
              <a:off x="9791700" y="3971925"/>
              <a:ext cx="1733550" cy="25717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425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1536B / 1536B</a:t>
              </a:r>
            </a:p>
          </p:txBody>
        </p:sp>
      </p:grpSp>
      <p:grpSp>
        <p:nvGrpSpPr>
          <p:cNvPr id="37" name="演示3：更新前缀最优值和前驱"/>
          <p:cNvGrpSpPr/>
          <p:nvPr/>
        </p:nvGrpSpPr>
        <p:grpSpPr>
          <a:xfrm>
            <a:off x="781050" y="4057650"/>
            <a:ext cx="10801350" cy="1104899"/>
            <a:chOff x="781050" y="4057650"/>
            <a:chExt cx="10801350" cy="1104899"/>
          </a:xfrm>
        </p:grpSpPr>
        <p:sp>
          <p:nvSpPr>
            <p:cNvPr id="38" name="      v = dp[i] + estimate(...);       if (v &lt; dp[j]) {         dp[j]=v; prev[j]=i; paths[j]=path;  "/>
            <p:cNvSpPr txBox="1"/>
            <p:nvPr/>
          </p:nvSpPr>
          <p:spPr>
            <a:xfrm>
              <a:off x="781050" y="4057650"/>
              <a:ext cx="4667250" cy="10382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387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      v = dp[i] + estimate(...);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387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      if (v &lt; dp[j]) {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387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        dp[j]=v; prev[j]=i; paths[j]=path;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387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      } }</a:t>
              </a:r>
            </a:p>
          </p:txBody>
        </p:sp>
        <p:sp>
          <p:nvSpPr>
            <p:cNvPr id="39" name="前缀最优：dp[1]=3.135，dp[2]=4.271"/>
            <p:cNvSpPr txBox="1"/>
            <p:nvPr/>
          </p:nvSpPr>
          <p:spPr>
            <a:xfrm>
              <a:off x="5924550" y="4352925"/>
              <a:ext cx="5657850" cy="2762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65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前缀最优：dp[1]=3.135，dp[2]=4.271</a:t>
              </a:r>
            </a:p>
          </p:txBody>
        </p:sp>
        <p:sp>
          <p:nvSpPr>
            <p:cNvPr id="40" name="dp[3] = min(5.406, 3.135+4.271, 4.271+3.135)            = 5.406；记录 prev[3]=0，path=DIRECT"/>
            <p:cNvSpPr txBox="1"/>
            <p:nvPr/>
          </p:nvSpPr>
          <p:spPr>
            <a:xfrm>
              <a:off x="5924550" y="4695825"/>
              <a:ext cx="5657850" cy="466724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dp[3] = min(5.406, 3.135+4.271, 4.271+3.135)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           = 5.406；记录 prev[3]=0，path=DIRECT</a:t>
              </a:r>
            </a:p>
          </p:txBody>
        </p:sp>
      </p:grpSp>
      <p:grpSp>
        <p:nvGrpSpPr>
          <p:cNvPr id="41" name="演示4：回溯和真实传输结果"/>
          <p:cNvGrpSpPr/>
          <p:nvPr/>
        </p:nvGrpSpPr>
        <p:grpSpPr>
          <a:xfrm>
            <a:off x="609600" y="5295900"/>
            <a:ext cx="10972800" cy="723900"/>
            <a:chOff x="609600" y="5295900"/>
            <a:chExt cx="10972800" cy="723900"/>
          </a:xfrm>
        </p:grpSpPr>
        <p:sp>
          <p:nvSpPr>
            <p:cNvPr id="42" name="Rectangle 41"/>
            <p:cNvSpPr/>
            <p:nvPr/>
          </p:nvSpPr>
          <p:spPr>
            <a:xfrm>
              <a:off x="609600" y="5295900"/>
              <a:ext cx="10972800" cy="723900"/>
            </a:xfrm>
            <a:prstGeom prst="rect">
              <a:avLst/>
            </a:prstGeom>
            <a:solidFill>
              <a:srgbClr val="EDF3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回溯 3 → 0  ⇒  1 个 operation、1 条 1536B DIRECT、3 份请求映射"/>
            <p:cNvSpPr txBox="1"/>
            <p:nvPr/>
          </p:nvSpPr>
          <p:spPr>
            <a:xfrm>
              <a:off x="781050" y="5391150"/>
              <a:ext cx="10458450" cy="28575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75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回溯 3 → 0  ⇒  1 个 operation、1 条 1536B DIRECT、3 份请求映射</a:t>
              </a:r>
            </a:p>
          </p:txBody>
        </p:sp>
        <p:sp>
          <p:nvSpPr>
            <p:cNvPr id="44" name="官方回放：T=4μs、CPU=2、NPU=0，J=6（分别读取 J=10）；本例无重复访问，不提升。"/>
            <p:cNvSpPr txBox="1"/>
            <p:nvPr/>
          </p:nvSpPr>
          <p:spPr>
            <a:xfrm>
              <a:off x="781050" y="5762625"/>
              <a:ext cx="10458450" cy="2381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官方回放：T=4μs、CPU=2、NPU=0，J=6（分别读取 J=10）；本例无重复访问，不提升。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8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8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前台 · 计数 DP 与搜索边界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前台 · 计数 DP 与搜索边界</a:t>
            </a:r>
          </a:p>
        </p:txBody>
      </p:sp>
      <p:sp>
        <p:nvSpPr>
          <p:cNvPr id="3" name="组数改变并发估计：再比较“恰好 cnt 组”的计划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组数改变并发估计：再比较“恰好 cnt 组”的计划</a:t>
            </a:r>
          </a:p>
        </p:txBody>
      </p:sp>
      <p:sp>
        <p:nvSpPr>
          <p:cNvPr id="4" name="cnt 是候选计划的 SSD 命令数；当前每组一读，不能把它当成全程不变的真实并发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cnt 是候选计划的 SSD 命令数；当前每组一读，不能把它当成全程不变的真实并发。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5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05025"/>
            <a:ext cx="10972800" cy="85725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[h][j] = min { D[h−1][i] + E(片段 [i, j), 路径, cnt) }"/>
          <p:cNvSpPr txBox="1"/>
          <p:nvPr/>
        </p:nvSpPr>
        <p:spPr>
          <a:xfrm>
            <a:off x="800100" y="2247900"/>
            <a:ext cx="10591800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175" b="1" lang="zh-CN">
                <a:solidFill>
                  <a:srgbClr val="285EA8"/>
                </a:solidFill>
                <a:latin typeface="Microsoft YaHei"/>
                <a:ea typeface="Microsoft YaHei"/>
              </a:rPr>
              <a:t>D[h][j] = min { D[h−1][i] + E(片段 [i, j), 路径, cnt) }</a:t>
            </a:r>
          </a:p>
        </p:txBody>
      </p:sp>
      <p:sp>
        <p:nvSpPr>
          <p:cNvPr id="10" name="h = 已分组数，j = 已覆盖片段数；固定 cnt 后求 D[cnt][n]，再回溯分组与路径。"/>
          <p:cNvSpPr txBox="1"/>
          <p:nvPr/>
        </p:nvSpPr>
        <p:spPr>
          <a:xfrm>
            <a:off x="800100" y="2657475"/>
            <a:ext cx="10591800" cy="247649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h = 已分组数，j = 已覆盖片段数；固定 cnt 后求 D[cnt][n]，再回溯分组与路径。</a:t>
            </a:r>
          </a:p>
        </p:txBody>
      </p:sp>
      <p:sp>
        <p:nvSpPr>
          <p:cNvPr id="11" name="为什么要重估并发"/>
          <p:cNvSpPr txBox="1"/>
          <p:nvPr/>
        </p:nvSpPr>
        <p:spPr>
          <a:xfrm>
            <a:off x="609600" y="3209925"/>
            <a:ext cx="52387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50" b="1" lang="zh-CN">
                <a:solidFill>
                  <a:srgbClr val="285EA8"/>
                </a:solidFill>
                <a:latin typeface="Microsoft YaHei"/>
                <a:ea typeface="Microsoft YaHei"/>
              </a:rPr>
              <a:t>为什么要重估并发</a:t>
            </a:r>
          </a:p>
        </p:txBody>
      </p:sp>
      <p:sp>
        <p:nvSpPr>
          <p:cNvPr id="12" name="SSD：活动数 + cnt。复制：按卡号和类型 分别估计，沿用快速候选的组数比例并限流。 组数变少，复制带宽可能下降。"/>
          <p:cNvSpPr txBox="1"/>
          <p:nvPr/>
        </p:nvSpPr>
        <p:spPr>
          <a:xfrm>
            <a:off x="609600" y="3648075"/>
            <a:ext cx="5238750" cy="8191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SSD：活动数 + cnt。复制：按卡号和类型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分别估计，沿用快速候选的组数比例并限流。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组数变少，复制带宽可能下降。</a:t>
            </a:r>
          </a:p>
        </p:txBody>
      </p:sp>
      <p:sp>
        <p:nvSpPr>
          <p:cNvPr id="13" name="实测：三个相邻 4KiB，目标不对齐"/>
          <p:cNvSpPr txBox="1"/>
          <p:nvPr/>
        </p:nvSpPr>
        <p:spPr>
          <a:xfrm>
            <a:off x="609600" y="4648200"/>
            <a:ext cx="52387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1F2937"/>
                </a:solidFill>
                <a:latin typeface="Microsoft YaHei"/>
                <a:ea typeface="Microsoft YaHei"/>
              </a:rPr>
              <a:t>实测：三个相邻 4KiB，目标不对齐</a:t>
            </a:r>
          </a:p>
        </p:txBody>
      </p:sp>
      <p:sp>
        <p:nvSpPr>
          <p:cNvPr id="14" name="合并 1 组 AGGREGATE"/>
          <p:cNvSpPr txBox="1"/>
          <p:nvPr/>
        </p:nvSpPr>
        <p:spPr>
          <a:xfrm>
            <a:off x="609600" y="5067300"/>
            <a:ext cx="285750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合并 1 组 AGGREGATE</a:t>
            </a:r>
          </a:p>
        </p:txBody>
      </p:sp>
      <p:sp>
        <p:nvSpPr>
          <p:cNvPr id="15" name="93μs + 5 = 98"/>
          <p:cNvSpPr txBox="1"/>
          <p:nvPr/>
        </p:nvSpPr>
        <p:spPr>
          <a:xfrm>
            <a:off x="3562350" y="5067300"/>
            <a:ext cx="228600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93μs + 5 = 98</a:t>
            </a:r>
          </a:p>
        </p:txBody>
      </p:sp>
      <p:sp>
        <p:nvSpPr>
          <p:cNvPr id="16" name="分成 3 组 AGGREGATE"/>
          <p:cNvSpPr txBox="1"/>
          <p:nvPr/>
        </p:nvSpPr>
        <p:spPr>
          <a:xfrm>
            <a:off x="609600" y="5467350"/>
            <a:ext cx="285750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分成 3 组 AGGREGATE</a:t>
            </a:r>
          </a:p>
        </p:txBody>
      </p:sp>
      <p:sp>
        <p:nvSpPr>
          <p:cNvPr id="17" name="33μs + 15 = 48"/>
          <p:cNvSpPr txBox="1"/>
          <p:nvPr/>
        </p:nvSpPr>
        <p:spPr>
          <a:xfrm>
            <a:off x="3562350" y="5467350"/>
            <a:ext cx="228600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33μs + 15 = 48</a:t>
            </a:r>
          </a:p>
        </p:txBody>
      </p:sp>
      <p:sp>
        <p:nvSpPr>
          <p:cNvPr id="18" name="什么时候运行、怎样控制规模"/>
          <p:cNvSpPr txBox="1"/>
          <p:nvPr/>
        </p:nvSpPr>
        <p:spPr>
          <a:xfrm>
            <a:off x="6324600" y="3209925"/>
            <a:ext cx="525780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50" b="1" lang="zh-CN">
                <a:solidFill>
                  <a:srgbClr val="24756D"/>
                </a:solidFill>
                <a:latin typeface="Microsoft YaHei"/>
                <a:ea typeface="Microsoft YaHei"/>
              </a:rPr>
              <a:t>什么时候运行、怎样控制规模</a:t>
            </a:r>
          </a:p>
        </p:txBody>
      </p:sp>
      <p:sp>
        <p:nvSpPr>
          <p:cNvPr id="19" name="系统保守空闲、规模和预算允许时运行。 采样 cnt：小规模全取；大规模取性能桶、 几何序列、尺寸拐点，再局部细化。 回溯后检查槽位和两类临时池能否同时容纳。 无候选通过时，保留快速区间 DP。"/>
          <p:cNvSpPr txBox="1"/>
          <p:nvPr/>
        </p:nvSpPr>
        <p:spPr>
          <a:xfrm>
            <a:off x="6324600" y="3648075"/>
            <a:ext cx="5257800" cy="16002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系统保守空闲、规模和预算允许时运行。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采样 cnt：小规模全取；大规模取性能桶、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几何序列、尺寸拐点，再局部细化。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回溯后检查槽位和两类临时池能否同时容纳。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无候选通过时，保留快速区间 DP。</a:t>
            </a:r>
          </a:p>
        </p:txBody>
      </p:sp>
      <p:sp>
        <p:nvSpPr>
          <p:cNvPr id="20" name="转移数：快速 O(n×128)；固定 cnt 为 O(cnt×n×128)。 计数搜索共享 200 万工作预算；不保证全局最优。"/>
          <p:cNvSpPr txBox="1"/>
          <p:nvPr/>
        </p:nvSpPr>
        <p:spPr>
          <a:xfrm>
            <a:off x="6324600" y="5467350"/>
            <a:ext cx="5257800" cy="523874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657184"/>
                </a:solidFill>
                <a:latin typeface="Microsoft YaHei"/>
                <a:ea typeface="Microsoft YaHei"/>
              </a:rPr>
              <a:t>转移数：快速 O(n×128)；固定 cnt 为 O(cnt×n×128)。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657184"/>
                </a:solidFill>
                <a:latin typeface="Microsoft YaHei"/>
                <a:ea typeface="Microsoft YaHei"/>
              </a:rPr>
              <a:t>计数搜索共享 200 万工作预算；不保证全局最优。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后台 · on_iocb_complete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后台 · on_iocb_complete</a:t>
            </a:r>
          </a:p>
        </p:txBody>
      </p:sp>
      <p:sp>
        <p:nvSpPr>
          <p:cNvPr id="3" name="本次读取完成后，再决定是否为未来复用付费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本次读取完成后，再决定是否为未来复用付费</a:t>
            </a:r>
          </a:p>
        </p:txBody>
      </p:sp>
      <p:sp>
        <p:nvSpPr>
          <p:cNvPr id="4" name="依次检查四道条件；任一未通过就返回 nullopt，本次读取已成功完成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依次检查四道条件；任一未通过就返回 nullopt，本次读取已成功完成。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6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6</a:t>
            </a:r>
          </a:p>
        </p:txBody>
      </p:sp>
      <p:grpSp>
        <p:nvGrpSpPr>
          <p:cNvPr id="8" name="缓存判断 先排除不合适对象"/>
          <p:cNvGrpSpPr/>
          <p:nvPr/>
        </p:nvGrpSpPr>
        <p:grpSpPr>
          <a:xfrm>
            <a:off x="609600" y="2133600"/>
            <a:ext cx="2514600" cy="2333625"/>
            <a:chOff x="609600" y="2133600"/>
            <a:chExt cx="2514600" cy="2333625"/>
          </a:xfrm>
        </p:grpSpPr>
        <p:sp>
          <p:nvSpPr>
            <p:cNvPr id="9" name="Rectangle 8"/>
            <p:cNvSpPr/>
            <p:nvPr/>
          </p:nvSpPr>
          <p:spPr>
            <a:xfrm>
              <a:off x="609600" y="2133600"/>
              <a:ext cx="2514600" cy="2333625"/>
            </a:xfrm>
            <a:prstGeom prst="rect">
              <a:avLst/>
            </a:prstGeom>
            <a:solidFill>
              <a:srgbClr val="EEF6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609600" y="2133600"/>
              <a:ext cx="28575" cy="2333625"/>
            </a:xfrm>
            <a:prstGeom prst="rect">
              <a:avLst/>
            </a:prstGeom>
            <a:solidFill>
              <a:srgbClr val="24756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先排除不合适对象"/>
            <p:cNvSpPr txBox="1"/>
            <p:nvPr/>
          </p:nvSpPr>
          <p:spPr>
            <a:xfrm>
              <a:off x="762000" y="2286000"/>
              <a:ext cx="2209800" cy="3429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先排除不合适对象</a:t>
              </a:r>
            </a:p>
          </p:txBody>
        </p:sp>
        <p:sp>
          <p:nvSpPr>
            <p:cNvPr id="12" name="命中完成不再提升 同键在途不重复 对象不超过 KV 池容量"/>
            <p:cNvSpPr txBox="1"/>
            <p:nvPr/>
          </p:nvSpPr>
          <p:spPr>
            <a:xfrm>
              <a:off x="762000" y="2838450"/>
              <a:ext cx="2209800" cy="14478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命中完成不再提升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同键在途不重复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对象不超过 KV 池容量</a:t>
              </a:r>
            </a:p>
          </p:txBody>
        </p:sp>
      </p:grpSp>
      <p:grpSp>
        <p:nvGrpSpPr>
          <p:cNvPr id="13" name="缓存判断 复用证据有效"/>
          <p:cNvGrpSpPr/>
          <p:nvPr/>
        </p:nvGrpSpPr>
        <p:grpSpPr>
          <a:xfrm>
            <a:off x="3190875" y="2133600"/>
            <a:ext cx="2752725" cy="2333625"/>
            <a:chOff x="3190875" y="2133600"/>
            <a:chExt cx="2752725" cy="2333625"/>
          </a:xfrm>
        </p:grpSpPr>
        <p:sp>
          <p:nvSpPr>
            <p:cNvPr id="14" name="Rectangle 13"/>
            <p:cNvSpPr/>
            <p:nvPr/>
          </p:nvSpPr>
          <p:spPr>
            <a:xfrm>
              <a:off x="3429000" y="2133600"/>
              <a:ext cx="2514600" cy="2333625"/>
            </a:xfrm>
            <a:prstGeom prst="rect">
              <a:avLst/>
            </a:prstGeom>
            <a:solidFill>
              <a:srgbClr val="EEF6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429000" y="2133600"/>
              <a:ext cx="28575" cy="2333625"/>
            </a:xfrm>
            <a:prstGeom prst="rect">
              <a:avLst/>
            </a:prstGeom>
            <a:solidFill>
              <a:srgbClr val="24756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复用证据有效"/>
            <p:cNvSpPr txBox="1"/>
            <p:nvPr/>
          </p:nvSpPr>
          <p:spPr>
            <a:xfrm>
              <a:off x="3581400" y="2286000"/>
              <a:ext cx="2209800" cy="3429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复用证据有效</a:t>
              </a:r>
            </a:p>
          </p:txBody>
        </p:sp>
        <p:sp>
          <p:nvSpPr>
            <p:cNvPr id="17" name="跨时刻未命中至少两次 0 &lt; gap &lt; TTL age &lt; TTL，且不超过 max(1μs,gap+2×抖动)"/>
            <p:cNvSpPr txBox="1"/>
            <p:nvPr/>
          </p:nvSpPr>
          <p:spPr>
            <a:xfrm>
              <a:off x="3581400" y="2838450"/>
              <a:ext cx="2209800" cy="14478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跨时刻未命中至少两次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0 &lt; gap &lt; TTL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age &lt; TTL，且不超过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max(1μs,gap+2×抖动)</a:t>
              </a:r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3190875" y="3276600"/>
              <a:ext cx="190500" cy="0"/>
            </a:xfrm>
            <a:prstGeom prst="line">
              <a:avLst/>
            </a:prstGeom>
            <a:ln w="19050">
              <a:solidFill>
                <a:srgbClr val="24756D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缓存判断 预计命中有净收益"/>
          <p:cNvGrpSpPr/>
          <p:nvPr/>
        </p:nvGrpSpPr>
        <p:grpSpPr>
          <a:xfrm>
            <a:off x="6010275" y="2133600"/>
            <a:ext cx="2752725" cy="2333625"/>
            <a:chOff x="6010275" y="2133600"/>
            <a:chExt cx="2752725" cy="2333625"/>
          </a:xfrm>
        </p:grpSpPr>
        <p:sp>
          <p:nvSpPr>
            <p:cNvPr id="20" name="Rectangle 19"/>
            <p:cNvSpPr/>
            <p:nvPr/>
          </p:nvSpPr>
          <p:spPr>
            <a:xfrm>
              <a:off x="6248400" y="2133600"/>
              <a:ext cx="2514600" cy="2333625"/>
            </a:xfrm>
            <a:prstGeom prst="rect">
              <a:avLst/>
            </a:prstGeom>
            <a:solidFill>
              <a:srgbClr val="EEF6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248400" y="2133600"/>
              <a:ext cx="28575" cy="2333625"/>
            </a:xfrm>
            <a:prstGeom prst="rect">
              <a:avLst/>
            </a:prstGeom>
            <a:solidFill>
              <a:srgbClr val="24756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预计命中有净收益"/>
            <p:cNvSpPr txBox="1"/>
            <p:nvPr/>
          </p:nvSpPr>
          <p:spPr>
            <a:xfrm>
              <a:off x="6400800" y="2286000"/>
              <a:ext cx="2209800" cy="3429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预计命中有净收益</a:t>
              </a:r>
            </a:p>
          </p:txBody>
        </p:sp>
        <p:sp>
          <p:nvSpPr>
            <p:cNvPr id="23" name="Work 提供可替代成本 扣除命中 H2D 的成本 净收益 gain &gt; 0 比较 HBM / SSD 来源"/>
            <p:cNvSpPr txBox="1"/>
            <p:nvPr/>
          </p:nvSpPr>
          <p:spPr>
            <a:xfrm>
              <a:off x="6400800" y="2838450"/>
              <a:ext cx="2209800" cy="14478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Work 提供可替代成本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扣除命中 H2D 的成本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净收益 gain &gt; 0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比较 HBM / SSD 来源</a:t>
              </a:r>
            </a:p>
          </p:txBody>
        </p:sp>
        <p:cxnSp>
          <p:nvCxnSpPr>
            <p:cNvPr id="24" name="Connector 23"/>
            <p:cNvCxnSpPr/>
            <p:nvPr/>
          </p:nvCxnSpPr>
          <p:spPr>
            <a:xfrm>
              <a:off x="6010275" y="3276600"/>
              <a:ext cx="190500" cy="0"/>
            </a:xfrm>
            <a:prstGeom prst="line">
              <a:avLst/>
            </a:prstGeom>
            <a:ln w="19050">
              <a:solidFill>
                <a:srgbClr val="24756D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缓存判断 预算足够才投入"/>
          <p:cNvGrpSpPr/>
          <p:nvPr/>
        </p:nvGrpSpPr>
        <p:grpSpPr>
          <a:xfrm>
            <a:off x="8829675" y="2133600"/>
            <a:ext cx="2752725" cy="2333625"/>
            <a:chOff x="8829675" y="2133600"/>
            <a:chExt cx="2752725" cy="2333625"/>
          </a:xfrm>
        </p:grpSpPr>
        <p:sp>
          <p:nvSpPr>
            <p:cNvPr id="26" name="Rectangle 25"/>
            <p:cNvSpPr/>
            <p:nvPr/>
          </p:nvSpPr>
          <p:spPr>
            <a:xfrm>
              <a:off x="9067800" y="2133600"/>
              <a:ext cx="2514600" cy="2333625"/>
            </a:xfrm>
            <a:prstGeom prst="rect">
              <a:avLst/>
            </a:prstGeom>
            <a:solidFill>
              <a:srgbClr val="EEF6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9067800" y="2133600"/>
              <a:ext cx="28575" cy="2333625"/>
            </a:xfrm>
            <a:prstGeom prst="rect">
              <a:avLst/>
            </a:prstGeom>
            <a:solidFill>
              <a:srgbClr val="24756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预算足够才投入"/>
            <p:cNvSpPr txBox="1"/>
            <p:nvPr/>
          </p:nvSpPr>
          <p:spPr>
            <a:xfrm>
              <a:off x="9220200" y="2286000"/>
              <a:ext cx="2209800" cy="3429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预算足够才投入</a:t>
              </a:r>
            </a:p>
          </p:txBody>
        </p:sp>
        <p:sp>
          <p:nvSpPr>
            <p:cNvPr id="29" name="credit = 已观察支出预算 门槛 = 提升投入 × (1 + 需替换字节 / 池容量) credit ≥ 门槛才提升"/>
            <p:cNvSpPr txBox="1"/>
            <p:nvPr/>
          </p:nvSpPr>
          <p:spPr>
            <a:xfrm>
              <a:off x="9220200" y="2838450"/>
              <a:ext cx="2209800" cy="14478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credit = 已观察支出预算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门槛 = 提升投入 ×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(1 + 需替换字节 / 池容量)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credit ≥ 门槛才提升</a:t>
              </a:r>
            </a:p>
          </p:txBody>
        </p:sp>
        <p:cxnSp>
          <p:nvCxnSpPr>
            <p:cNvPr id="30" name="Connector 29"/>
            <p:cNvCxnSpPr/>
            <p:nvPr/>
          </p:nvCxnSpPr>
          <p:spPr>
            <a:xfrm>
              <a:off x="8829675" y="3276600"/>
              <a:ext cx="190500" cy="0"/>
            </a:xfrm>
            <a:prstGeom prst="line">
              <a:avLst/>
            </a:prstGeom>
            <a:ln w="19050">
              <a:solidFill>
                <a:srgbClr val="24756D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缓存教学例：预算不足和足够时的不同输出"/>
          <p:cNvGrpSpPr/>
          <p:nvPr/>
        </p:nvGrpSpPr>
        <p:grpSpPr>
          <a:xfrm>
            <a:off x="609600" y="4676775"/>
            <a:ext cx="10972800" cy="952500"/>
            <a:chOff x="609600" y="4676775"/>
            <a:chExt cx="10972800" cy="952500"/>
          </a:xfrm>
        </p:grpSpPr>
        <p:sp>
          <p:nvSpPr>
            <p:cNvPr id="32" name="Rectangle 31"/>
            <p:cNvSpPr/>
            <p:nvPr/>
          </p:nvSpPr>
          <p:spPr>
            <a:xfrm>
              <a:off x="609600" y="4676775"/>
              <a:ext cx="10972800" cy="9525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教学假设：净收益 10 &gt; 0，提升投入 100；需替换池容量的 1/8，门槛 = 112.5"/>
            <p:cNvSpPr txBox="1"/>
            <p:nvPr/>
          </p:nvSpPr>
          <p:spPr>
            <a:xfrm>
              <a:off x="800100" y="4800600"/>
              <a:ext cx="10544175" cy="29527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教学假设：净收益 10 &gt; 0，提升投入 100；需替换池容量的 1/8，门槛 = 112.5</a:t>
              </a:r>
            </a:p>
          </p:txBody>
        </p:sp>
        <p:sp>
          <p:nvSpPr>
            <p:cNvPr id="34" name="第二次完成：预算 104 → 跳过；第三次完成：预算 156 → PROMOTE，并把预算清零。"/>
            <p:cNvSpPr txBox="1"/>
            <p:nvPr/>
          </p:nvSpPr>
          <p:spPr>
            <a:xfrm>
              <a:off x="800100" y="5238750"/>
              <a:ext cx="10544175" cy="28575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第二次完成：预算 104 → 跳过；第三次完成：预算 156 → PROMOTE，并把预算清零。</a:t>
              </a:r>
            </a:p>
          </p:txBody>
        </p:sp>
      </p:grpSp>
      <p:sp>
        <p:nvSpPr>
          <p:cNvPr id="35" name="满池可以替换；提升完成后才能命中。当前不主动延期，低优先级也可能竞争前台资源。"/>
          <p:cNvSpPr txBox="1"/>
          <p:nvPr/>
        </p:nvSpPr>
        <p:spPr>
          <a:xfrm>
            <a:off x="609600" y="5829300"/>
            <a:ext cx="10972800" cy="2667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满池可以替换；提升完成后才能命中。当前不主动延期，低优先级也可能竞争前台资源。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实现组织 · 数据结构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实现组织 · 数据结构</a:t>
            </a:r>
          </a:p>
        </p:txBody>
      </p:sp>
      <p:sp>
        <p:nvSpPr>
          <p:cNvPr id="3" name="前台保存实际工作，后台据此判断缓存能替代什么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前台保存实际工作，后台据此判断缓存能替代什么</a:t>
            </a:r>
          </a:p>
        </p:txBody>
      </p:sp>
      <p:sp>
        <p:nvSpPr>
          <p:cNvPr id="4" name="关键策略集中在 solution.cpp；批内结构规划当前请求，跨回调结构追踪成本和复用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关键策略集中在 solution.cpp；批内结构规划当前请求，跨回调结构追踪成本和复用。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7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14550"/>
            <a:ext cx="1895474" cy="40005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结构"/>
          <p:cNvSpPr txBox="1"/>
          <p:nvPr/>
        </p:nvSpPr>
        <p:spPr>
          <a:xfrm>
            <a:off x="742950" y="2190750"/>
            <a:ext cx="1628775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结构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05075" y="2114550"/>
            <a:ext cx="4286250" cy="40005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保存的关键信息"/>
          <p:cNvSpPr txBox="1"/>
          <p:nvPr/>
        </p:nvSpPr>
        <p:spPr>
          <a:xfrm>
            <a:off x="2638425" y="2190750"/>
            <a:ext cx="4019549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保存的关键信息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91325" y="2114550"/>
            <a:ext cx="4791075" cy="40005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在哪里使用"/>
          <p:cNvSpPr txBox="1"/>
          <p:nvPr/>
        </p:nvSpPr>
        <p:spPr>
          <a:xfrm>
            <a:off x="6924675" y="2190750"/>
            <a:ext cx="4524375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在哪里使用</a:t>
            </a:r>
          </a:p>
        </p:txBody>
      </p:sp>
      <p:sp>
        <p:nvSpPr>
          <p:cNvPr id="14" name="IovIndex"/>
          <p:cNvSpPr txBox="1"/>
          <p:nvPr/>
        </p:nvSpPr>
        <p:spPr>
          <a:xfrm>
            <a:off x="742950" y="2657475"/>
            <a:ext cx="16287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1" lang="zh-CN">
                <a:solidFill>
                  <a:srgbClr val="1F2937"/>
                </a:solidFill>
                <a:latin typeface="Microsoft YaHei"/>
                <a:ea typeface="Microsoft YaHei"/>
              </a:rPr>
              <a:t>IovIndex</a:t>
            </a:r>
          </a:p>
        </p:txBody>
      </p:sp>
      <p:sp>
        <p:nvSpPr>
          <p:cNvPr id="15" name="ends：目标 iov 的累计终点"/>
          <p:cNvSpPr txBox="1"/>
          <p:nvPr/>
        </p:nvSpPr>
        <p:spPr>
          <a:xfrm>
            <a:off x="2638425" y="2657475"/>
            <a:ext cx="4019549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ends：目标 iov 的累计终点</a:t>
            </a:r>
          </a:p>
        </p:txBody>
      </p:sp>
      <p:sp>
        <p:nvSpPr>
          <p:cNvPr id="16" name="按请求内偏移二分定位目标；生成 vectors"/>
          <p:cNvSpPr txBox="1"/>
          <p:nvPr/>
        </p:nvSpPr>
        <p:spPr>
          <a:xfrm>
            <a:off x="6924675" y="2657475"/>
            <a:ext cx="45243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按请求内偏移二分定位目标；生成 vectors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" y="30099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ece"/>
          <p:cNvSpPr txBox="1"/>
          <p:nvPr/>
        </p:nvSpPr>
        <p:spPr>
          <a:xfrm>
            <a:off x="742950" y="3114675"/>
            <a:ext cx="16287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1" lang="zh-CN">
                <a:solidFill>
                  <a:srgbClr val="1F2937"/>
                </a:solidFill>
                <a:latin typeface="Microsoft YaHei"/>
                <a:ea typeface="Microsoft YaHei"/>
              </a:rPr>
              <a:t>Piece</a:t>
            </a:r>
          </a:p>
        </p:txBody>
      </p:sp>
      <p:sp>
        <p:nvSpPr>
          <p:cNvPr id="19" name="io、offset、length、aligned、whole"/>
          <p:cNvSpPr txBox="1"/>
          <p:nvPr/>
        </p:nvSpPr>
        <p:spPr>
          <a:xfrm>
            <a:off x="2638425" y="3114675"/>
            <a:ext cx="4019549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io、offset、length、aligned、whole</a:t>
            </a:r>
          </a:p>
        </p:txBody>
      </p:sp>
      <p:sp>
        <p:nvSpPr>
          <p:cNvPr id="20" name="先切合法片段，再排序并枚举候选组"/>
          <p:cNvSpPr txBox="1"/>
          <p:nvPr/>
        </p:nvSpPr>
        <p:spPr>
          <a:xfrm>
            <a:off x="6924675" y="3114675"/>
            <a:ext cx="45243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先切合法片段，再排序并枚举候选组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9600" y="34671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DP 状态"/>
          <p:cNvSpPr txBox="1"/>
          <p:nvPr/>
        </p:nvSpPr>
        <p:spPr>
          <a:xfrm>
            <a:off x="742950" y="3571875"/>
            <a:ext cx="16287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1" lang="zh-CN">
                <a:solidFill>
                  <a:srgbClr val="1F2937"/>
                </a:solidFill>
                <a:latin typeface="Microsoft YaHei"/>
                <a:ea typeface="Microsoft YaHei"/>
              </a:rPr>
              <a:t>DP 状态</a:t>
            </a:r>
          </a:p>
        </p:txBody>
      </p:sp>
      <p:sp>
        <p:nvSpPr>
          <p:cNvPr id="23" name="dp / prev / paths：估价、前驱、路径"/>
          <p:cNvSpPr txBox="1"/>
          <p:nvPr/>
        </p:nvSpPr>
        <p:spPr>
          <a:xfrm>
            <a:off x="2638425" y="3571875"/>
            <a:ext cx="4019549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dp / prev / paths：估价、前驱、路径</a:t>
            </a:r>
          </a:p>
        </p:txBody>
      </p:sp>
      <p:sp>
        <p:nvSpPr>
          <p:cNvPr id="24" name="更优时更新；回溯还原 operation"/>
          <p:cNvSpPr txBox="1"/>
          <p:nvPr/>
        </p:nvSpPr>
        <p:spPr>
          <a:xfrm>
            <a:off x="6924675" y="3571875"/>
            <a:ext cx="45243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更优时更新；回溯还原 operation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9600" y="39243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Work"/>
          <p:cNvSpPr txBox="1"/>
          <p:nvPr/>
        </p:nvSpPr>
        <p:spPr>
          <a:xfrm>
            <a:off x="742950" y="4029075"/>
            <a:ext cx="16287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1" lang="zh-CN">
                <a:solidFill>
                  <a:srgbClr val="24756D"/>
                </a:solidFill>
                <a:latin typeface="Microsoft YaHei"/>
                <a:ea typeface="Microsoft YaHei"/>
              </a:rPr>
              <a:t>Work</a:t>
            </a:r>
          </a:p>
        </p:txBody>
      </p:sp>
      <p:sp>
        <p:nvSpPr>
          <p:cNvPr id="27" name="读 / 复制工作、调用费、本卡字节占比"/>
          <p:cNvSpPr txBox="1"/>
          <p:nvPr/>
        </p:nvSpPr>
        <p:spPr>
          <a:xfrm>
            <a:off x="2638425" y="4029075"/>
            <a:ext cx="4019549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读 / 复制工作、调用费、本卡字节占比</a:t>
            </a:r>
          </a:p>
        </p:txBody>
      </p:sp>
      <p:sp>
        <p:nvSpPr>
          <p:cNvPr id="28" name="只记最终计划；完成时估算可替代成本"/>
          <p:cNvSpPr txBox="1"/>
          <p:nvPr/>
        </p:nvSpPr>
        <p:spPr>
          <a:xfrm>
            <a:off x="6924675" y="4029075"/>
            <a:ext cx="45243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只记最终计划；完成时估算可替代成本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9600" y="4381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History"/>
          <p:cNvSpPr txBox="1"/>
          <p:nvPr/>
        </p:nvSpPr>
        <p:spPr>
          <a:xfrm>
            <a:off x="742950" y="4486275"/>
            <a:ext cx="16287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1" lang="zh-CN">
                <a:solidFill>
                  <a:srgbClr val="24756D"/>
                </a:solidFill>
                <a:latin typeface="Microsoft YaHei"/>
                <a:ea typeface="Microsoft YaHei"/>
              </a:rPr>
              <a:t>History</a:t>
            </a:r>
          </a:p>
        </p:txBody>
      </p:sp>
      <p:sp>
        <p:nvSpPr>
          <p:cNvPr id="31" name="gap / jitter / last_arrival / credit"/>
          <p:cNvSpPr txBox="1"/>
          <p:nvPr/>
        </p:nvSpPr>
        <p:spPr>
          <a:xfrm>
            <a:off x="2638425" y="4486275"/>
            <a:ext cx="4019549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gap / jitter / last_arrival / credit</a:t>
            </a:r>
          </a:p>
        </p:txBody>
      </p:sp>
      <p:sp>
        <p:nvSpPr>
          <p:cNvPr id="32" name="维护复用节奏、新鲜度和准入预算"/>
          <p:cNvSpPr txBox="1"/>
          <p:nvPr/>
        </p:nvSpPr>
        <p:spPr>
          <a:xfrm>
            <a:off x="6924675" y="4486275"/>
            <a:ext cx="45243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维护复用节奏、新鲜度和准入预算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600" y="48387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promotions_"/>
          <p:cNvSpPr txBox="1"/>
          <p:nvPr/>
        </p:nvSpPr>
        <p:spPr>
          <a:xfrm>
            <a:off x="742950" y="4943475"/>
            <a:ext cx="16287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1" lang="zh-CN">
                <a:solidFill>
                  <a:srgbClr val="24756D"/>
                </a:solidFill>
                <a:latin typeface="Microsoft YaHei"/>
                <a:ea typeface="Microsoft YaHei"/>
              </a:rPr>
              <a:t>promotions_</a:t>
            </a:r>
          </a:p>
        </p:txBody>
      </p:sp>
      <p:sp>
        <p:nvSpPr>
          <p:cNvPr id="35" name="在途提升及 pending_keys_ 去重集合"/>
          <p:cNvSpPr txBox="1"/>
          <p:nvPr/>
        </p:nvSpPr>
        <p:spPr>
          <a:xfrm>
            <a:off x="2638425" y="4943475"/>
            <a:ext cx="4019549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在途提升及 pending_keys_ 去重集合</a:t>
            </a:r>
          </a:p>
        </p:txBody>
      </p:sp>
      <p:sp>
        <p:nvSpPr>
          <p:cNvPr id="36" name="sync_promotions() 清理；避免同键重复投入"/>
          <p:cNvSpPr txBox="1"/>
          <p:nvPr/>
        </p:nvSpPr>
        <p:spPr>
          <a:xfrm>
            <a:off x="6924675" y="4943475"/>
            <a:ext cx="45243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sync_promotions() 清理；避免同键重复投入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9600" y="52959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09600" y="5543550"/>
            <a:ext cx="10972800" cy="457200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缓存键 = 卡号 + SSD 起点 + 完整长度；目标 HBM 地址不在键中，不同卡使用不同键。"/>
          <p:cNvSpPr txBox="1"/>
          <p:nvPr/>
        </p:nvSpPr>
        <p:spPr>
          <a:xfrm>
            <a:off x="781050" y="5648325"/>
            <a:ext cx="106299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4756D"/>
                </a:solidFill>
                <a:latin typeface="Microsoft YaHei"/>
                <a:ea typeface="Microsoft YaHei"/>
              </a:rPr>
              <a:t>缓存键 = 卡号 + SSD 起点 + 完整长度；目标 HBM 地址不在键中，不同卡使用不同键。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算法复杂度 · 规划时间与内存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算法复杂度 · 规划时间与内存</a:t>
            </a:r>
          </a:p>
        </p:txBody>
      </p:sp>
      <p:sp>
        <p:nvSpPr>
          <p:cNvPr id="3" name="用窗口、采样和预算控制搜索，输入输出开销仍随规模增长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用窗口、采样和预算控制搜索，输入输出开销仍随规模增长</a:t>
            </a:r>
          </a:p>
        </p:txBody>
      </p:sp>
      <p:sp>
        <p:nvSpPr>
          <p:cNvPr id="4" name="n = 片段数，W = 窗口（最多128），cnt = 组数；V / Vmax = 总 / 单请求最多 iov 数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n = 片段数，W = 窗口（最多128），cnt = 组数；V / Vmax = 总 / 单请求最多 iov 数。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8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14550"/>
            <a:ext cx="2266950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阶段"/>
          <p:cNvSpPr txBox="1"/>
          <p:nvPr/>
        </p:nvSpPr>
        <p:spPr>
          <a:xfrm>
            <a:off x="742950" y="2190750"/>
            <a:ext cx="200025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阶段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76550" y="2114550"/>
            <a:ext cx="4333875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时间复杂度"/>
          <p:cNvSpPr txBox="1"/>
          <p:nvPr/>
        </p:nvSpPr>
        <p:spPr>
          <a:xfrm>
            <a:off x="3009900" y="2190750"/>
            <a:ext cx="4067175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时间复杂度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10425" y="2114550"/>
            <a:ext cx="4371975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空间复杂度"/>
          <p:cNvSpPr txBox="1"/>
          <p:nvPr/>
        </p:nvSpPr>
        <p:spPr>
          <a:xfrm>
            <a:off x="7343775" y="2190750"/>
            <a:ext cx="4105274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空间复杂度</a:t>
            </a:r>
          </a:p>
        </p:txBody>
      </p:sp>
      <p:sp>
        <p:nvSpPr>
          <p:cNvPr id="14" name="索引与排序"/>
          <p:cNvSpPr txBox="1"/>
          <p:nvPr/>
        </p:nvSpPr>
        <p:spPr>
          <a:xfrm>
            <a:off x="742950" y="2724150"/>
            <a:ext cx="20002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lang="zh-CN">
                <a:solidFill>
                  <a:srgbClr val="1F2937"/>
                </a:solidFill>
                <a:latin typeface="Microsoft YaHei"/>
                <a:ea typeface="Microsoft YaHei"/>
              </a:rPr>
              <a:t>索引与排序</a:t>
            </a:r>
          </a:p>
        </p:txBody>
      </p:sp>
      <p:sp>
        <p:nvSpPr>
          <p:cNvPr id="15" name="建索引 O(V)，片段排序 O(n log n)"/>
          <p:cNvSpPr txBox="1"/>
          <p:nvPr/>
        </p:nvSpPr>
        <p:spPr>
          <a:xfrm>
            <a:off x="3009900" y="2724150"/>
            <a:ext cx="4067175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建索引 O(V)，片段排序 O(n log n)</a:t>
            </a:r>
          </a:p>
        </p:txBody>
      </p:sp>
      <p:sp>
        <p:nvSpPr>
          <p:cNvPr id="16" name="索引和片段 O(V+n)"/>
          <p:cNvSpPr txBox="1"/>
          <p:nvPr/>
        </p:nvSpPr>
        <p:spPr>
          <a:xfrm>
            <a:off x="7343775" y="2724150"/>
            <a:ext cx="4105274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索引和片段 O(V+n)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" y="306705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快速区间 DP"/>
          <p:cNvSpPr txBox="1"/>
          <p:nvPr/>
        </p:nvSpPr>
        <p:spPr>
          <a:xfrm>
            <a:off x="742950" y="3181350"/>
            <a:ext cx="20002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lang="zh-CN">
                <a:solidFill>
                  <a:srgbClr val="1F2937"/>
                </a:solidFill>
                <a:latin typeface="Microsoft YaHei"/>
                <a:ea typeface="Microsoft YaHei"/>
              </a:rPr>
              <a:t>快速区间 DP</a:t>
            </a:r>
          </a:p>
        </p:txBody>
      </p:sp>
      <p:sp>
        <p:nvSpPr>
          <p:cNvPr id="19" name="O(nW log(W+1))：含所有者集合维护"/>
          <p:cNvSpPr txBox="1"/>
          <p:nvPr/>
        </p:nvSpPr>
        <p:spPr>
          <a:xfrm>
            <a:off x="3009900" y="3181350"/>
            <a:ext cx="4067175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O(nW log(W+1))：含所有者集合维护</a:t>
            </a:r>
          </a:p>
        </p:txBody>
      </p:sp>
      <p:sp>
        <p:nvSpPr>
          <p:cNvPr id="20" name="dp / prev / paths 为 O(n)"/>
          <p:cNvSpPr txBox="1"/>
          <p:nvPr/>
        </p:nvSpPr>
        <p:spPr>
          <a:xfrm>
            <a:off x="7343775" y="3181350"/>
            <a:ext cx="4105274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dp / prev / paths 为 O(n)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9600" y="352425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固定 cnt 的 DP"/>
          <p:cNvSpPr txBox="1"/>
          <p:nvPr/>
        </p:nvSpPr>
        <p:spPr>
          <a:xfrm>
            <a:off x="742950" y="3638550"/>
            <a:ext cx="20002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lang="zh-CN">
                <a:solidFill>
                  <a:srgbClr val="1F2937"/>
                </a:solidFill>
                <a:latin typeface="Microsoft YaHei"/>
                <a:ea typeface="Microsoft YaHei"/>
              </a:rPr>
              <a:t>固定 cnt 的 DP</a:t>
            </a:r>
          </a:p>
        </p:txBody>
      </p:sp>
      <p:sp>
        <p:nvSpPr>
          <p:cNvPr id="23" name="最坏 O(cnt × n × W)"/>
          <p:cNvSpPr txBox="1"/>
          <p:nvPr/>
        </p:nvSpPr>
        <p:spPr>
          <a:xfrm>
            <a:off x="3009900" y="3638550"/>
            <a:ext cx="4067175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最坏 O(cnt × n × W)</a:t>
            </a:r>
          </a:p>
        </p:txBody>
      </p:sp>
      <p:sp>
        <p:nvSpPr>
          <p:cNvPr id="24" name="状态 O(cnt × n)，合法边 O(nW)"/>
          <p:cNvSpPr txBox="1"/>
          <p:nvPr/>
        </p:nvSpPr>
        <p:spPr>
          <a:xfrm>
            <a:off x="7343775" y="3638550"/>
            <a:ext cx="4105274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状态 O(cnt × n)，合法边 O(nW)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9600" y="398145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映射与输出"/>
          <p:cNvSpPr txBox="1"/>
          <p:nvPr/>
        </p:nvSpPr>
        <p:spPr>
          <a:xfrm>
            <a:off x="742950" y="4095750"/>
            <a:ext cx="20002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lang="zh-CN">
                <a:solidFill>
                  <a:srgbClr val="1F2937"/>
                </a:solidFill>
                <a:latin typeface="Microsoft YaHei"/>
                <a:ea typeface="Microsoft YaHei"/>
              </a:rPr>
              <a:t>映射与输出</a:t>
            </a:r>
          </a:p>
        </p:txBody>
      </p:sp>
      <p:sp>
        <p:nvSpPr>
          <p:cNvPr id="27" name="约 O(n log Vmax + L)"/>
          <p:cNvSpPr txBox="1"/>
          <p:nvPr/>
        </p:nvSpPr>
        <p:spPr>
          <a:xfrm>
            <a:off x="3009900" y="4095750"/>
            <a:ext cx="4067175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约 O(n log Vmax + L)</a:t>
            </a:r>
          </a:p>
        </p:txBody>
      </p:sp>
      <p:sp>
        <p:nvSpPr>
          <p:cNvPr id="28" name="O(L)，L 为片段与目标 iov 的交集数"/>
          <p:cNvSpPr txBox="1"/>
          <p:nvPr/>
        </p:nvSpPr>
        <p:spPr>
          <a:xfrm>
            <a:off x="7343775" y="4095750"/>
            <a:ext cx="4105274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O(L)，L 为片段与目标 iov 的交集数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9600" y="443865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后台同步 / 扫描"/>
          <p:cNvSpPr txBox="1"/>
          <p:nvPr/>
        </p:nvSpPr>
        <p:spPr>
          <a:xfrm>
            <a:off x="742950" y="4552950"/>
            <a:ext cx="20002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lang="zh-CN">
                <a:solidFill>
                  <a:srgbClr val="1F2937"/>
                </a:solidFill>
                <a:latin typeface="Microsoft YaHei"/>
                <a:ea typeface="Microsoft YaHei"/>
              </a:rPr>
              <a:t>后台同步 / 扫描</a:t>
            </a:r>
          </a:p>
        </p:txBody>
      </p:sp>
      <p:sp>
        <p:nvSpPr>
          <p:cNvPr id="31" name="O(R log(R+1)+A)，另有状态查表"/>
          <p:cNvSpPr txBox="1"/>
          <p:nvPr/>
        </p:nvSpPr>
        <p:spPr>
          <a:xfrm>
            <a:off x="3009900" y="4552950"/>
            <a:ext cx="4067175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O(R log(R+1)+A)，另有状态查表</a:t>
            </a:r>
          </a:p>
        </p:txBody>
      </p:sp>
      <p:sp>
        <p:nvSpPr>
          <p:cNvPr id="32" name="临时 O(R)，持久 O(H+U+R)"/>
          <p:cNvSpPr txBox="1"/>
          <p:nvPr/>
        </p:nvSpPr>
        <p:spPr>
          <a:xfrm>
            <a:off x="7343775" y="4552950"/>
            <a:ext cx="4105274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临时 O(R)，持久 O(H+U+R)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600" y="489585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计数搜索：单次至多 131072 个存储状态；每批共享 200 万次边估价 / 转移预算。"/>
          <p:cNvSpPr txBox="1"/>
          <p:nvPr/>
        </p:nvSpPr>
        <p:spPr>
          <a:xfrm>
            <a:off x="609600" y="5067300"/>
            <a:ext cx="109728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计数搜索：单次至多 131072 个存储状态；每批共享 200 万次边估价 / 转移预算。</a:t>
            </a:r>
          </a:p>
        </p:txBody>
      </p:sp>
      <p:sp>
        <p:nvSpPr>
          <p:cNvPr id="35" name="R / A = 在途提升 / 活动传输数；H / U = 历史记录 / 未完成请求数（历史含更新队列）。 预算不覆盖全部预检查、输入与输出开销；输入索引和未完成请求增长时，总内存仍会增长。"/>
          <p:cNvSpPr txBox="1"/>
          <p:nvPr/>
        </p:nvSpPr>
        <p:spPr>
          <a:xfrm>
            <a:off x="609600" y="5534025"/>
            <a:ext cx="10972800" cy="5334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R / A = 在途提升 / 活动传输数；H / U = 历史记录 / 未完成请求数（历史含更新队列）。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预算不覆盖全部预检查、输入与输出开销；输入索引和未完成请求增长时，总内存仍会增长。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调度算法开销 · 实测时间与空间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调度算法开销 · 实测时间与空间</a:t>
            </a:r>
          </a:p>
        </p:txBody>
      </p:sp>
      <p:sp>
        <p:nvSpPr>
          <p:cNvPr id="3" name="调度计算多花多少时间，整个程序占用多少资源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调度计算多花多少时间，整个程序占用多少资源</a:t>
            </a:r>
          </a:p>
        </p:txBody>
      </p:sp>
      <p:sp>
        <p:nvSpPr>
          <p:cNvPr id="4" name="39 条公开输入：同一计量入口，每例预热一次，交替测三轮；时间取逐例中位数再求和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39 条公开输入：同一计量入口，每例预热一次，交替测三轮；时间取逐例中位数再求和。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9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52650"/>
            <a:ext cx="3276600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指标"/>
          <p:cNvSpPr txBox="1"/>
          <p:nvPr/>
        </p:nvSpPr>
        <p:spPr>
          <a:xfrm>
            <a:off x="742950" y="2228850"/>
            <a:ext cx="300990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指标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86200" y="2152650"/>
            <a:ext cx="1962150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官方贪心"/>
          <p:cNvSpPr txBox="1"/>
          <p:nvPr/>
        </p:nvSpPr>
        <p:spPr>
          <a:xfrm>
            <a:off x="4019549" y="2228850"/>
            <a:ext cx="169545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官方贪心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48350" y="2152650"/>
            <a:ext cx="2057400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本方案"/>
          <p:cNvSpPr txBox="1"/>
          <p:nvPr/>
        </p:nvSpPr>
        <p:spPr>
          <a:xfrm>
            <a:off x="5981700" y="2228850"/>
            <a:ext cx="179070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本方案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5750" y="2152650"/>
            <a:ext cx="3676649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怎样理解"/>
          <p:cNvSpPr txBox="1"/>
          <p:nvPr/>
        </p:nvSpPr>
        <p:spPr>
          <a:xfrm>
            <a:off x="8039099" y="2228850"/>
            <a:ext cx="340995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怎样理解</a:t>
            </a:r>
          </a:p>
        </p:txBody>
      </p:sp>
      <p:sp>
        <p:nvSpPr>
          <p:cNvPr id="16" name="策略回调时间"/>
          <p:cNvSpPr txBox="1"/>
          <p:nvPr/>
        </p:nvSpPr>
        <p:spPr>
          <a:xfrm>
            <a:off x="742950" y="2800350"/>
            <a:ext cx="30099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策略回调时间</a:t>
            </a:r>
          </a:p>
        </p:txBody>
      </p:sp>
      <p:sp>
        <p:nvSpPr>
          <p:cNvPr id="17" name="0.831s"/>
          <p:cNvSpPr txBox="1"/>
          <p:nvPr/>
        </p:nvSpPr>
        <p:spPr>
          <a:xfrm>
            <a:off x="4019549" y="2800350"/>
            <a:ext cx="16954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0.831s</a:t>
            </a:r>
          </a:p>
        </p:txBody>
      </p:sp>
      <p:sp>
        <p:nvSpPr>
          <p:cNvPr id="18" name="1.153s"/>
          <p:cNvSpPr txBox="1"/>
          <p:nvPr/>
        </p:nvSpPr>
        <p:spPr>
          <a:xfrm>
            <a:off x="5981700" y="2800350"/>
            <a:ext cx="17907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1.153s</a:t>
            </a:r>
          </a:p>
        </p:txBody>
      </p:sp>
      <p:sp>
        <p:nvSpPr>
          <p:cNvPr id="19" name="增加 0.322s，约 +38.7%"/>
          <p:cNvSpPr txBox="1"/>
          <p:nvPr/>
        </p:nvSpPr>
        <p:spPr>
          <a:xfrm>
            <a:off x="8039099" y="2800350"/>
            <a:ext cx="34099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增加 0.322s，约 +38.7%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9600" y="320992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程序总耗时（墙钟）"/>
          <p:cNvSpPr txBox="1"/>
          <p:nvPr/>
        </p:nvSpPr>
        <p:spPr>
          <a:xfrm>
            <a:off x="742950" y="3352800"/>
            <a:ext cx="30099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程序总耗时（墙钟）</a:t>
            </a:r>
          </a:p>
        </p:txBody>
      </p:sp>
      <p:sp>
        <p:nvSpPr>
          <p:cNvPr id="22" name="10.969s"/>
          <p:cNvSpPr txBox="1"/>
          <p:nvPr/>
        </p:nvSpPr>
        <p:spPr>
          <a:xfrm>
            <a:off x="4019549" y="3352800"/>
            <a:ext cx="16954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10.969s</a:t>
            </a:r>
          </a:p>
        </p:txBody>
      </p:sp>
      <p:sp>
        <p:nvSpPr>
          <p:cNvPr id="23" name="9.393s"/>
          <p:cNvSpPr txBox="1"/>
          <p:nvPr/>
        </p:nvSpPr>
        <p:spPr>
          <a:xfrm>
            <a:off x="5981700" y="3352800"/>
            <a:ext cx="17907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9.393s</a:t>
            </a:r>
          </a:p>
        </p:txBody>
      </p:sp>
      <p:sp>
        <p:nvSpPr>
          <p:cNvPr id="24" name="包含框架与读写，约 −14.4%"/>
          <p:cNvSpPr txBox="1"/>
          <p:nvPr/>
        </p:nvSpPr>
        <p:spPr>
          <a:xfrm>
            <a:off x="8039099" y="3352800"/>
            <a:ext cx="34099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包含框架与读写，约 −14.4%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9600" y="3762374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策略堆峰值"/>
          <p:cNvSpPr txBox="1"/>
          <p:nvPr/>
        </p:nvSpPr>
        <p:spPr>
          <a:xfrm>
            <a:off x="742950" y="3905249"/>
            <a:ext cx="30099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策略堆峰值</a:t>
            </a:r>
          </a:p>
        </p:txBody>
      </p:sp>
      <p:sp>
        <p:nvSpPr>
          <p:cNvPr id="27" name="12.90MiB"/>
          <p:cNvSpPr txBox="1"/>
          <p:nvPr/>
        </p:nvSpPr>
        <p:spPr>
          <a:xfrm>
            <a:off x="4019549" y="3905249"/>
            <a:ext cx="16954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12.90MiB</a:t>
            </a:r>
          </a:p>
        </p:txBody>
      </p:sp>
      <p:sp>
        <p:nvSpPr>
          <p:cNvPr id="28" name="12.34MiB"/>
          <p:cNvSpPr txBox="1"/>
          <p:nvPr/>
        </p:nvSpPr>
        <p:spPr>
          <a:xfrm>
            <a:off x="5981700" y="3905249"/>
            <a:ext cx="17907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12.34MiB</a:t>
            </a:r>
          </a:p>
        </p:txBody>
      </p:sp>
      <p:sp>
        <p:nvSpPr>
          <p:cNvPr id="29" name="仅统计策略堆分配"/>
          <p:cNvSpPr txBox="1"/>
          <p:nvPr/>
        </p:nvSpPr>
        <p:spPr>
          <a:xfrm>
            <a:off x="8039099" y="3905249"/>
            <a:ext cx="34099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仅统计策略堆分配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600" y="431482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进程峰值内存（RSS）"/>
          <p:cNvSpPr txBox="1"/>
          <p:nvPr/>
        </p:nvSpPr>
        <p:spPr>
          <a:xfrm>
            <a:off x="742950" y="4457700"/>
            <a:ext cx="30099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进程峰值内存（RSS）</a:t>
            </a:r>
          </a:p>
        </p:txBody>
      </p:sp>
      <p:sp>
        <p:nvSpPr>
          <p:cNvPr id="32" name="393.78MiB"/>
          <p:cNvSpPr txBox="1"/>
          <p:nvPr/>
        </p:nvSpPr>
        <p:spPr>
          <a:xfrm>
            <a:off x="4019549" y="4457700"/>
            <a:ext cx="16954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393.78MiB</a:t>
            </a:r>
          </a:p>
        </p:txBody>
      </p:sp>
      <p:sp>
        <p:nvSpPr>
          <p:cNvPr id="33" name="262.53MiB"/>
          <p:cNvSpPr txBox="1"/>
          <p:nvPr/>
        </p:nvSpPr>
        <p:spPr>
          <a:xfrm>
            <a:off x="5981700" y="4457700"/>
            <a:ext cx="17907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262.53MiB</a:t>
            </a:r>
          </a:p>
        </p:txBody>
      </p:sp>
      <p:sp>
        <p:nvSpPr>
          <p:cNvPr id="34" name="包含框架、输入输出等进程内存"/>
          <p:cNvSpPr txBox="1"/>
          <p:nvPr/>
        </p:nvSpPr>
        <p:spPr>
          <a:xfrm>
            <a:off x="8039099" y="4457700"/>
            <a:ext cx="34099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包含框架、输入输出等进程内存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09600" y="486727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联合规划增加了策略计算开销；程序总耗时更短，并不代表调度计算本身更快。"/>
          <p:cNvSpPr txBox="1"/>
          <p:nvPr/>
        </p:nvSpPr>
        <p:spPr>
          <a:xfrm>
            <a:off x="609600" y="5133975"/>
            <a:ext cx="109728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联合规划增加了策略计算开销；程序总耗时更短，并不代表调度计算本身更快。</a:t>
            </a:r>
          </a:p>
        </p:txBody>
      </p:sp>
      <p:sp>
        <p:nvSpPr>
          <p:cNvPr id="37" name="本机秒数与 J 中的模拟搬运时间分开统计。内存取三轮中的峰值；程序总耗时不含编译、 预热与独立 validator。环境：AMD EPYC 9575F，固定 CPU 8，g++ 13.3 / -O2。"/>
          <p:cNvSpPr txBox="1"/>
          <p:nvPr/>
        </p:nvSpPr>
        <p:spPr>
          <a:xfrm>
            <a:off x="609600" y="5610225"/>
            <a:ext cx="10972800" cy="523874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本机秒数与 J 中的模拟搬运时间分开统计。内存取三轮中的峰值；程序总耗时不含编译、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预热与独立 validator。环境：AMD EPYC 9575F，固定 CPU 8，g++ 13.3 / -O2。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性能对比 · 前台指标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性能对比 · 前台指标</a:t>
            </a:r>
          </a:p>
        </p:txBody>
      </p:sp>
      <p:sp>
        <p:nvSpPr>
          <p:cNvPr id="3" name="前台：操作数减少 53.85%，调用费减少 66.82%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前台：操作数减少 53.85%，调用费减少 66.82%</a:t>
            </a:r>
          </a:p>
        </p:txBody>
      </p:sp>
      <p:sp>
        <p:nvSpPr>
          <p:cNvPr id="4" name="39 条公开输入；仅统计前台 operation，排除 PROMOTE 和框架命中复制。每组柱形从零起算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39 条公开输入；仅统计前台 operation，排除 PROMOTE 和框架命中复制。每组柱形从零起算。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10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10</a:t>
            </a:r>
          </a:p>
        </p:txBody>
      </p:sp>
      <p:sp>
        <p:nvSpPr>
          <p:cNvPr id="8" name="读操作数"/>
          <p:cNvSpPr txBox="1"/>
          <p:nvPr/>
        </p:nvSpPr>
        <p:spPr>
          <a:xfrm>
            <a:off x="609600" y="2124075"/>
            <a:ext cx="33528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50" b="1" lang="zh-CN">
                <a:solidFill>
                  <a:srgbClr val="285EA8"/>
                </a:solidFill>
                <a:latin typeface="Microsoft YaHei"/>
                <a:ea typeface="Microsoft YaHei"/>
              </a:rPr>
              <a:t>读操作数</a:t>
            </a:r>
          </a:p>
        </p:txBody>
      </p:sp>
      <p:sp>
        <p:nvSpPr>
          <p:cNvPr id="9" name="官方贪心  177,180 次"/>
          <p:cNvSpPr txBox="1"/>
          <p:nvPr/>
        </p:nvSpPr>
        <p:spPr>
          <a:xfrm>
            <a:off x="609600" y="2571750"/>
            <a:ext cx="33528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官方贪心  177,180 次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905125"/>
            <a:ext cx="3238500" cy="180975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本方案  81,768 次"/>
          <p:cNvSpPr txBox="1"/>
          <p:nvPr/>
        </p:nvSpPr>
        <p:spPr>
          <a:xfrm>
            <a:off x="609600" y="3228975"/>
            <a:ext cx="33528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本方案  81,768 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562350"/>
            <a:ext cx="1494557" cy="180975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减少 53.85%"/>
          <p:cNvSpPr txBox="1"/>
          <p:nvPr/>
        </p:nvSpPr>
        <p:spPr>
          <a:xfrm>
            <a:off x="609600" y="3905249"/>
            <a:ext cx="33528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减少 53.85%</a:t>
            </a:r>
          </a:p>
        </p:txBody>
      </p:sp>
      <p:sp>
        <p:nvSpPr>
          <p:cNvPr id="14" name="物理 SSD 读取量"/>
          <p:cNvSpPr txBox="1"/>
          <p:nvPr/>
        </p:nvSpPr>
        <p:spPr>
          <a:xfrm>
            <a:off x="4343400" y="2124075"/>
            <a:ext cx="33528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50" b="1" lang="zh-CN">
                <a:solidFill>
                  <a:srgbClr val="285EA8"/>
                </a:solidFill>
                <a:latin typeface="Microsoft YaHei"/>
                <a:ea typeface="Microsoft YaHei"/>
              </a:rPr>
              <a:t>物理 SSD 读取量</a:t>
            </a:r>
          </a:p>
        </p:txBody>
      </p:sp>
      <p:sp>
        <p:nvSpPr>
          <p:cNvPr id="15" name="官方贪心  38.56 GiB"/>
          <p:cNvSpPr txBox="1"/>
          <p:nvPr/>
        </p:nvSpPr>
        <p:spPr>
          <a:xfrm>
            <a:off x="4343400" y="2571750"/>
            <a:ext cx="33528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官方贪心  38.56 GiB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905125"/>
            <a:ext cx="3238500" cy="180975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本方案  32.91 GiB"/>
          <p:cNvSpPr txBox="1"/>
          <p:nvPr/>
        </p:nvSpPr>
        <p:spPr>
          <a:xfrm>
            <a:off x="4343400" y="3228975"/>
            <a:ext cx="33528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本方案  32.91 GiB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3562350"/>
            <a:ext cx="2763835" cy="180975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减少 14.66%"/>
          <p:cNvSpPr txBox="1"/>
          <p:nvPr/>
        </p:nvSpPr>
        <p:spPr>
          <a:xfrm>
            <a:off x="4343400" y="3905249"/>
            <a:ext cx="33528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减少 14.66%</a:t>
            </a:r>
          </a:p>
        </p:txBody>
      </p:sp>
      <p:sp>
        <p:nvSpPr>
          <p:cNvPr id="20" name="CPU + NPU 调用费"/>
          <p:cNvSpPr txBox="1"/>
          <p:nvPr/>
        </p:nvSpPr>
        <p:spPr>
          <a:xfrm>
            <a:off x="8077200" y="2124075"/>
            <a:ext cx="35052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50" b="1" lang="zh-CN">
                <a:solidFill>
                  <a:srgbClr val="285EA8"/>
                </a:solidFill>
                <a:latin typeface="Microsoft YaHei"/>
                <a:ea typeface="Microsoft YaHei"/>
              </a:rPr>
              <a:t>CPU + NPU 调用费</a:t>
            </a:r>
          </a:p>
        </p:txBody>
      </p:sp>
      <p:sp>
        <p:nvSpPr>
          <p:cNvPr id="21" name="官方贪心  610,928"/>
          <p:cNvSpPr txBox="1"/>
          <p:nvPr/>
        </p:nvSpPr>
        <p:spPr>
          <a:xfrm>
            <a:off x="8077200" y="2571750"/>
            <a:ext cx="35052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官方贪心  610,928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77200" y="2905125"/>
            <a:ext cx="3390900" cy="180975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本方案  202,731"/>
          <p:cNvSpPr txBox="1"/>
          <p:nvPr/>
        </p:nvSpPr>
        <p:spPr>
          <a:xfrm>
            <a:off x="8077200" y="3228975"/>
            <a:ext cx="35052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本方案  202,731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77200" y="3562350"/>
            <a:ext cx="1125239" cy="180975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减少 66.82%"/>
          <p:cNvSpPr txBox="1"/>
          <p:nvPr/>
        </p:nvSpPr>
        <p:spPr>
          <a:xfrm>
            <a:off x="8077200" y="3905249"/>
            <a:ext cx="35052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减少 66.82%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9600" y="441007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联合分组减少 operation， 少付重复的操作固定费。"/>
          <p:cNvSpPr txBox="1"/>
          <p:nvPr/>
        </p:nvSpPr>
        <p:spPr>
          <a:xfrm>
            <a:off x="609600" y="4600575"/>
            <a:ext cx="3352800" cy="600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联合分组减少 operation，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少付重复的操作固定费。</a:t>
            </a:r>
          </a:p>
        </p:txBody>
      </p:sp>
      <p:sp>
        <p:nvSpPr>
          <p:cNvPr id="28" name="合并重叠请求可共享物理读； 缓存也会改变前台请求集合。"/>
          <p:cNvSpPr txBox="1"/>
          <p:nvPr/>
        </p:nvSpPr>
        <p:spPr>
          <a:xfrm>
            <a:off x="4343400" y="4600575"/>
            <a:ext cx="3352800" cy="600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合并重叠请求可共享物理读；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缓存也会改变前台请求集合。</a:t>
            </a:r>
          </a:p>
        </p:txBody>
      </p:sp>
      <p:sp>
        <p:nvSpPr>
          <p:cNvPr id="29" name="边界与路径一起估价， 减少操作及昂贵路径的调用。"/>
          <p:cNvSpPr txBox="1"/>
          <p:nvPr/>
        </p:nvSpPr>
        <p:spPr>
          <a:xfrm>
            <a:off x="8077200" y="4600575"/>
            <a:ext cx="3505200" cy="600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边界与路径一起估价，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减少操作及昂贵路径的调用。</a:t>
            </a:r>
          </a:p>
        </p:txBody>
      </p:sp>
      <p:sp>
        <p:nvSpPr>
          <p:cNvPr id="30" name="整体：自动分 67.1981 → 88.4555 / 90；39 条总 J 下降 36.51%，35 胜 / 4 平 / 0 负。"/>
          <p:cNvSpPr txBox="1"/>
          <p:nvPr/>
        </p:nvSpPr>
        <p:spPr>
          <a:xfrm>
            <a:off x="609600" y="5381625"/>
            <a:ext cx="109728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整体：自动分 67.1981 → 88.4555 / 90；39 条总 J 下降 36.51%，35 胜 / 4 平 / 0 负。</a:t>
            </a:r>
          </a:p>
        </p:txBody>
      </p:sp>
      <p:sp>
        <p:nvSpPr>
          <p:cNvPr id="31" name="验证：655 条 × 3 轮合法且一致，173 项检查通过。以上是整套方案对照，不能独立归因给单一模块。"/>
          <p:cNvSpPr txBox="1"/>
          <p:nvPr/>
        </p:nvSpPr>
        <p:spPr>
          <a:xfrm>
            <a:off x="609600" y="5838825"/>
            <a:ext cx="10972800" cy="2667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657184"/>
                </a:solidFill>
                <a:latin typeface="Microsoft YaHei"/>
                <a:ea typeface="Microsoft YaHei"/>
              </a:rPr>
              <a:t>验证：655 条 × 3 轮合法且一致，173 项检查通过。以上是整套方案对照，不能独立归因给单一模块。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性能对比 · 后台指标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性能对比 · 后台指标</a:t>
            </a:r>
          </a:p>
        </p:txBody>
      </p:sp>
      <p:sp>
        <p:nvSpPr>
          <p:cNvPr id="3" name="后台：显著减少提升投入，保留正的缓存净收益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后台：显著减少提升投入，保留正的缓存净收益</a:t>
            </a:r>
          </a:p>
        </p:txBody>
      </p:sp>
      <p:sp>
        <p:nvSpPr>
          <p:cNvPr id="4" name="缓存净收益 ΔJ = 各自关闭 PROMOTE 的 J − 启用时的 J；正值表示收益。39 条分别回放后求和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缓存净收益 ΔJ = 各自关闭 PROMOTE 的 J − 启用时的 J；正值表示收益。39 条分别回放后求和。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11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11</a:t>
            </a:r>
          </a:p>
        </p:txBody>
      </p:sp>
      <p:sp>
        <p:nvSpPr>
          <p:cNvPr id="8" name="提升 CPU + NPU 调用费"/>
          <p:cNvSpPr txBox="1"/>
          <p:nvPr/>
        </p:nvSpPr>
        <p:spPr>
          <a:xfrm>
            <a:off x="609600" y="2124075"/>
            <a:ext cx="33528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50" b="1" lang="zh-CN">
                <a:solidFill>
                  <a:srgbClr val="24756D"/>
                </a:solidFill>
                <a:latin typeface="Microsoft YaHei"/>
                <a:ea typeface="Microsoft YaHei"/>
              </a:rPr>
              <a:t>提升 CPU + NPU 调用费</a:t>
            </a:r>
          </a:p>
        </p:txBody>
      </p:sp>
      <p:sp>
        <p:nvSpPr>
          <p:cNvPr id="9" name="官方贪心  722,994"/>
          <p:cNvSpPr txBox="1"/>
          <p:nvPr/>
        </p:nvSpPr>
        <p:spPr>
          <a:xfrm>
            <a:off x="609600" y="2571750"/>
            <a:ext cx="33528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官方贪心  722,994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905125"/>
            <a:ext cx="3238500" cy="180975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本方案  24,676"/>
          <p:cNvSpPr txBox="1"/>
          <p:nvPr/>
        </p:nvSpPr>
        <p:spPr>
          <a:xfrm>
            <a:off x="609600" y="3228975"/>
            <a:ext cx="33528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4756D"/>
                </a:solidFill>
                <a:latin typeface="Microsoft YaHei"/>
                <a:ea typeface="Microsoft YaHei"/>
              </a:rPr>
              <a:t>本方案  24,676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562350"/>
            <a:ext cx="110530" cy="180975"/>
          </a:xfrm>
          <a:prstGeom prst="rect">
            <a:avLst/>
          </a:prstGeom>
          <a:solidFill>
            <a:srgbClr val="247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投入减少 96.59%"/>
          <p:cNvSpPr txBox="1"/>
          <p:nvPr/>
        </p:nvSpPr>
        <p:spPr>
          <a:xfrm>
            <a:off x="609600" y="3905249"/>
            <a:ext cx="33528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4756D"/>
                </a:solidFill>
                <a:latin typeface="Microsoft YaHei"/>
                <a:ea typeface="Microsoft YaHei"/>
              </a:rPr>
              <a:t>投入减少 96.59%</a:t>
            </a:r>
          </a:p>
        </p:txBody>
      </p:sp>
      <p:sp>
        <p:nvSpPr>
          <p:cNvPr id="14" name="真实命中请求数"/>
          <p:cNvSpPr txBox="1"/>
          <p:nvPr/>
        </p:nvSpPr>
        <p:spPr>
          <a:xfrm>
            <a:off x="4343400" y="2124075"/>
            <a:ext cx="33528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50" b="1" lang="zh-CN">
                <a:solidFill>
                  <a:srgbClr val="24756D"/>
                </a:solidFill>
                <a:latin typeface="Microsoft YaHei"/>
                <a:ea typeface="Microsoft YaHei"/>
              </a:rPr>
              <a:t>真实命中请求数</a:t>
            </a:r>
          </a:p>
        </p:txBody>
      </p:sp>
      <p:sp>
        <p:nvSpPr>
          <p:cNvPr id="15" name="官方贪心  40,831 次"/>
          <p:cNvSpPr txBox="1"/>
          <p:nvPr/>
        </p:nvSpPr>
        <p:spPr>
          <a:xfrm>
            <a:off x="4343400" y="2571750"/>
            <a:ext cx="33528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官方贪心  40,831 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905125"/>
            <a:ext cx="3238500" cy="180975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本方案  8,403 次"/>
          <p:cNvSpPr txBox="1"/>
          <p:nvPr/>
        </p:nvSpPr>
        <p:spPr>
          <a:xfrm>
            <a:off x="4343400" y="3228975"/>
            <a:ext cx="33528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4756D"/>
                </a:solidFill>
                <a:latin typeface="Microsoft YaHei"/>
                <a:ea typeface="Microsoft YaHei"/>
              </a:rPr>
              <a:t>本方案  8,403 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3562350"/>
            <a:ext cx="666481" cy="180975"/>
          </a:xfrm>
          <a:prstGeom prst="rect">
            <a:avLst/>
          </a:prstGeom>
          <a:solidFill>
            <a:srgbClr val="247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命中次数减少 79.42%"/>
          <p:cNvSpPr txBox="1"/>
          <p:nvPr/>
        </p:nvSpPr>
        <p:spPr>
          <a:xfrm>
            <a:off x="4343400" y="3905249"/>
            <a:ext cx="33528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4756D"/>
                </a:solidFill>
                <a:latin typeface="Microsoft YaHei"/>
                <a:ea typeface="Microsoft YaHei"/>
              </a:rPr>
              <a:t>命中次数减少 79.42%</a:t>
            </a:r>
          </a:p>
        </p:txBody>
      </p:sp>
      <p:sp>
        <p:nvSpPr>
          <p:cNvPr id="20" name="缓存净收益 ΔJ"/>
          <p:cNvSpPr txBox="1"/>
          <p:nvPr/>
        </p:nvSpPr>
        <p:spPr>
          <a:xfrm>
            <a:off x="8077200" y="2124075"/>
            <a:ext cx="35052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50" b="1" lang="zh-CN">
                <a:solidFill>
                  <a:srgbClr val="24756D"/>
                </a:solidFill>
                <a:latin typeface="Microsoft YaHei"/>
                <a:ea typeface="Microsoft YaHei"/>
              </a:rPr>
              <a:t>缓存净收益 ΔJ</a:t>
            </a:r>
          </a:p>
        </p:txBody>
      </p:sp>
      <p:sp>
        <p:nvSpPr>
          <p:cNvPr id="21" name="官方贪心  +104,909"/>
          <p:cNvSpPr txBox="1"/>
          <p:nvPr/>
        </p:nvSpPr>
        <p:spPr>
          <a:xfrm>
            <a:off x="8077200" y="2571750"/>
            <a:ext cx="35052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官方贪心  +104,909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77200" y="2905125"/>
            <a:ext cx="3390900" cy="180975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本方案  +70,205"/>
          <p:cNvSpPr txBox="1"/>
          <p:nvPr/>
        </p:nvSpPr>
        <p:spPr>
          <a:xfrm>
            <a:off x="8077200" y="3228975"/>
            <a:ext cx="35052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4756D"/>
                </a:solidFill>
                <a:latin typeface="Microsoft YaHei"/>
                <a:ea typeface="Microsoft YaHei"/>
              </a:rPr>
              <a:t>本方案  +70,205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77200" y="3562350"/>
            <a:ext cx="2269186" cy="180975"/>
          </a:xfrm>
          <a:prstGeom prst="rect">
            <a:avLst/>
          </a:prstGeom>
          <a:solidFill>
            <a:srgbClr val="247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仍有净收益，绝对值更小"/>
          <p:cNvSpPr txBox="1"/>
          <p:nvPr/>
        </p:nvSpPr>
        <p:spPr>
          <a:xfrm>
            <a:off x="8077200" y="3905249"/>
            <a:ext cx="35052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4756D"/>
                </a:solidFill>
                <a:latin typeface="Microsoft YaHei"/>
                <a:ea typeface="Microsoft YaHei"/>
              </a:rPr>
              <a:t>仍有净收益，绝对值更小</a:t>
            </a:r>
          </a:p>
        </p:txBody>
      </p:sp>
      <p:sp>
        <p:nvSpPr>
          <p:cNvPr id="26" name="提升次数：8,817 → 301；请求命中率：20.57% → 4.23%；命中字节：19.40 → 8.21 GiB。"/>
          <p:cNvSpPr txBox="1"/>
          <p:nvPr/>
        </p:nvSpPr>
        <p:spPr>
          <a:xfrm>
            <a:off x="609600" y="4476750"/>
            <a:ext cx="1097280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1F2937"/>
                </a:solidFill>
                <a:latin typeface="Microsoft YaHei"/>
                <a:ea typeface="Microsoft YaHei"/>
              </a:rPr>
              <a:t>提升次数：8,817 → 301；请求命中率：20.57% → 4.23%；命中字节：19.40 → 8.21 GiB。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9600" y="4933950"/>
            <a:ext cx="10972800" cy="771525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原因：前台读取已更便宜，后台控制额外投入；提升调用费节省 69.83 万，命中调用费节省 6.49 万。 本方案没有追求更多命中，缓存净贡献也低于贪心；整体优势来自联合规划与更少的调用投入。"/>
          <p:cNvSpPr txBox="1"/>
          <p:nvPr/>
        </p:nvSpPr>
        <p:spPr>
          <a:xfrm>
            <a:off x="781050" y="5048250"/>
            <a:ext cx="106299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原因：前台读取已更便宜，后台控制额外投入；提升调用费节省 69.83 万，命中调用费节省 6.49 万。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本方案没有追求更多命中，缓存净贡献也低于贪心；整体优势来自联合规划与更少的调用投入。</a:t>
            </a:r>
          </a:p>
        </p:txBody>
      </p:sp>
      <p:sp>
        <p:nvSpPr>
          <p:cNvPr id="29" name="边界：本方案缓存对照仍有 2 例负收益；扩展集 96/292 例较贪心退化，最大 J 增幅 94.27%。"/>
          <p:cNvSpPr txBox="1"/>
          <p:nvPr/>
        </p:nvSpPr>
        <p:spPr>
          <a:xfrm>
            <a:off x="609600" y="5857875"/>
            <a:ext cx="10972800" cy="2667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657184"/>
                </a:solidFill>
                <a:latin typeface="Microsoft YaHei"/>
                <a:ea typeface="Microsoft YaHei"/>
              </a:rPr>
              <a:t>边界：本方案缓存对照仍有 2 例负收益；扩展集 96/292 例较贪心退化，最大 J 增幅 94.27%。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NDS 多路径 IO 调度方案</dc:title>
  <dc:subject>联合动态规划、代码可视化与缓存准入</dc:subject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>算法设计与验证</cp:category>
</cp:coreProperties>
</file>