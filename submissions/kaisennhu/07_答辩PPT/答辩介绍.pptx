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240000" cy="9525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讲解按约6分钟组织，单页默认完整展示，不需要翻页。</a:t>
            </a:r>
          </a:p>
          <a:p>
            <a:r>
              <a:t>0:00–0:35 目标与边界。我们要把SSD数据正确搬到指定卡的HBM，并降低完整Trace的J。J由模拟历时折价与CPU/NPU调用费组成，调用费不是本机CPU运行时间。策略在线决策，不读取未来Trace，不调用模拟器。框架负责缓存查找、排队执行、带宽共享及计分，目标卡不可改变。</a:t>
            </a:r>
          </a:p>
          <a:p>
            <a:r>
              <a:t>0:35–1:20 三条观察。合并可以减少固定调用费，也能共享重叠物理读，但改变SSD并发与缓冲占用，因此不是越大越好。同组数据可能有DIRECT、AGGREGATE、FALLBACK等合法路径，复制类型、池需求及调用结构不同，所以分组边界和路径要放进同一DP转移。缓存先付提升成本，命中仍需KV到目标HBM复制，因此需要根据复用证据控制投入。</a:t>
            </a:r>
          </a:p>
          <a:p>
            <a:r>
              <a:t>1:20–2:50 前台流程。IovIndex保存iov累计终点，将请求偏移映射到目标HBM片段。Piece保存请求、偏移、长度及对齐/完整性标记。按块上限切分，非对齐块受临时池容量约束，内部切点退到扇区边界以减少重复扩读。AGGREGATE/FALLBACK允许有效范围非对齐，SSD物理读向外扩至扇区边界，复制仅搬有效字节。随后按卡号与SSD地址排序，同卡且物理范围相连才枚举候选组，路径还检查槽位、池容量及对齐。DIRECT直接到目标HBM，AGGREGATE经临时HBM再D2D，FALLBACK经DDR再H2D。候选估价把读、复制工作换成时间成本，加调用费；中转考虑池压力。DP同时选边界和路径。快速每批执行，状态dp[j]得到一份完整基础方案；空闲且规模可控时，细化对候选总组数cnt分别求D[h][j]，重估并发。两者共享预处理片段列表，细化可以改变快速方案的边界，并非只拆原来的组。但当前细化仍引用基础复制分布和组数采样，不能说完全独立。最后检查总槽位与容量，只提交一份；没有合格细化结果则保留快速方案。Work只记录最终计划按有效字节分摊的估计工作及调用费。</a:t>
            </a:r>
          </a:p>
          <a:p>
            <a:r>
              <a:t>2:50–3:55 后台准入。完成回调不是必须PROMOTE。先排除缓存命中、同键在途及过大对象。History维护复用间隔、抖动、新鲜度和credit预算，间隔与证据年龄均严格小于TTL，证据年龄还受均值加两倍抖动约束，复用字节距离不能超过池容量。Work给出命中可替代的前台成本，扣除命中复制与调用费，净收益必须为正。比较从HBM或SSD提升的合法成本，再要求历史支出预算覆盖提升投入及容量压力门槛。池满允许替换，并非停止准入；压力越大要求越高。提升完成后才能被未来请求命中。</a:t>
            </a:r>
          </a:p>
          <a:p>
            <a:r>
              <a:t>3:55–4:35 复杂度与调度开销。n为片段数、W为枚举窗口。快速核心转移O(nW)、状态O(n)；owners集合维护另有O(nWlog(W+1))，索引与排序另外统计。固定cnt细化转移最坏O(cnt*n*W)，状态与合法边为O(cnt*n+nW)，采样与预算控制搜索开销。图上不是整体算法上界，完整分析在文档。进程耗时包含框架和输入输出；39条每例三轮取中位数后求和。RSS取所有正式轮最大值。策略回调单独计量为0.831→1.153s，并未变快；进程总耗时下降不能说成DP计算加速。</a:t>
            </a:r>
          </a:p>
          <a:p>
            <a:r>
              <a:t>4:35–6:00 性能结果与原因。三组柱形各自从同一零点并共用比例，比较39条完整Trace的累计值，不是逐例下降率的平均。J下降36.51%，前台调用费下降66.82%，后台调用费下降94.84%。前台联合分组减少操作固定费，共享重叠读，联合路径估价改变调用结构；后台根据复用证据、净收益和预算减少提升投入。它们存在联动，结果不独立归因给某个模块。后台费只包含PROMOTE与命中复制调用费，不包含搬运时间费。每次命中分摊费是总后台费除总命中数：804656/40831=19.71，41482/8403=4.94；包含没有带来命中的提升，单次命中固有调用费两者仍为2。命中数不是更高，而是投入效率更高。总体公开集35胜4平，自动分为官方评分器结果，不按总J降幅换算。655条各三轮合法且一致是验证覆盖，不是图中的统计样本。所有性能数字沿用已提交CSV，算法和测试结果未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24.NDS多路径IO分配、聚合与缓存提升算法"/>
          <p:cNvSpPr txBox="1"/>
          <p:nvPr/>
        </p:nvSpPr>
        <p:spPr>
          <a:xfrm>
            <a:off x="457200" y="238125"/>
            <a:ext cx="14325600" cy="5143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3150" b="1" lang="zh-CN">
                <a:solidFill>
                  <a:srgbClr val="1F2937"/>
                </a:solidFill>
                <a:latin typeface="Microsoft YaHei"/>
                <a:ea typeface="Microsoft YaHei"/>
              </a:rPr>
              <a:t>24.NDS多路径IO分配、聚合与缓存提升算法</a:t>
            </a:r>
          </a:p>
        </p:txBody>
      </p:sp>
      <p:sp>
        <p:nvSpPr>
          <p:cNvPr id="3" name="风花雪月战队   ·   刁鹏杰 / 胡海川 / 杜杰贵"/>
          <p:cNvSpPr txBox="1"/>
          <p:nvPr/>
        </p:nvSpPr>
        <p:spPr>
          <a:xfrm>
            <a:off x="476250" y="809625"/>
            <a:ext cx="142875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0" lang="zh-CN">
                <a:solidFill>
                  <a:srgbClr val="627286"/>
                </a:solidFill>
                <a:latin typeface="Microsoft YaHei"/>
                <a:ea typeface="Microsoft YaHei"/>
              </a:rPr>
              <a:t>风花雪月战队   ·   刁鹏杰 / 胡海川 / 杜杰贵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57300"/>
            <a:ext cx="14325600" cy="952500"/>
          </a:xfrm>
          <a:prstGeom prst="rect">
            <a:avLst/>
          </a:prstGeom>
          <a:solidFill>
            <a:srgbClr val="EDF3FB"/>
          </a:solidFill>
          <a:ln w="889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1447800"/>
            <a:ext cx="323850" cy="266700"/>
          </a:xfrm>
          <a:prstGeom prst="rect">
            <a:avLst/>
          </a:prstGeom>
          <a:solidFill>
            <a:srgbClr val="2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01"/>
          <p:cNvSpPr txBox="1"/>
          <p:nvPr/>
        </p:nvSpPr>
        <p:spPr>
          <a:xfrm>
            <a:off x="647700" y="1476375"/>
            <a:ext cx="32385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350" b="1" lang="zh-CN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7" name="目标与边界"/>
          <p:cNvSpPr txBox="1"/>
          <p:nvPr/>
        </p:nvSpPr>
        <p:spPr>
          <a:xfrm>
            <a:off x="1085850" y="1428750"/>
            <a:ext cx="1350645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 lang="zh-CN">
                <a:solidFill>
                  <a:srgbClr val="245DA0"/>
                </a:solidFill>
                <a:latin typeface="Microsoft YaHei"/>
                <a:ea typeface="Microsoft YaHei"/>
              </a:rPr>
              <a:t>目标与边界</a:t>
            </a:r>
          </a:p>
        </p:txBody>
      </p:sp>
      <p:sp>
        <p:nvSpPr>
          <p:cNvPr id="8" name="正确覆盖 · 全程降本"/>
          <p:cNvSpPr txBox="1"/>
          <p:nvPr/>
        </p:nvSpPr>
        <p:spPr>
          <a:xfrm>
            <a:off x="647700" y="1809750"/>
            <a:ext cx="228600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1" lang="zh-CN">
                <a:solidFill>
                  <a:srgbClr val="245DA0"/>
                </a:solidFill>
                <a:latin typeface="Microsoft YaHei"/>
                <a:ea typeface="Microsoft YaHei"/>
              </a:rPr>
              <a:t>正确覆盖 · 全程降本</a:t>
            </a:r>
          </a:p>
        </p:txBody>
      </p:sp>
      <p:sp>
        <p:nvSpPr>
          <p:cNvPr id="9" name="J = 时间单价 × 完整 Trace 历时 + CPU / NPU 调用费"/>
          <p:cNvSpPr txBox="1"/>
          <p:nvPr/>
        </p:nvSpPr>
        <p:spPr>
          <a:xfrm>
            <a:off x="3314700" y="1419225"/>
            <a:ext cx="1127760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2025" b="1" lang="zh-CN">
                <a:solidFill>
                  <a:srgbClr val="245DA0"/>
                </a:solidFill>
                <a:latin typeface="Microsoft YaHei"/>
                <a:ea typeface="Microsoft YaHei"/>
              </a:rPr>
              <a:t>J = 时间单价 × 完整 Trace 历时 + CPU / NPU 调用费</a:t>
            </a:r>
          </a:p>
        </p:txBody>
      </p:sp>
      <p:sp>
        <p:nvSpPr>
          <p:cNvPr id="10" name="策略在线决定切块、分组、路径及提升；框架负责查缓存、执行、带宽共享与计分，目标卡由请求指定。"/>
          <p:cNvSpPr txBox="1"/>
          <p:nvPr/>
        </p:nvSpPr>
        <p:spPr>
          <a:xfrm>
            <a:off x="3314700" y="1847850"/>
            <a:ext cx="1127760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策略在线决定切块、分组、路径及提升；框架负责查缓存、执行、带宽共享与计分，目标卡由请求指定。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00300"/>
            <a:ext cx="9334500" cy="1524000"/>
          </a:xfrm>
          <a:prstGeom prst="rect">
            <a:avLst/>
          </a:prstGeom>
          <a:solidFill>
            <a:srgbClr val="FFFFFF"/>
          </a:solidFill>
          <a:ln w="889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7700" y="2590800"/>
            <a:ext cx="323850" cy="266700"/>
          </a:xfrm>
          <a:prstGeom prst="rect">
            <a:avLst/>
          </a:prstGeom>
          <a:solidFill>
            <a:srgbClr val="2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02"/>
          <p:cNvSpPr txBox="1"/>
          <p:nvPr/>
        </p:nvSpPr>
        <p:spPr>
          <a:xfrm>
            <a:off x="647700" y="2619375"/>
            <a:ext cx="32385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350" b="1" lang="zh-CN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4" name="关键观察与设计依据"/>
          <p:cNvSpPr txBox="1"/>
          <p:nvPr/>
        </p:nvSpPr>
        <p:spPr>
          <a:xfrm>
            <a:off x="1085850" y="2571750"/>
            <a:ext cx="851535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 lang="zh-CN">
                <a:solidFill>
                  <a:srgbClr val="245DA0"/>
                </a:solidFill>
                <a:latin typeface="Microsoft YaHei"/>
                <a:ea typeface="Microsoft YaHei"/>
              </a:rPr>
              <a:t>关键观察与设计依据</a:t>
            </a:r>
          </a:p>
        </p:txBody>
      </p:sp>
      <p:sp>
        <p:nvSpPr>
          <p:cNvPr id="15" name="合并的收益与代价"/>
          <p:cNvSpPr txBox="1"/>
          <p:nvPr/>
        </p:nvSpPr>
        <p:spPr>
          <a:xfrm>
            <a:off x="647700" y="2952750"/>
            <a:ext cx="285750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1" lang="zh-CN">
                <a:solidFill>
                  <a:srgbClr val="245DA0"/>
                </a:solidFill>
                <a:latin typeface="Microsoft YaHei"/>
                <a:ea typeface="Microsoft YaHei"/>
              </a:rPr>
              <a:t>合并的收益与代价</a:t>
            </a:r>
          </a:p>
        </p:txBody>
      </p:sp>
      <p:sp>
        <p:nvSpPr>
          <p:cNvPr id="16" name="少调用、共享重叠读取； 也改变并发与缓冲占用。"/>
          <p:cNvSpPr txBox="1"/>
          <p:nvPr/>
        </p:nvSpPr>
        <p:spPr>
          <a:xfrm>
            <a:off x="647700" y="3257550"/>
            <a:ext cx="2857500" cy="4572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少调用、共享重叠读取；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也改变并发与缓冲占用。</a:t>
            </a:r>
          </a:p>
        </p:txBody>
      </p:sp>
      <p:sp>
        <p:nvSpPr>
          <p:cNvPr id="17" name="路径与分组相互影响"/>
          <p:cNvSpPr txBox="1"/>
          <p:nvPr/>
        </p:nvSpPr>
        <p:spPr>
          <a:xfrm>
            <a:off x="3695700" y="2952750"/>
            <a:ext cx="285750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1" lang="zh-CN">
                <a:solidFill>
                  <a:srgbClr val="245DA0"/>
                </a:solidFill>
                <a:latin typeface="Microsoft YaHei"/>
                <a:ea typeface="Microsoft YaHei"/>
              </a:rPr>
              <a:t>路径与分组相互影响</a:t>
            </a:r>
          </a:p>
        </p:txBody>
      </p:sp>
      <p:sp>
        <p:nvSpPr>
          <p:cNvPr id="18" name="同组可有多条合法路径； 调用、复制和池需求不同。"/>
          <p:cNvSpPr txBox="1"/>
          <p:nvPr/>
        </p:nvSpPr>
        <p:spPr>
          <a:xfrm>
            <a:off x="3695700" y="3257550"/>
            <a:ext cx="2857500" cy="4572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同组可有多条合法路径；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调用、复制和池需求不同。</a:t>
            </a:r>
          </a:p>
        </p:txBody>
      </p:sp>
      <p:sp>
        <p:nvSpPr>
          <p:cNvPr id="19" name="缓存需要收回投入"/>
          <p:cNvSpPr txBox="1"/>
          <p:nvPr/>
        </p:nvSpPr>
        <p:spPr>
          <a:xfrm>
            <a:off x="6743700" y="2952750"/>
            <a:ext cx="285750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1" lang="zh-CN">
                <a:solidFill>
                  <a:srgbClr val="176F68"/>
                </a:solidFill>
                <a:latin typeface="Microsoft YaHei"/>
                <a:ea typeface="Microsoft YaHei"/>
              </a:rPr>
              <a:t>缓存需要收回投入</a:t>
            </a:r>
          </a:p>
        </p:txBody>
      </p:sp>
      <p:sp>
        <p:nvSpPr>
          <p:cNvPr id="20" name="提升和命中均有搬运成本； 投入依靠后续复用收回。"/>
          <p:cNvSpPr txBox="1"/>
          <p:nvPr/>
        </p:nvSpPr>
        <p:spPr>
          <a:xfrm>
            <a:off x="6743700" y="3257550"/>
            <a:ext cx="2857500" cy="4572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提升和命中均有搬运成本；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投入依靠后续复用收回。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05200" y="3000375"/>
            <a:ext cx="0" cy="657225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553200" y="3000375"/>
            <a:ext cx="0" cy="657225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57200" y="4019549"/>
            <a:ext cx="9334500" cy="3219450"/>
          </a:xfrm>
          <a:prstGeom prst="rect">
            <a:avLst/>
          </a:prstGeom>
          <a:solidFill>
            <a:srgbClr val="FFFFFF"/>
          </a:solidFill>
          <a:ln w="889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7700" y="4210050"/>
            <a:ext cx="323850" cy="266700"/>
          </a:xfrm>
          <a:prstGeom prst="rect">
            <a:avLst/>
          </a:prstGeom>
          <a:solidFill>
            <a:srgbClr val="2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03"/>
          <p:cNvSpPr txBox="1"/>
          <p:nvPr/>
        </p:nvSpPr>
        <p:spPr>
          <a:xfrm>
            <a:off x="647700" y="4238625"/>
            <a:ext cx="32385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350" b="1" lang="zh-CN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6" name="前台：联合选择分组边界与路径"/>
          <p:cNvSpPr txBox="1"/>
          <p:nvPr/>
        </p:nvSpPr>
        <p:spPr>
          <a:xfrm>
            <a:off x="1085850" y="4190999"/>
            <a:ext cx="851535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 lang="zh-CN">
                <a:solidFill>
                  <a:srgbClr val="245DA0"/>
                </a:solidFill>
                <a:latin typeface="Microsoft YaHei"/>
                <a:ea typeface="Microsoft YaHei"/>
              </a:rPr>
              <a:t>前台：联合选择分组边界与路径</a:t>
            </a:r>
          </a:p>
        </p:txBody>
      </p:sp>
      <p:sp>
        <p:nvSpPr>
          <p:cNvPr id="27" name="on_submit()"/>
          <p:cNvSpPr txBox="1"/>
          <p:nvPr/>
        </p:nvSpPr>
        <p:spPr>
          <a:xfrm>
            <a:off x="7924799" y="4257675"/>
            <a:ext cx="16764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627286"/>
                </a:solidFill>
                <a:latin typeface="Microsoft YaHei"/>
                <a:ea typeface="Microsoft YaHei"/>
              </a:rPr>
              <a:t>on_submit()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7700" y="4619625"/>
            <a:ext cx="2076450" cy="609600"/>
          </a:xfrm>
          <a:prstGeom prst="rect">
            <a:avLst/>
          </a:prstGeom>
          <a:solidFill>
            <a:srgbClr val="ED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索引与合法切块"/>
          <p:cNvSpPr txBox="1"/>
          <p:nvPr/>
        </p:nvSpPr>
        <p:spPr>
          <a:xfrm>
            <a:off x="752475" y="4695825"/>
            <a:ext cx="1866899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1" lang="zh-CN">
                <a:solidFill>
                  <a:srgbClr val="245DA0"/>
                </a:solidFill>
                <a:latin typeface="Microsoft YaHei"/>
                <a:ea typeface="Microsoft YaHei"/>
              </a:rPr>
              <a:t>索引与合法切块</a:t>
            </a:r>
          </a:p>
        </p:txBody>
      </p:sp>
      <p:sp>
        <p:nvSpPr>
          <p:cNvPr id="30" name="IovIndex / Piece"/>
          <p:cNvSpPr txBox="1"/>
          <p:nvPr/>
        </p:nvSpPr>
        <p:spPr>
          <a:xfrm>
            <a:off x="752475" y="4972050"/>
            <a:ext cx="1866899" cy="200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1F2937"/>
                </a:solidFill>
                <a:latin typeface="Microsoft YaHei"/>
                <a:ea typeface="Microsoft YaHei"/>
              </a:rPr>
              <a:t>IovIndex / Piece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752725" y="4886325"/>
            <a:ext cx="152400" cy="0"/>
          </a:xfrm>
          <a:prstGeom prst="line">
            <a:avLst/>
          </a:prstGeom>
          <a:ln w="16510">
            <a:solidFill>
              <a:srgbClr val="245DA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2933700" y="4619625"/>
            <a:ext cx="2076450" cy="609600"/>
          </a:xfrm>
          <a:prstGeom prst="rect">
            <a:avLst/>
          </a:prstGeom>
          <a:solidFill>
            <a:srgbClr val="ED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按卡与地址排序"/>
          <p:cNvSpPr txBox="1"/>
          <p:nvPr/>
        </p:nvSpPr>
        <p:spPr>
          <a:xfrm>
            <a:off x="3038475" y="4695825"/>
            <a:ext cx="1866899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1" lang="zh-CN">
                <a:solidFill>
                  <a:srgbClr val="245DA0"/>
                </a:solidFill>
                <a:latin typeface="Microsoft YaHei"/>
                <a:ea typeface="Microsoft YaHei"/>
              </a:rPr>
              <a:t>按卡与地址排序</a:t>
            </a:r>
          </a:p>
        </p:txBody>
      </p:sp>
      <p:sp>
        <p:nvSpPr>
          <p:cNvPr id="34" name="枚举同卡相连候选"/>
          <p:cNvSpPr txBox="1"/>
          <p:nvPr/>
        </p:nvSpPr>
        <p:spPr>
          <a:xfrm>
            <a:off x="3038475" y="4972050"/>
            <a:ext cx="1866899" cy="200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1F2937"/>
                </a:solidFill>
                <a:latin typeface="Microsoft YaHei"/>
                <a:ea typeface="Microsoft YaHei"/>
              </a:rPr>
              <a:t>枚举同卡相连候选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038725" y="4886325"/>
            <a:ext cx="152400" cy="0"/>
          </a:xfrm>
          <a:prstGeom prst="line">
            <a:avLst/>
          </a:prstGeom>
          <a:ln w="16510">
            <a:solidFill>
              <a:srgbClr val="245DA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219700" y="4619625"/>
            <a:ext cx="2076450" cy="609600"/>
          </a:xfrm>
          <a:prstGeom prst="rect">
            <a:avLst/>
          </a:prstGeom>
          <a:solidFill>
            <a:srgbClr val="ED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分组与路径估价"/>
          <p:cNvSpPr txBox="1"/>
          <p:nvPr/>
        </p:nvSpPr>
        <p:spPr>
          <a:xfrm>
            <a:off x="5324475" y="4695825"/>
            <a:ext cx="1866899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1" lang="zh-CN">
                <a:solidFill>
                  <a:srgbClr val="245DA0"/>
                </a:solidFill>
                <a:latin typeface="Microsoft YaHei"/>
                <a:ea typeface="Microsoft YaHei"/>
              </a:rPr>
              <a:t>分组与路径估价</a:t>
            </a:r>
          </a:p>
        </p:txBody>
      </p:sp>
      <p:sp>
        <p:nvSpPr>
          <p:cNvPr id="38" name="比较合法搬运路径"/>
          <p:cNvSpPr txBox="1"/>
          <p:nvPr/>
        </p:nvSpPr>
        <p:spPr>
          <a:xfrm>
            <a:off x="5324475" y="4972050"/>
            <a:ext cx="1866899" cy="200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1F2937"/>
                </a:solidFill>
                <a:latin typeface="Microsoft YaHei"/>
                <a:ea typeface="Microsoft YaHei"/>
              </a:rPr>
              <a:t>比较合法搬运路径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324724" y="4886325"/>
            <a:ext cx="152401" cy="0"/>
          </a:xfrm>
          <a:prstGeom prst="line">
            <a:avLst/>
          </a:prstGeom>
          <a:ln w="16510">
            <a:solidFill>
              <a:srgbClr val="245DA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7505700" y="4619625"/>
            <a:ext cx="2076450" cy="609600"/>
          </a:xfrm>
          <a:prstGeom prst="rect">
            <a:avLst/>
          </a:prstGeom>
          <a:solidFill>
            <a:srgbClr val="ED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回溯、提交一份计划"/>
          <p:cNvSpPr txBox="1"/>
          <p:nvPr/>
        </p:nvSpPr>
        <p:spPr>
          <a:xfrm>
            <a:off x="7610474" y="4695825"/>
            <a:ext cx="1866899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1" lang="zh-CN">
                <a:solidFill>
                  <a:srgbClr val="245DA0"/>
                </a:solidFill>
                <a:latin typeface="Microsoft YaHei"/>
                <a:ea typeface="Microsoft YaHei"/>
              </a:rPr>
              <a:t>回溯、提交一份计划</a:t>
            </a:r>
          </a:p>
        </p:txBody>
      </p:sp>
      <p:sp>
        <p:nvSpPr>
          <p:cNvPr id="42" name="operation → Work"/>
          <p:cNvSpPr txBox="1"/>
          <p:nvPr/>
        </p:nvSpPr>
        <p:spPr>
          <a:xfrm>
            <a:off x="7610474" y="4972050"/>
            <a:ext cx="1866899" cy="200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1F2937"/>
                </a:solidFill>
                <a:latin typeface="Microsoft YaHei"/>
                <a:ea typeface="Microsoft YaHei"/>
              </a:rPr>
              <a:t>operation → Work</a:t>
            </a:r>
          </a:p>
        </p:txBody>
      </p:sp>
      <p:sp>
        <p:nvSpPr>
          <p:cNvPr id="43" name="先切合法片段，再由 DP 分组；保留目标映射，检查对齐、容量与槽位，内部切点对齐。"/>
          <p:cNvSpPr txBox="1"/>
          <p:nvPr/>
        </p:nvSpPr>
        <p:spPr>
          <a:xfrm>
            <a:off x="647700" y="5257800"/>
            <a:ext cx="895350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先切合法片段，再由 DP 分组；保留目标映射，检查对齐、容量与槽位，内部切点对齐。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7700" y="5610225"/>
            <a:ext cx="8953500" cy="409575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 = 时间单价 ×（SSD 读工作 + 复制工作）× 池压力 + 调用费"/>
          <p:cNvSpPr txBox="1"/>
          <p:nvPr/>
        </p:nvSpPr>
        <p:spPr>
          <a:xfrm>
            <a:off x="781050" y="5686425"/>
            <a:ext cx="868680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1" lang="zh-CN">
                <a:solidFill>
                  <a:srgbClr val="245DA0"/>
                </a:solidFill>
                <a:latin typeface="Microsoft YaHei"/>
                <a:ea typeface="Microsoft YaHei"/>
              </a:rPr>
              <a:t>E = 时间单价 ×（SSD 读工作 + 复制工作）× 池压力 + 调用费</a:t>
            </a:r>
          </a:p>
        </p:txBody>
      </p:sp>
      <p:sp>
        <p:nvSpPr>
          <p:cNvPr id="46" name="快速 DP · 每批执行"/>
          <p:cNvSpPr txBox="1"/>
          <p:nvPr/>
        </p:nvSpPr>
        <p:spPr>
          <a:xfrm>
            <a:off x="647700" y="6115050"/>
            <a:ext cx="43815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1" lang="zh-CN">
                <a:solidFill>
                  <a:srgbClr val="245DA0"/>
                </a:solidFill>
                <a:latin typeface="Microsoft YaHei"/>
                <a:ea typeface="Microsoft YaHei"/>
              </a:rPr>
              <a:t>快速 DP · 每批执行</a:t>
            </a:r>
          </a:p>
        </p:txBody>
      </p:sp>
      <p:sp>
        <p:nvSpPr>
          <p:cNvPr id="47" name="dp[j]：前 j 段最低估价，输出一份基础方案。"/>
          <p:cNvSpPr txBox="1"/>
          <p:nvPr/>
        </p:nvSpPr>
        <p:spPr>
          <a:xfrm>
            <a:off x="647700" y="6457950"/>
            <a:ext cx="4381500" cy="247649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dp[j]：前 j 段最低估价，输出一份基础方案。</a:t>
            </a:r>
          </a:p>
        </p:txBody>
      </p:sp>
      <p:sp>
        <p:nvSpPr>
          <p:cNvPr id="48" name="细化 DP · 空闲且规模可控"/>
          <p:cNvSpPr txBox="1"/>
          <p:nvPr/>
        </p:nvSpPr>
        <p:spPr>
          <a:xfrm>
            <a:off x="5219700" y="6115050"/>
            <a:ext cx="43815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1" lang="zh-CN">
                <a:solidFill>
                  <a:srgbClr val="245DA0"/>
                </a:solidFill>
                <a:latin typeface="Microsoft YaHei"/>
                <a:ea typeface="Microsoft YaHei"/>
              </a:rPr>
              <a:t>细化 DP · 空闲且规模可控</a:t>
            </a:r>
          </a:p>
        </p:txBody>
      </p:sp>
      <p:sp>
        <p:nvSpPr>
          <p:cNvPr id="49" name="D[h][j]：前 j 段恰好 h 组，重估并发。"/>
          <p:cNvSpPr txBox="1"/>
          <p:nvPr/>
        </p:nvSpPr>
        <p:spPr>
          <a:xfrm>
            <a:off x="5219700" y="6457950"/>
            <a:ext cx="4381500" cy="247649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D[h][j]：前 j 段恰好 h 组，重估并发。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029200" y="6115050"/>
            <a:ext cx="0" cy="57150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细化从原片段重划分，参考基础复制分布；资源检查后只提交一份，无合格结果则保留快速方案。"/>
          <p:cNvSpPr txBox="1"/>
          <p:nvPr/>
        </p:nvSpPr>
        <p:spPr>
          <a:xfrm>
            <a:off x="647700" y="6800850"/>
            <a:ext cx="895350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627286"/>
                </a:solidFill>
                <a:latin typeface="Microsoft YaHei"/>
                <a:ea typeface="Microsoft YaHei"/>
              </a:rPr>
              <a:t>细化从原片段重划分，参考基础复制分布；资源检查后只提交一份，无合格结果则保留快速方案。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7334250"/>
            <a:ext cx="9334500" cy="1733550"/>
          </a:xfrm>
          <a:prstGeom prst="rect">
            <a:avLst/>
          </a:prstGeom>
          <a:solidFill>
            <a:srgbClr val="FFFFFF"/>
          </a:solidFill>
          <a:ln w="889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47700" y="7524749"/>
            <a:ext cx="323850" cy="266700"/>
          </a:xfrm>
          <a:prstGeom prst="rect">
            <a:avLst/>
          </a:prstGeom>
          <a:solidFill>
            <a:srgbClr val="176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04"/>
          <p:cNvSpPr txBox="1"/>
          <p:nvPr/>
        </p:nvSpPr>
        <p:spPr>
          <a:xfrm>
            <a:off x="647700" y="7553324"/>
            <a:ext cx="32385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350" b="1" lang="zh-CN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55" name="后台：有条件地投入未来复用"/>
          <p:cNvSpPr txBox="1"/>
          <p:nvPr/>
        </p:nvSpPr>
        <p:spPr>
          <a:xfrm>
            <a:off x="1085850" y="7505700"/>
            <a:ext cx="851535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 lang="zh-CN">
                <a:solidFill>
                  <a:srgbClr val="176F68"/>
                </a:solidFill>
                <a:latin typeface="Microsoft YaHei"/>
                <a:ea typeface="Microsoft YaHei"/>
              </a:rPr>
              <a:t>后台：有条件地投入未来复用</a:t>
            </a:r>
          </a:p>
        </p:txBody>
      </p:sp>
      <p:sp>
        <p:nvSpPr>
          <p:cNvPr id="56" name="on_iocb_complete()"/>
          <p:cNvSpPr txBox="1"/>
          <p:nvPr/>
        </p:nvSpPr>
        <p:spPr>
          <a:xfrm>
            <a:off x="6915150" y="7572375"/>
            <a:ext cx="26860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627286"/>
                </a:solidFill>
                <a:latin typeface="Microsoft YaHei"/>
                <a:ea typeface="Microsoft YaHei"/>
              </a:rPr>
              <a:t>on_iocb_complete()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7700" y="7934325"/>
            <a:ext cx="8953500" cy="40957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完成 → 去重 → 复用证据 → 正净收益 → 预算覆盖 → PROMOTE"/>
          <p:cNvSpPr txBox="1"/>
          <p:nvPr/>
        </p:nvSpPr>
        <p:spPr>
          <a:xfrm>
            <a:off x="781050" y="8001000"/>
            <a:ext cx="8686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 lang="zh-CN">
                <a:solidFill>
                  <a:srgbClr val="176F68"/>
                </a:solidFill>
                <a:latin typeface="Microsoft YaHei"/>
                <a:ea typeface="Microsoft YaHei"/>
              </a:rPr>
              <a:t>完成 → 去重 → 复用证据 → 正净收益 → 预算覆盖 → PROMOTE</a:t>
            </a:r>
          </a:p>
        </p:txBody>
      </p:sp>
      <p:sp>
        <p:nvSpPr>
          <p:cNvPr id="59" name="History：间隔 / 时效 / 预算    Work：可替代成本    在途键集合：去重"/>
          <p:cNvSpPr txBox="1"/>
          <p:nvPr/>
        </p:nvSpPr>
        <p:spPr>
          <a:xfrm>
            <a:off x="647700" y="8410575"/>
            <a:ext cx="895350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History：间隔 / 时效 / 预算    Work：可替代成本    在途键集合：去重</a:t>
            </a:r>
          </a:p>
        </p:txBody>
      </p:sp>
      <p:sp>
        <p:nvSpPr>
          <p:cNvPr id="60" name="复用间隔与证据年龄均 &lt; TTL；池满可替换，压力越大门槛越高。"/>
          <p:cNvSpPr txBox="1"/>
          <p:nvPr/>
        </p:nvSpPr>
        <p:spPr>
          <a:xfrm>
            <a:off x="647700" y="8724900"/>
            <a:ext cx="89535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1F2937"/>
                </a:solidFill>
                <a:latin typeface="Microsoft YaHei"/>
                <a:ea typeface="Microsoft YaHei"/>
              </a:rPr>
              <a:t>复用间隔与证据年龄均 &lt; TTL；池满可替换，压力越大门槛越高。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020300" y="2400300"/>
            <a:ext cx="4762500" cy="4838700"/>
          </a:xfrm>
          <a:prstGeom prst="rect">
            <a:avLst/>
          </a:prstGeom>
          <a:solidFill>
            <a:srgbClr val="FFFFFF"/>
          </a:solidFill>
          <a:ln w="889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210800" y="2590800"/>
            <a:ext cx="323850" cy="266700"/>
          </a:xfrm>
          <a:prstGeom prst="rect">
            <a:avLst/>
          </a:prstGeom>
          <a:solidFill>
            <a:srgbClr val="176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05"/>
          <p:cNvSpPr txBox="1"/>
          <p:nvPr/>
        </p:nvSpPr>
        <p:spPr>
          <a:xfrm>
            <a:off x="10210800" y="2619375"/>
            <a:ext cx="32385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350" b="1" lang="zh-CN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64" name="性能结果"/>
          <p:cNvSpPr txBox="1"/>
          <p:nvPr/>
        </p:nvSpPr>
        <p:spPr>
          <a:xfrm>
            <a:off x="10648950" y="2571750"/>
            <a:ext cx="394335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 lang="zh-CN">
                <a:solidFill>
                  <a:srgbClr val="176F68"/>
                </a:solidFill>
                <a:latin typeface="Microsoft YaHei"/>
                <a:ea typeface="Microsoft YaHei"/>
              </a:rPr>
              <a:t>性能结果</a:t>
            </a:r>
          </a:p>
        </p:txBody>
      </p:sp>
      <p:sp>
        <p:nvSpPr>
          <p:cNvPr id="65" name="39 条公开 Trace 累计 · 官方贪心 → 本方案"/>
          <p:cNvSpPr txBox="1"/>
          <p:nvPr/>
        </p:nvSpPr>
        <p:spPr>
          <a:xfrm>
            <a:off x="10210800" y="2933700"/>
            <a:ext cx="43815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0" lang="zh-CN">
                <a:solidFill>
                  <a:srgbClr val="627286"/>
                </a:solidFill>
                <a:latin typeface="Microsoft YaHei"/>
                <a:ea typeface="Microsoft YaHei"/>
              </a:rPr>
              <a:t>39 条公开 Trace 累计 · 官方贪心 → 本方案</a:t>
            </a:r>
          </a:p>
        </p:txBody>
      </p:sp>
      <p:sp>
        <p:nvSpPr>
          <p:cNvPr id="66" name="总成本 J"/>
          <p:cNvSpPr txBox="1"/>
          <p:nvPr/>
        </p:nvSpPr>
        <p:spPr>
          <a:xfrm>
            <a:off x="10210800" y="3267075"/>
            <a:ext cx="23241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 lang="zh-CN">
                <a:solidFill>
                  <a:srgbClr val="1F2937"/>
                </a:solidFill>
                <a:latin typeface="Microsoft YaHei"/>
                <a:ea typeface="Microsoft YaHei"/>
              </a:rPr>
              <a:t>总成本 J</a:t>
            </a:r>
          </a:p>
        </p:txBody>
      </p:sp>
      <p:sp>
        <p:nvSpPr>
          <p:cNvPr id="67" name="↓ 36.51%"/>
          <p:cNvSpPr txBox="1"/>
          <p:nvPr/>
        </p:nvSpPr>
        <p:spPr>
          <a:xfrm>
            <a:off x="12573000" y="3267075"/>
            <a:ext cx="20193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1950" b="1" lang="zh-CN">
                <a:solidFill>
                  <a:srgbClr val="176F68"/>
                </a:solidFill>
                <a:latin typeface="Microsoft YaHei"/>
                <a:ea typeface="Microsoft YaHei"/>
              </a:rPr>
              <a:t>↓ 36.51%</a:t>
            </a:r>
          </a:p>
        </p:txBody>
      </p:sp>
      <p:sp>
        <p:nvSpPr>
          <p:cNvPr id="68" name="贪心"/>
          <p:cNvSpPr txBox="1"/>
          <p:nvPr/>
        </p:nvSpPr>
        <p:spPr>
          <a:xfrm>
            <a:off x="10210800" y="3638550"/>
            <a:ext cx="666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627286"/>
                </a:solidFill>
                <a:latin typeface="Microsoft YaHei"/>
                <a:ea typeface="Microsoft YaHei"/>
              </a:rPr>
              <a:t>贪心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963275" y="3695700"/>
            <a:ext cx="2190750" cy="123824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3,581,641"/>
          <p:cNvSpPr txBox="1"/>
          <p:nvPr/>
        </p:nvSpPr>
        <p:spPr>
          <a:xfrm>
            <a:off x="13287375" y="3629025"/>
            <a:ext cx="1304925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1725" b="1" lang="zh-CN">
                <a:solidFill>
                  <a:srgbClr val="627286"/>
                </a:solidFill>
                <a:latin typeface="Microsoft YaHei"/>
                <a:ea typeface="Microsoft YaHei"/>
              </a:rPr>
              <a:t>3,581,641</a:t>
            </a:r>
          </a:p>
        </p:txBody>
      </p:sp>
      <p:sp>
        <p:nvSpPr>
          <p:cNvPr id="71" name="本方案"/>
          <p:cNvSpPr txBox="1"/>
          <p:nvPr/>
        </p:nvSpPr>
        <p:spPr>
          <a:xfrm>
            <a:off x="10210800" y="3924300"/>
            <a:ext cx="666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176F68"/>
                </a:solidFill>
                <a:latin typeface="Microsoft YaHei"/>
                <a:ea typeface="Microsoft YaHei"/>
              </a:rPr>
              <a:t>本方案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963275" y="3981450"/>
            <a:ext cx="1390839" cy="123824"/>
          </a:xfrm>
          <a:prstGeom prst="rect">
            <a:avLst/>
          </a:prstGeom>
          <a:solidFill>
            <a:srgbClr val="176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2,273,874"/>
          <p:cNvSpPr txBox="1"/>
          <p:nvPr/>
        </p:nvSpPr>
        <p:spPr>
          <a:xfrm>
            <a:off x="13287375" y="3914775"/>
            <a:ext cx="1304925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1725" b="1" lang="zh-CN">
                <a:solidFill>
                  <a:srgbClr val="176F68"/>
                </a:solidFill>
                <a:latin typeface="Microsoft YaHei"/>
                <a:ea typeface="Microsoft YaHei"/>
              </a:rPr>
              <a:t>2,273,874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10210800" y="4324350"/>
            <a:ext cx="43815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前台调用费"/>
          <p:cNvSpPr txBox="1"/>
          <p:nvPr/>
        </p:nvSpPr>
        <p:spPr>
          <a:xfrm>
            <a:off x="10210800" y="4400550"/>
            <a:ext cx="23241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 lang="zh-CN">
                <a:solidFill>
                  <a:srgbClr val="1F2937"/>
                </a:solidFill>
                <a:latin typeface="Microsoft YaHei"/>
                <a:ea typeface="Microsoft YaHei"/>
              </a:rPr>
              <a:t>前台调用费</a:t>
            </a:r>
          </a:p>
        </p:txBody>
      </p:sp>
      <p:sp>
        <p:nvSpPr>
          <p:cNvPr id="76" name="↓ 66.82%"/>
          <p:cNvSpPr txBox="1"/>
          <p:nvPr/>
        </p:nvSpPr>
        <p:spPr>
          <a:xfrm>
            <a:off x="12573000" y="4400550"/>
            <a:ext cx="20193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1950" b="1" lang="zh-CN">
                <a:solidFill>
                  <a:srgbClr val="176F68"/>
                </a:solidFill>
                <a:latin typeface="Microsoft YaHei"/>
                <a:ea typeface="Microsoft YaHei"/>
              </a:rPr>
              <a:t>↓ 66.82%</a:t>
            </a:r>
          </a:p>
        </p:txBody>
      </p:sp>
      <p:sp>
        <p:nvSpPr>
          <p:cNvPr id="77" name="贪心"/>
          <p:cNvSpPr txBox="1"/>
          <p:nvPr/>
        </p:nvSpPr>
        <p:spPr>
          <a:xfrm>
            <a:off x="10210800" y="4772025"/>
            <a:ext cx="666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627286"/>
                </a:solidFill>
                <a:latin typeface="Microsoft YaHei"/>
                <a:ea typeface="Microsoft YaHei"/>
              </a:rPr>
              <a:t>贪心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963275" y="4829175"/>
            <a:ext cx="2190750" cy="123824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610,928"/>
          <p:cNvSpPr txBox="1"/>
          <p:nvPr/>
        </p:nvSpPr>
        <p:spPr>
          <a:xfrm>
            <a:off x="13287375" y="4762500"/>
            <a:ext cx="1304925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1725" b="1" lang="zh-CN">
                <a:solidFill>
                  <a:srgbClr val="627286"/>
                </a:solidFill>
                <a:latin typeface="Microsoft YaHei"/>
                <a:ea typeface="Microsoft YaHei"/>
              </a:rPr>
              <a:t>610,928</a:t>
            </a:r>
          </a:p>
        </p:txBody>
      </p:sp>
      <p:sp>
        <p:nvSpPr>
          <p:cNvPr id="80" name="本方案"/>
          <p:cNvSpPr txBox="1"/>
          <p:nvPr/>
        </p:nvSpPr>
        <p:spPr>
          <a:xfrm>
            <a:off x="10210800" y="5057775"/>
            <a:ext cx="666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176F68"/>
                </a:solidFill>
                <a:latin typeface="Microsoft YaHei"/>
                <a:ea typeface="Microsoft YaHei"/>
              </a:rPr>
              <a:t>本方案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963275" y="5114925"/>
            <a:ext cx="726980" cy="123824"/>
          </a:xfrm>
          <a:prstGeom prst="rect">
            <a:avLst/>
          </a:prstGeom>
          <a:solidFill>
            <a:srgbClr val="176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202,731"/>
          <p:cNvSpPr txBox="1"/>
          <p:nvPr/>
        </p:nvSpPr>
        <p:spPr>
          <a:xfrm>
            <a:off x="13287375" y="5048250"/>
            <a:ext cx="1304925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1725" b="1" lang="zh-CN">
                <a:solidFill>
                  <a:srgbClr val="176F68"/>
                </a:solidFill>
                <a:latin typeface="Microsoft YaHei"/>
                <a:ea typeface="Microsoft YaHei"/>
              </a:rPr>
              <a:t>202,731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10210800" y="5457825"/>
            <a:ext cx="43815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后台调用费"/>
          <p:cNvSpPr txBox="1"/>
          <p:nvPr/>
        </p:nvSpPr>
        <p:spPr>
          <a:xfrm>
            <a:off x="10210800" y="5534025"/>
            <a:ext cx="23241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 lang="zh-CN">
                <a:solidFill>
                  <a:srgbClr val="1F2937"/>
                </a:solidFill>
                <a:latin typeface="Microsoft YaHei"/>
                <a:ea typeface="Microsoft YaHei"/>
              </a:rPr>
              <a:t>后台调用费</a:t>
            </a:r>
          </a:p>
        </p:txBody>
      </p:sp>
      <p:sp>
        <p:nvSpPr>
          <p:cNvPr id="85" name="↓ 94.84%"/>
          <p:cNvSpPr txBox="1"/>
          <p:nvPr/>
        </p:nvSpPr>
        <p:spPr>
          <a:xfrm>
            <a:off x="12573000" y="5534025"/>
            <a:ext cx="20193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1950" b="1" lang="zh-CN">
                <a:solidFill>
                  <a:srgbClr val="176F68"/>
                </a:solidFill>
                <a:latin typeface="Microsoft YaHei"/>
                <a:ea typeface="Microsoft YaHei"/>
              </a:rPr>
              <a:t>↓ 94.84%</a:t>
            </a:r>
          </a:p>
        </p:txBody>
      </p:sp>
      <p:sp>
        <p:nvSpPr>
          <p:cNvPr id="86" name="贪心"/>
          <p:cNvSpPr txBox="1"/>
          <p:nvPr/>
        </p:nvSpPr>
        <p:spPr>
          <a:xfrm>
            <a:off x="10210800" y="5905500"/>
            <a:ext cx="666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627286"/>
                </a:solidFill>
                <a:latin typeface="Microsoft YaHei"/>
                <a:ea typeface="Microsoft YaHei"/>
              </a:rPr>
              <a:t>贪心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963275" y="5962650"/>
            <a:ext cx="2190750" cy="123824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804,656"/>
          <p:cNvSpPr txBox="1"/>
          <p:nvPr/>
        </p:nvSpPr>
        <p:spPr>
          <a:xfrm>
            <a:off x="13287375" y="5895975"/>
            <a:ext cx="1304925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1725" b="1" lang="zh-CN">
                <a:solidFill>
                  <a:srgbClr val="627286"/>
                </a:solidFill>
                <a:latin typeface="Microsoft YaHei"/>
                <a:ea typeface="Microsoft YaHei"/>
              </a:rPr>
              <a:t>804,656</a:t>
            </a:r>
          </a:p>
        </p:txBody>
      </p:sp>
      <p:sp>
        <p:nvSpPr>
          <p:cNvPr id="89" name="本方案"/>
          <p:cNvSpPr txBox="1"/>
          <p:nvPr/>
        </p:nvSpPr>
        <p:spPr>
          <a:xfrm>
            <a:off x="10210800" y="6191250"/>
            <a:ext cx="666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176F68"/>
                </a:solidFill>
                <a:latin typeface="Microsoft YaHei"/>
                <a:ea typeface="Microsoft YaHei"/>
              </a:rPr>
              <a:t>本方案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963275" y="6248400"/>
            <a:ext cx="112938" cy="123824"/>
          </a:xfrm>
          <a:prstGeom prst="rect">
            <a:avLst/>
          </a:prstGeom>
          <a:solidFill>
            <a:srgbClr val="176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41,482"/>
          <p:cNvSpPr txBox="1"/>
          <p:nvPr/>
        </p:nvSpPr>
        <p:spPr>
          <a:xfrm>
            <a:off x="13287375" y="6181725"/>
            <a:ext cx="1304925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1725" b="1" lang="zh-CN">
                <a:solidFill>
                  <a:srgbClr val="176F68"/>
                </a:solidFill>
                <a:latin typeface="Microsoft YaHei"/>
                <a:ea typeface="Microsoft YaHei"/>
              </a:rPr>
              <a:t>41,482</a:t>
            </a:r>
          </a:p>
        </p:txBody>
      </p:sp>
      <p:sp>
        <p:nvSpPr>
          <p:cNvPr id="92" name="命中均摊费  19.71 → 4.94"/>
          <p:cNvSpPr txBox="1"/>
          <p:nvPr/>
        </p:nvSpPr>
        <p:spPr>
          <a:xfrm>
            <a:off x="10210800" y="6572250"/>
            <a:ext cx="438150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650" b="1" lang="zh-CN">
                <a:solidFill>
                  <a:srgbClr val="176F68"/>
                </a:solidFill>
                <a:latin typeface="Microsoft YaHei"/>
                <a:ea typeface="Microsoft YaHei"/>
              </a:rPr>
              <a:t>命中均摊费  19.71 → 4.94</a:t>
            </a:r>
          </a:p>
        </p:txBody>
      </p:sp>
      <p:sp>
        <p:nvSpPr>
          <p:cNvPr id="93" name="总后台调用费 ÷ 总命中数，含提升投入"/>
          <p:cNvSpPr txBox="1"/>
          <p:nvPr/>
        </p:nvSpPr>
        <p:spPr>
          <a:xfrm>
            <a:off x="10210800" y="6896100"/>
            <a:ext cx="43815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 lang="zh-CN">
                <a:solidFill>
                  <a:srgbClr val="627286"/>
                </a:solidFill>
                <a:latin typeface="Microsoft YaHei"/>
                <a:ea typeface="Microsoft YaHei"/>
              </a:rPr>
              <a:t>总后台调用费 ÷ 总命中数，含提升投入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020300" y="7334250"/>
            <a:ext cx="4762500" cy="1733550"/>
          </a:xfrm>
          <a:prstGeom prst="rect">
            <a:avLst/>
          </a:prstGeom>
          <a:solidFill>
            <a:srgbClr val="FFFFFF"/>
          </a:solidFill>
          <a:ln w="889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210800" y="7524749"/>
            <a:ext cx="323850" cy="266700"/>
          </a:xfrm>
          <a:prstGeom prst="rect">
            <a:avLst/>
          </a:prstGeom>
          <a:solidFill>
            <a:srgbClr val="2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06"/>
          <p:cNvSpPr txBox="1"/>
          <p:nvPr/>
        </p:nvSpPr>
        <p:spPr>
          <a:xfrm>
            <a:off x="10210800" y="7553324"/>
            <a:ext cx="32385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350" b="1" lang="zh-CN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97" name="复杂度与资源开销"/>
          <p:cNvSpPr txBox="1"/>
          <p:nvPr/>
        </p:nvSpPr>
        <p:spPr>
          <a:xfrm>
            <a:off x="10648950" y="7505700"/>
            <a:ext cx="394335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 lang="zh-CN">
                <a:solidFill>
                  <a:srgbClr val="245DA0"/>
                </a:solidFill>
                <a:latin typeface="Microsoft YaHei"/>
                <a:ea typeface="Microsoft YaHei"/>
              </a:rPr>
              <a:t>复杂度与资源开销</a:t>
            </a:r>
          </a:p>
        </p:txBody>
      </p:sp>
      <p:sp>
        <p:nvSpPr>
          <p:cNvPr id="98" name="快速：时间 O(nW) / 空间 O(n)"/>
          <p:cNvSpPr txBox="1"/>
          <p:nvPr/>
        </p:nvSpPr>
        <p:spPr>
          <a:xfrm>
            <a:off x="10210800" y="7877175"/>
            <a:ext cx="438150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快速：时间 O(nW) / 空间 O(n)</a:t>
            </a:r>
          </a:p>
        </p:txBody>
      </p:sp>
      <p:sp>
        <p:nvSpPr>
          <p:cNvPr id="99" name="细化：O(cnt·n·W) / O(cnt·n+nW)"/>
          <p:cNvSpPr txBox="1"/>
          <p:nvPr/>
        </p:nvSpPr>
        <p:spPr>
          <a:xfrm>
            <a:off x="10210800" y="8153399"/>
            <a:ext cx="438150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细化：O(cnt·n·W) / O(cnt·n+nW)</a:t>
            </a:r>
          </a:p>
        </p:txBody>
      </p:sp>
      <p:sp>
        <p:nvSpPr>
          <p:cNvPr id="100" name="进程耗时 10.969 → 9.393s"/>
          <p:cNvSpPr txBox="1"/>
          <p:nvPr/>
        </p:nvSpPr>
        <p:spPr>
          <a:xfrm>
            <a:off x="10210800" y="8458200"/>
            <a:ext cx="438150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1" lang="zh-CN">
                <a:solidFill>
                  <a:srgbClr val="245DA0"/>
                </a:solidFill>
                <a:latin typeface="Microsoft YaHei"/>
                <a:ea typeface="Microsoft YaHei"/>
              </a:rPr>
              <a:t>进程耗时 10.969 → 9.393s</a:t>
            </a:r>
          </a:p>
        </p:txBody>
      </p:sp>
      <p:sp>
        <p:nvSpPr>
          <p:cNvPr id="101" name="RSS 峰值 393.78 → 262.53MiB"/>
          <p:cNvSpPr txBox="1"/>
          <p:nvPr/>
        </p:nvSpPr>
        <p:spPr>
          <a:xfrm>
            <a:off x="10210800" y="8743950"/>
            <a:ext cx="438150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1" lang="zh-CN">
                <a:solidFill>
                  <a:srgbClr val="245DA0"/>
                </a:solidFill>
                <a:latin typeface="Microsoft YaHei"/>
                <a:ea typeface="Microsoft YaHei"/>
              </a:rPr>
              <a:t>RSS 峰值 393.78 → 262.53MiB</a:t>
            </a:r>
          </a:p>
        </p:txBody>
      </p:sp>
      <p:sp>
        <p:nvSpPr>
          <p:cNvPr id="102" name="n：片段数 · W：窗口 · cnt：固定候选组数；候选维护另计 O(nW log(W+1))。"/>
          <p:cNvSpPr txBox="1"/>
          <p:nvPr/>
        </p:nvSpPr>
        <p:spPr>
          <a:xfrm>
            <a:off x="457200" y="9201150"/>
            <a:ext cx="9525000" cy="200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75" b="0" lang="zh-CN">
                <a:solidFill>
                  <a:srgbClr val="627286"/>
                </a:solidFill>
                <a:latin typeface="Microsoft YaHei"/>
                <a:ea typeface="Microsoft YaHei"/>
              </a:rPr>
              <a:t>n：片段数 · W：窗口 · cnt：固定候选组数；候选维护另计 O(nW log(W+1))。</a:t>
            </a:r>
          </a:p>
        </p:txBody>
      </p:sp>
      <p:sp>
        <p:nvSpPr>
          <p:cNvPr id="103" name="自动评分 67.1981 → 88.4555 / 90"/>
          <p:cNvSpPr txBox="1"/>
          <p:nvPr/>
        </p:nvSpPr>
        <p:spPr>
          <a:xfrm>
            <a:off x="10210800" y="9201150"/>
            <a:ext cx="438150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1" lang="zh-CN">
                <a:solidFill>
                  <a:srgbClr val="176F68"/>
                </a:solidFill>
                <a:latin typeface="Microsoft YaHei"/>
                <a:ea typeface="Microsoft YaHei"/>
              </a:rPr>
              <a:t>自动评分 67.1981 → 88.4555 / 90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NDS 多路径 IO 调度方案总览</dc:title>
  <dc:subject>设计依据、算法流程与性能对比</dc:subject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