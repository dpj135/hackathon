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先解释完整Trace，而不是单条IO。J中的CPU/NPU费是模拟调用费用。Trace历时还包含已经提交的尾部PROMOTE。前台和后台由不同回调驱动，后面分别展开。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官方贪心按逐iov的固定分支选路，同键第二次未命中后尝试HBM提升。本方案的改进是联合规划分组与路径，以及按成本准入缓存。两组小例子由官方回放得到，用来说明合并不是越多越好。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本页五次点击：依次展开映射、分块、DP、传输依赖和小例子。前三个512B请求在源和目标都对齐且连续时，可以保留三份请求边界，只发一次1536B DIRECT。流程只描述前台，不涉及PROMOTE。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物理SSD命令需要512B对齐，但请求的有效范围没有改变。第二、三块源地址虽对齐，目标偏移仍不对齐，所以不能直接转为DIRECT。四块有效长度相加仍为3MiB；后续DP可以分别选不同路径。本例主线选A/F/F/A，J=500。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p[j]是前j个片段的最低累计估价。一个候选组最多一条SSD读，所以计数DP里的cnt是最终SSD命令数，但不代表整个执行期的真实并发。计数DP只在保守空闲状态、大小和预算条件满足时运行，选中结果还须通过同时启动检查。固定cnt的最坏复杂度O(cnt×B×128)，B是片段数；边估价和转移共享200万预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五次点击：依次讲去重、复用新鲜度、来源与净收益、预算容量，最后展开提升完成与未来命中。gap&lt;TTL、age&lt;TTL都严格小于，同时age不超过均值加两倍平滑抖动。收益估计扣除命中H2D费用；预算来源于已观察的服务支出，不是保证未来命中次数。满池提高准入预算，允许新热点替换。完成前不能命中，当前没有主动等待未来再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和Piece让目标映射不因分块或合并而丢失。只有最终选中计划会写入Work，后台从中估计命中可以替代的工作量。History以缓存键维护跨批复用，pending_keys防止同一键重复提升。输入索引、返回JSON和未完成请求仍随规模增长；搜索预算不等于整体恒定内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条形图以90分为同一满量程。另10分为文档人工评分。三条代表输入展示完整Trace的成本分解，不是模块独立消融。回调时间取逐例三轮中位数再求和，不等于J中的模拟时间；本方案有额外计算成本。详细环境为CPU8、g++13.3、O2，每条预热1次、测3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回到方案总线：前台联合选分组和路径，后台按证据和成本决定缓存。合法性验证不意味着每例成本都更优，公开评分也不等于未知分布保证。完整材料包括源码、可执行程序、输入输出、算法复杂度、复现脚本和性能报告。现场演示通过run.py demo运行命令行对照。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让一次完整 Trace 的总成本更低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让一次完整 Trace 的总成本更低</a:t>
            </a:r>
          </a:p>
        </p:txBody>
      </p:sp>
      <p:sp>
        <p:nvSpPr>
          <p:cNvPr id="4" name="在线决定当前请求怎么搬运，以及完成后是否为未来复用建立缓存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在线决定当前请求怎么搬运，以及完成后是否为未来复用建立缓存。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62175"/>
            <a:ext cx="10972800" cy="9525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8125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同一个目标 HBM"/>
          <p:cNvSpPr txBox="1"/>
          <p:nvPr/>
        </p:nvSpPr>
        <p:spPr>
          <a:xfrm>
            <a:off x="609600" y="3381375"/>
            <a:ext cx="44767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三条前台路径，同一个目标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62399"/>
            <a:ext cx="1762125" cy="3619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62399"/>
            <a:ext cx="5810250" cy="3619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52950"/>
            <a:ext cx="1762125" cy="3619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52950"/>
            <a:ext cx="5810250" cy="3619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43500"/>
            <a:ext cx="1762125" cy="3619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43500"/>
            <a:ext cx="5810250" cy="3619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76625"/>
            <a:ext cx="0" cy="228600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524250"/>
            <a:ext cx="25908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62399"/>
            <a:ext cx="2590800" cy="619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905375"/>
            <a:ext cx="25908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排队、带宽共享 缓存命中与计费"/>
          <p:cNvSpPr txBox="1"/>
          <p:nvPr/>
        </p:nvSpPr>
        <p:spPr>
          <a:xfrm>
            <a:off x="8991600" y="5343525"/>
            <a:ext cx="2590800" cy="571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排队、带宽共享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缓存命中与计费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关键观察与设计依据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关键观察与设计依据</a:t>
            </a:r>
          </a:p>
        </p:txBody>
      </p:sp>
      <p:sp>
        <p:nvSpPr>
          <p:cNvPr id="3" name="优化的依据：少调用、换路径、有条件地缓存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优化的依据：少调用、换路径、有条件地缓存</a:t>
            </a:r>
          </a:p>
        </p:txBody>
      </p:sp>
      <p:sp>
        <p:nvSpPr>
          <p:cNvPr id="4" name="三个观察对应三项设计；收益与代价一起比较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三个观察对应三项设计；收益与代价一起比较。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38375"/>
            <a:ext cx="3505200" cy="2819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238375"/>
            <a:ext cx="28575" cy="281940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合并有双重作用"/>
          <p:cNvSpPr txBox="1"/>
          <p:nvPr/>
        </p:nvSpPr>
        <p:spPr>
          <a:xfrm>
            <a:off x="800100" y="2428875"/>
            <a:ext cx="31242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合并有双重作用</a:t>
            </a:r>
          </a:p>
        </p:txBody>
      </p:sp>
      <p:sp>
        <p:nvSpPr>
          <p:cNvPr id="11" name="少一组操作，可以少付固定费。 但传输变少，也可能损失并发。  设计：分组和路径一起做 DP。"/>
          <p:cNvSpPr txBox="1"/>
          <p:nvPr/>
        </p:nvSpPr>
        <p:spPr>
          <a:xfrm>
            <a:off x="800100" y="2981325"/>
            <a:ext cx="3124200" cy="1962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少一组操作，可以少付固定费。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但传输变少，也可能损失并发。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设计：分组和路径一起做 DP。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238375"/>
            <a:ext cx="3505200" cy="2819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8375"/>
            <a:ext cx="28575" cy="281940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路径可以替代"/>
          <p:cNvSpPr txBox="1"/>
          <p:nvPr/>
        </p:nvSpPr>
        <p:spPr>
          <a:xfrm>
            <a:off x="4533900" y="2428875"/>
            <a:ext cx="31242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路径可以替代</a:t>
            </a:r>
          </a:p>
        </p:txBody>
      </p:sp>
      <p:sp>
        <p:nvSpPr>
          <p:cNvPr id="15" name="直达、临时 HBM、DDR 使用不同的中转和复制资源。  设计：先过滤合法性，再按公开性能表估价。"/>
          <p:cNvSpPr txBox="1"/>
          <p:nvPr/>
        </p:nvSpPr>
        <p:spPr>
          <a:xfrm>
            <a:off x="4533900" y="2981325"/>
            <a:ext cx="3124200" cy="1962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直达、临时 HBM、DDR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使用不同的中转和复制资源。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设计：先过滤合法性，再按公开性能表估价。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7200" y="2238375"/>
            <a:ext cx="3505200" cy="2819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2238375"/>
            <a:ext cx="28575" cy="281940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命中也有成本"/>
          <p:cNvSpPr txBox="1"/>
          <p:nvPr/>
        </p:nvSpPr>
        <p:spPr>
          <a:xfrm>
            <a:off x="8267699" y="2428875"/>
            <a:ext cx="31242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命中也有成本</a:t>
            </a:r>
          </a:p>
        </p:txBody>
      </p:sp>
      <p:sp>
        <p:nvSpPr>
          <p:cNvPr id="19" name="PROMOTE 先付费；命中后仍需从 KV 池复制到目标。  设计：复用证据、净收益和预算同时通过。"/>
          <p:cNvSpPr txBox="1"/>
          <p:nvPr/>
        </p:nvSpPr>
        <p:spPr>
          <a:xfrm>
            <a:off x="8267699" y="2981325"/>
            <a:ext cx="3124200" cy="1962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PROMOTE 先付费；命中后仍需从 KV 池复制到目标。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设计：复用证据、净收益和预算同时通过。</a:t>
            </a:r>
          </a:p>
        </p:txBody>
      </p:sp>
      <p:sp>
        <p:nvSpPr>
          <p:cNvPr id="20" name="实测小例子：相邻 512B 合并，J 由 10 降到 6；相邻非对齐 4KiB 合并，J 却由 48 升到 98。"/>
          <p:cNvSpPr txBox="1"/>
          <p:nvPr/>
        </p:nvSpPr>
        <p:spPr>
          <a:xfrm>
            <a:off x="609600" y="5362575"/>
            <a:ext cx="10972800" cy="5905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实测小例子：相邻 512B 合并，J 由 10 降到 6；相邻非对齐 4KiB 合并，J 却由 48 升到 98。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算法 · on_submit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前台算法 · on_submit</a:t>
            </a:r>
          </a:p>
        </p:txBody>
      </p:sp>
      <p:sp>
        <p:nvSpPr>
          <p:cNvPr id="3" name="未命中请求到达后，先分块，再联合选路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未命中请求到达后，先分块，再联合选路</a:t>
            </a:r>
          </a:p>
        </p:txBody>
      </p:sp>
      <p:sp>
        <p:nvSpPr>
          <p:cNvPr id="4" name="框架先处理缓存命中；这里只为交给策略的未命中请求生成计划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框架先处理缓存命中；这里只为交给策略的未命中请求生成计划。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grpSp>
        <p:nvGrpSpPr>
          <p:cNvPr id="8" name="前台步骤 建立目标映射"/>
          <p:cNvGrpSpPr/>
          <p:nvPr/>
        </p:nvGrpSpPr>
        <p:grpSpPr>
          <a:xfrm>
            <a:off x="609600" y="2400300"/>
            <a:ext cx="2514600" cy="2143125"/>
            <a:chOff x="609600" y="2400300"/>
            <a:chExt cx="2514600" cy="2143125"/>
          </a:xfrm>
        </p:grpSpPr>
        <p:sp>
          <p:nvSpPr>
            <p:cNvPr id="9" name="Rectangle 8"/>
            <p:cNvSpPr/>
            <p:nvPr/>
          </p:nvSpPr>
          <p:spPr>
            <a:xfrm>
              <a:off x="609600" y="2400300"/>
              <a:ext cx="2514600" cy="2143125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400300"/>
              <a:ext cx="28575" cy="2143125"/>
            </a:xfrm>
            <a:prstGeom prst="rect">
              <a:avLst/>
            </a:prstGeom>
            <a:solidFill>
              <a:srgbClr val="285EA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建立目标映射"/>
            <p:cNvSpPr txBox="1"/>
            <p:nvPr/>
          </p:nvSpPr>
          <p:spPr>
            <a:xfrm>
              <a:off x="800100" y="259080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建立目标映射</a:t>
              </a:r>
            </a:p>
          </p:txBody>
        </p:sp>
        <p:sp>
          <p:nvSpPr>
            <p:cNvPr id="12" name="IOCB 的源范围 映射到目标 iov"/>
            <p:cNvSpPr txBox="1"/>
            <p:nvPr/>
          </p:nvSpPr>
          <p:spPr>
            <a:xfrm>
              <a:off x="800100" y="3143250"/>
              <a:ext cx="2133600" cy="12858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IOCB 的源范围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映射到目标 iov</a:t>
              </a:r>
            </a:p>
          </p:txBody>
        </p:sp>
      </p:grpSp>
      <p:grpSp>
        <p:nvGrpSpPr>
          <p:cNvPr id="13" name="前台步骤 形成合法片段"/>
          <p:cNvGrpSpPr/>
          <p:nvPr/>
        </p:nvGrpSpPr>
        <p:grpSpPr>
          <a:xfrm>
            <a:off x="3190875" y="2400300"/>
            <a:ext cx="2752725" cy="2143125"/>
            <a:chOff x="3190875" y="2400300"/>
            <a:chExt cx="2752725" cy="21431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400300"/>
              <a:ext cx="2514600" cy="2143125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400300"/>
              <a:ext cx="28575" cy="2143125"/>
            </a:xfrm>
            <a:prstGeom prst="rect">
              <a:avLst/>
            </a:prstGeom>
            <a:solidFill>
              <a:srgbClr val="285EA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形成合法片段"/>
            <p:cNvSpPr txBox="1"/>
            <p:nvPr/>
          </p:nvSpPr>
          <p:spPr>
            <a:xfrm>
              <a:off x="3619500" y="259080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形成合法片段</a:t>
              </a:r>
            </a:p>
          </p:txBody>
        </p:sp>
        <p:sp>
          <p:nvSpPr>
            <p:cNvPr id="17" name="检查对齐与容量 记录每段有效字节"/>
            <p:cNvSpPr txBox="1"/>
            <p:nvPr/>
          </p:nvSpPr>
          <p:spPr>
            <a:xfrm>
              <a:off x="3619500" y="3143250"/>
              <a:ext cx="2133600" cy="12858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检查对齐与容量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记录每段有效字节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390900"/>
              <a:ext cx="190500" cy="0"/>
            </a:xfrm>
            <a:prstGeom prst="line">
              <a:avLst/>
            </a:prstGeom>
            <a:ln w="2159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前台步骤 DP 选分组与路径"/>
          <p:cNvGrpSpPr/>
          <p:nvPr/>
        </p:nvGrpSpPr>
        <p:grpSpPr>
          <a:xfrm>
            <a:off x="6010275" y="2400300"/>
            <a:ext cx="2752725" cy="2143125"/>
            <a:chOff x="6010275" y="2400300"/>
            <a:chExt cx="2752725" cy="21431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400300"/>
              <a:ext cx="2514600" cy="2143125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400300"/>
              <a:ext cx="28575" cy="2143125"/>
            </a:xfrm>
            <a:prstGeom prst="rect">
              <a:avLst/>
            </a:prstGeom>
            <a:solidFill>
              <a:srgbClr val="285EA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P 选分组与路径"/>
            <p:cNvSpPr txBox="1"/>
            <p:nvPr/>
          </p:nvSpPr>
          <p:spPr>
            <a:xfrm>
              <a:off x="6438900" y="259080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DP 选分组与路径</a:t>
              </a:r>
            </a:p>
          </p:txBody>
        </p:sp>
        <p:sp>
          <p:nvSpPr>
            <p:cNvPr id="23" name="比较合并或独立 比较 D / A / F"/>
            <p:cNvSpPr txBox="1"/>
            <p:nvPr/>
          </p:nvSpPr>
          <p:spPr>
            <a:xfrm>
              <a:off x="6438900" y="3143250"/>
              <a:ext cx="2133600" cy="12858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比较合并或独立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D / A / F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390900"/>
              <a:ext cx="190500" cy="0"/>
            </a:xfrm>
            <a:prstGeom prst="line">
              <a:avLst/>
            </a:prstGeom>
            <a:ln w="2159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前台步骤 提交传输依赖"/>
          <p:cNvGrpSpPr/>
          <p:nvPr/>
        </p:nvGrpSpPr>
        <p:grpSpPr>
          <a:xfrm>
            <a:off x="8829675" y="2400300"/>
            <a:ext cx="2752725" cy="2143125"/>
            <a:chOff x="8829675" y="2400300"/>
            <a:chExt cx="2752725" cy="21431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400300"/>
              <a:ext cx="2514600" cy="2143125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400300"/>
              <a:ext cx="28575" cy="2143125"/>
            </a:xfrm>
            <a:prstGeom prst="rect">
              <a:avLst/>
            </a:prstGeom>
            <a:solidFill>
              <a:srgbClr val="285EA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提交传输依赖"/>
            <p:cNvSpPr txBox="1"/>
            <p:nvPr/>
          </p:nvSpPr>
          <p:spPr>
            <a:xfrm>
              <a:off x="9258300" y="259080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提交传输依赖</a:t>
              </a:r>
            </a:p>
          </p:txBody>
        </p:sp>
        <p:sp>
          <p:nvSpPr>
            <p:cNvPr id="29" name="中转路径先读后复制 框架按资源启动"/>
            <p:cNvSpPr txBox="1"/>
            <p:nvPr/>
          </p:nvSpPr>
          <p:spPr>
            <a:xfrm>
              <a:off x="9258300" y="3143250"/>
              <a:ext cx="2133600" cy="12858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中转路径先读后复制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框架按资源启动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390900"/>
              <a:ext cx="190500" cy="0"/>
            </a:xfrm>
            <a:prstGeom prst="line">
              <a:avLst/>
            </a:prstGeom>
            <a:ln w="2159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前台示例：三个请求合并为一次读取"/>
          <p:cNvGrpSpPr/>
          <p:nvPr/>
        </p:nvGrpSpPr>
        <p:grpSpPr>
          <a:xfrm>
            <a:off x="609600" y="4914900"/>
            <a:ext cx="10972800" cy="609600"/>
            <a:chOff x="609600" y="4914900"/>
            <a:chExt cx="10972800" cy="609600"/>
          </a:xfrm>
        </p:grpSpPr>
        <p:sp>
          <p:nvSpPr>
            <p:cNvPr id="32" name="三个相邻小请求"/>
            <p:cNvSpPr txBox="1"/>
            <p:nvPr/>
          </p:nvSpPr>
          <p:spPr>
            <a:xfrm>
              <a:off x="609600" y="4991100"/>
              <a:ext cx="1809750" cy="3238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三个相邻小请求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552700" y="4914900"/>
              <a:ext cx="857250" cy="47625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512B"/>
            <p:cNvSpPr txBox="1"/>
            <p:nvPr/>
          </p:nvSpPr>
          <p:spPr>
            <a:xfrm>
              <a:off x="2581275" y="5029200"/>
              <a:ext cx="800100" cy="247649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512B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505200" y="4914900"/>
              <a:ext cx="857250" cy="47625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512B"/>
            <p:cNvSpPr txBox="1"/>
            <p:nvPr/>
          </p:nvSpPr>
          <p:spPr>
            <a:xfrm>
              <a:off x="3533775" y="5029200"/>
              <a:ext cx="800100" cy="247649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512B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457700" y="4914900"/>
              <a:ext cx="857250" cy="47625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512B"/>
            <p:cNvSpPr txBox="1"/>
            <p:nvPr/>
          </p:nvSpPr>
          <p:spPr>
            <a:xfrm>
              <a:off x="4486275" y="5029200"/>
              <a:ext cx="800100" cy="247649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512B</a:t>
              </a:r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5514975" y="5153025"/>
              <a:ext cx="581025" cy="0"/>
            </a:xfrm>
            <a:prstGeom prst="line">
              <a:avLst/>
            </a:prstGeom>
            <a:ln w="1905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/>
            <p:cNvSpPr/>
            <p:nvPr/>
          </p:nvSpPr>
          <p:spPr>
            <a:xfrm>
              <a:off x="6334125" y="4914900"/>
              <a:ext cx="3209925" cy="47625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285E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一次 1536B DIRECT 读取"/>
            <p:cNvSpPr txBox="1"/>
            <p:nvPr/>
          </p:nvSpPr>
          <p:spPr>
            <a:xfrm>
              <a:off x="6429375" y="5019675"/>
              <a:ext cx="3019425" cy="266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一次 1536B DIRECT 读取</a:t>
              </a:r>
            </a:p>
          </p:txBody>
        </p:sp>
        <p:sp>
          <p:nvSpPr>
            <p:cNvPr id="42" name="请求边界保留 各自独立完成"/>
            <p:cNvSpPr txBox="1"/>
            <p:nvPr/>
          </p:nvSpPr>
          <p:spPr>
            <a:xfrm>
              <a:off x="9763125" y="4933950"/>
              <a:ext cx="1819275" cy="5905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请求边界保留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各自独立完成</a:t>
              </a:r>
            </a:p>
          </p:txBody>
        </p:sp>
      </p:grpSp>
      <p:sp>
        <p:nvSpPr>
          <p:cNvPr id="43" name="合并改变传输项数量；实际并发由依赖、槽位、缓冲池和可用带宽共同决定。"/>
          <p:cNvSpPr txBox="1"/>
          <p:nvPr/>
        </p:nvSpPr>
        <p:spPr>
          <a:xfrm>
            <a:off x="609600" y="5772150"/>
            <a:ext cx="109728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合并改变传输项数量；实际并发由依赖、槽位、缓冲池和可用带宽共同决定。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算法 · 合法分块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前台算法 · 合法分块</a:t>
            </a:r>
          </a:p>
        </p:txBody>
      </p:sp>
      <p:sp>
        <p:nvSpPr>
          <p:cNvPr id="3" name="分清有效字节和物理补读，才能正确分块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分清有效字节和物理补读，才能正确分块</a:t>
            </a:r>
          </a:p>
        </p:txBody>
      </p:sp>
      <p:sp>
        <p:nvSpPr>
          <p:cNvPr id="4" name="例：SSD 从 100B 起读 3MiB；临时 HBM、DDR 都为 1MiB，目标基址对齐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例：SSD 从 100B 起读 3MiB；临时 HBM、DDR 都为 1MiB，目标基址对齐。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8" name="有效请求"/>
          <p:cNvSpPr txBox="1"/>
          <p:nvPr/>
        </p:nvSpPr>
        <p:spPr>
          <a:xfrm>
            <a:off x="609600" y="2143125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有效请求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1300" y="2095499"/>
            <a:ext cx="857250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100B, 100B + 3MiB)"/>
          <p:cNvSpPr txBox="1"/>
          <p:nvPr/>
        </p:nvSpPr>
        <p:spPr>
          <a:xfrm>
            <a:off x="2952750" y="2162175"/>
            <a:ext cx="8143875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[100B, 100B + 3MiB)</a:t>
            </a:r>
          </a:p>
        </p:txBody>
      </p:sp>
      <p:sp>
        <p:nvSpPr>
          <p:cNvPr id="11" name="对齐物理范围"/>
          <p:cNvSpPr txBox="1"/>
          <p:nvPr/>
        </p:nvSpPr>
        <p:spPr>
          <a:xfrm>
            <a:off x="609600" y="2714625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对齐物理范围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8900" y="2667000"/>
            <a:ext cx="8877300" cy="400050"/>
          </a:xfrm>
          <a:prstGeom prst="rect">
            <a:avLst/>
          </a:prstGeom>
          <a:solidFill>
            <a:srgbClr val="F5F7FA"/>
          </a:solidFill>
          <a:ln w="8890">
            <a:solidFill>
              <a:srgbClr val="DC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[0, 3MiB + 512B)   ·   首部补读 100B，尾部补读 412B"/>
          <p:cNvSpPr txBox="1"/>
          <p:nvPr/>
        </p:nvSpPr>
        <p:spPr>
          <a:xfrm>
            <a:off x="2800350" y="2733675"/>
            <a:ext cx="8381999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[0, 3MiB + 512B)   ·   首部补读 100B，尾部补读 412B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6625"/>
            <a:ext cx="1295400" cy="4191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块"/>
          <p:cNvSpPr txBox="1"/>
          <p:nvPr/>
        </p:nvSpPr>
        <p:spPr>
          <a:xfrm>
            <a:off x="752475" y="3552825"/>
            <a:ext cx="10572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5000" y="3476625"/>
            <a:ext cx="3000375" cy="4191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有效长度"/>
          <p:cNvSpPr txBox="1"/>
          <p:nvPr/>
        </p:nvSpPr>
        <p:spPr>
          <a:xfrm>
            <a:off x="2047875" y="3552825"/>
            <a:ext cx="2762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有效长度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5375" y="3476625"/>
            <a:ext cx="3095625" cy="4191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物理读取"/>
          <p:cNvSpPr txBox="1"/>
          <p:nvPr/>
        </p:nvSpPr>
        <p:spPr>
          <a:xfrm>
            <a:off x="5048250" y="3552825"/>
            <a:ext cx="28575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物理读取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3476625"/>
            <a:ext cx="3581400" cy="4191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决定原因"/>
          <p:cNvSpPr txBox="1"/>
          <p:nvPr/>
        </p:nvSpPr>
        <p:spPr>
          <a:xfrm>
            <a:off x="8143875" y="3552825"/>
            <a:ext cx="33432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决定原因</a:t>
            </a:r>
          </a:p>
        </p:txBody>
      </p:sp>
      <p:sp>
        <p:nvSpPr>
          <p:cNvPr id="22" name="1"/>
          <p:cNvSpPr txBox="1"/>
          <p:nvPr/>
        </p:nvSpPr>
        <p:spPr>
          <a:xfrm>
            <a:off x="752475" y="4019549"/>
            <a:ext cx="1057275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23" name="1MiB − 100B"/>
          <p:cNvSpPr txBox="1"/>
          <p:nvPr/>
        </p:nvSpPr>
        <p:spPr>
          <a:xfrm>
            <a:off x="2047875" y="4019549"/>
            <a:ext cx="2762250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1MiB − 100B</a:t>
            </a:r>
          </a:p>
        </p:txBody>
      </p:sp>
      <p:sp>
        <p:nvSpPr>
          <p:cNvPr id="24" name="[0, 1MiB)"/>
          <p:cNvSpPr txBox="1"/>
          <p:nvPr/>
        </p:nvSpPr>
        <p:spPr>
          <a:xfrm>
            <a:off x="5048250" y="4019549"/>
            <a:ext cx="2857500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[0, 1MiB)</a:t>
            </a:r>
          </a:p>
        </p:txBody>
      </p:sp>
      <p:sp>
        <p:nvSpPr>
          <p:cNvPr id="25" name="留出首部补读空间"/>
          <p:cNvSpPr txBox="1"/>
          <p:nvPr/>
        </p:nvSpPr>
        <p:spPr>
          <a:xfrm>
            <a:off x="8143875" y="4019549"/>
            <a:ext cx="3343275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留出首部补读空间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57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2 / 3"/>
          <p:cNvSpPr txBox="1"/>
          <p:nvPr/>
        </p:nvSpPr>
        <p:spPr>
          <a:xfrm>
            <a:off x="752475" y="4562475"/>
            <a:ext cx="1057275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2 / 3</a:t>
            </a:r>
          </a:p>
        </p:txBody>
      </p:sp>
      <p:sp>
        <p:nvSpPr>
          <p:cNvPr id="28" name="每块 1MiB"/>
          <p:cNvSpPr txBox="1"/>
          <p:nvPr/>
        </p:nvSpPr>
        <p:spPr>
          <a:xfrm>
            <a:off x="2047875" y="4562475"/>
            <a:ext cx="2762250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每块 1MiB</a:t>
            </a:r>
          </a:p>
        </p:txBody>
      </p:sp>
      <p:sp>
        <p:nvSpPr>
          <p:cNvPr id="29" name="各读一个 1MiB 区间"/>
          <p:cNvSpPr txBox="1"/>
          <p:nvPr/>
        </p:nvSpPr>
        <p:spPr>
          <a:xfrm>
            <a:off x="5048250" y="4562475"/>
            <a:ext cx="2857500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各读一个 1MiB 区间</a:t>
            </a:r>
          </a:p>
        </p:txBody>
      </p:sp>
      <p:sp>
        <p:nvSpPr>
          <p:cNvPr id="30" name="每次占用不超临时池"/>
          <p:cNvSpPr txBox="1"/>
          <p:nvPr/>
        </p:nvSpPr>
        <p:spPr>
          <a:xfrm>
            <a:off x="8143875" y="4562475"/>
            <a:ext cx="3343275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每次占用不超临时池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50006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4"/>
          <p:cNvSpPr txBox="1"/>
          <p:nvPr/>
        </p:nvSpPr>
        <p:spPr>
          <a:xfrm>
            <a:off x="752475" y="5105400"/>
            <a:ext cx="1057275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33" name="100B"/>
          <p:cNvSpPr txBox="1"/>
          <p:nvPr/>
        </p:nvSpPr>
        <p:spPr>
          <a:xfrm>
            <a:off x="2047875" y="5105400"/>
            <a:ext cx="2762250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100B</a:t>
            </a:r>
          </a:p>
        </p:txBody>
      </p:sp>
      <p:sp>
        <p:nvSpPr>
          <p:cNvPr id="34" name="[3MiB, 3MiB + 512B)"/>
          <p:cNvSpPr txBox="1"/>
          <p:nvPr/>
        </p:nvSpPr>
        <p:spPr>
          <a:xfrm>
            <a:off x="5048250" y="5105400"/>
            <a:ext cx="2857500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[3MiB, 3MiB + 512B)</a:t>
            </a:r>
          </a:p>
        </p:txBody>
      </p:sp>
      <p:sp>
        <p:nvSpPr>
          <p:cNvPr id="35" name="仅复制最后有效的 100B"/>
          <p:cNvSpPr txBox="1"/>
          <p:nvPr/>
        </p:nvSpPr>
        <p:spPr>
          <a:xfrm>
            <a:off x="8143875" y="5105400"/>
            <a:ext cx="3343275" cy="381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仅复制最后有效的 100B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600" y="55435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2MiB 是策略的粒度上限，不是赛题限制；补读只存在于物理读，不能写入请求之外的目标。"/>
          <p:cNvSpPr txBox="1"/>
          <p:nvPr/>
        </p:nvSpPr>
        <p:spPr>
          <a:xfrm>
            <a:off x="609600" y="5781675"/>
            <a:ext cx="1097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2MiB 是策略的粒度上限，不是赛题限制；补读只存在于物理读，不能写入请求之外的目标。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算法 · 联合动态规划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前台算法 · 联合动态规划</a:t>
            </a:r>
          </a:p>
        </p:txBody>
      </p:sp>
      <p:sp>
        <p:nvSpPr>
          <p:cNvPr id="3" name="DP 同时决定“哪些片段合一组”和“这一组走哪条路”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DP 同时决定“哪些片段合一组”和“这一组走哪条路”</a:t>
            </a:r>
          </a:p>
        </p:txBody>
      </p:sp>
      <p:sp>
        <p:nvSpPr>
          <p:cNvPr id="4" name="每条候选边是一段连续片段及一条合法路径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每条候选边是一段连续片段及一条合法路径。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33600"/>
            <a:ext cx="10972800" cy="9429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p[j] = min { dp[i] + E(片段 [i, j), 路径) }"/>
          <p:cNvSpPr txBox="1"/>
          <p:nvPr/>
        </p:nvSpPr>
        <p:spPr>
          <a:xfrm>
            <a:off x="847725" y="2276475"/>
            <a:ext cx="10477500" cy="3524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dp[j] = min { dp[i] + E(片段 [i, j), 路径) }</a:t>
            </a:r>
          </a:p>
        </p:txBody>
      </p:sp>
      <p:sp>
        <p:nvSpPr>
          <p:cNvPr id="10" name="E 比较读取工作、复制工作、池压力和调用费；它是估价，不是最终 J。"/>
          <p:cNvSpPr txBox="1"/>
          <p:nvPr/>
        </p:nvSpPr>
        <p:spPr>
          <a:xfrm>
            <a:off x="847725" y="2695575"/>
            <a:ext cx="104775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E 比较读取工作、复制工作、池压力和调用费；它是估价，不是最终 J。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352800"/>
            <a:ext cx="5257800" cy="206692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3352800"/>
            <a:ext cx="28575" cy="2066924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先做快速区间 DP"/>
          <p:cNvSpPr txBox="1"/>
          <p:nvPr/>
        </p:nvSpPr>
        <p:spPr>
          <a:xfrm>
            <a:off x="800100" y="3543300"/>
            <a:ext cx="48768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先做快速区间 DP</a:t>
            </a:r>
          </a:p>
        </p:txBody>
      </p:sp>
      <p:sp>
        <p:nvSpPr>
          <p:cNvPr id="14" name="同卡、相邻性、对齐、容量和槽位先过滤。 每个起点最多向后看 128 个片段。 回溯得到一个可执行候选。"/>
          <p:cNvSpPr txBox="1"/>
          <p:nvPr/>
        </p:nvSpPr>
        <p:spPr>
          <a:xfrm>
            <a:off x="800100" y="4095750"/>
            <a:ext cx="4876800" cy="12096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同卡、相邻性、对齐、容量和槽位先过滤。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每个起点最多向后看 128 个片段。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回溯得到一个可执行候选。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3352800"/>
            <a:ext cx="5486400" cy="206692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0" y="3352800"/>
            <a:ext cx="28575" cy="2066924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空闲且预算允许，再做计数 DP"/>
          <p:cNvSpPr txBox="1"/>
          <p:nvPr/>
        </p:nvSpPr>
        <p:spPr>
          <a:xfrm>
            <a:off x="6286500" y="3543300"/>
            <a:ext cx="51054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空闲且预算允许，再做计数 DP</a:t>
            </a:r>
          </a:p>
        </p:txBody>
      </p:sp>
      <p:sp>
        <p:nvSpPr>
          <p:cNvPr id="18" name="采样最终组数 cnt，求“恰好 cnt 组”的最低估价。 SSD 与每卡复制分别估计并发；回溯后检查资源。 搜索超预算时保留已有候选。"/>
          <p:cNvSpPr txBox="1"/>
          <p:nvPr/>
        </p:nvSpPr>
        <p:spPr>
          <a:xfrm>
            <a:off x="6286500" y="4095750"/>
            <a:ext cx="5105400" cy="12096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采样最终组数 cnt，求“恰好 cnt 组”的最低估价。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SSD 与每卡复制分别估计并发；回溯后检查资源。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搜索超预算时保留已有候选。</a:t>
            </a:r>
          </a:p>
        </p:txBody>
      </p:sp>
      <p:sp>
        <p:nvSpPr>
          <p:cNvPr id="19" name="一读、至多一复制的公开调用费：DIRECT 2；AGGREGATE 5；FALLBACK 12。"/>
          <p:cNvSpPr txBox="1"/>
          <p:nvPr/>
        </p:nvSpPr>
        <p:spPr>
          <a:xfrm>
            <a:off x="609600" y="5695950"/>
            <a:ext cx="109728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1F2937"/>
                </a:solidFill>
                <a:latin typeface="Microsoft YaHei"/>
                <a:ea typeface="Microsoft YaHei"/>
              </a:rPr>
              <a:t>一读、至多一复制的公开调用费：DIRECT 2；AGGREGATE 5；FALLBACK 12。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算法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后台算法 · on_iocb_complete</a:t>
            </a:r>
          </a:p>
        </p:txBody>
      </p:sp>
      <p:sp>
        <p:nvSpPr>
          <p:cNvPr id="3" name="读取已经成功，PROMOTE 是对未来复用的额外投入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读取已经成功，PROMOTE 是对未来复用的额外投入</a:t>
            </a:r>
          </a:p>
        </p:txBody>
      </p:sp>
      <p:sp>
        <p:nvSpPr>
          <p:cNvPr id="4" name="满足四道判断才缓存；任一条件不通过，就结束本次后台决策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满足四道判断才缓存；任一条件不通过，就结束本次后台决策。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grpSp>
        <p:nvGrpSpPr>
          <p:cNvPr id="8" name="后台判断 排除重复投入"/>
          <p:cNvGrpSpPr/>
          <p:nvPr/>
        </p:nvGrpSpPr>
        <p:grpSpPr>
          <a:xfrm>
            <a:off x="609600" y="2266950"/>
            <a:ext cx="2514600" cy="2286000"/>
            <a:chOff x="609600" y="2266950"/>
            <a:chExt cx="2514600" cy="2286000"/>
          </a:xfrm>
        </p:grpSpPr>
        <p:sp>
          <p:nvSpPr>
            <p:cNvPr id="9" name="Rectangle 8"/>
            <p:cNvSpPr/>
            <p:nvPr/>
          </p:nvSpPr>
          <p:spPr>
            <a:xfrm>
              <a:off x="609600" y="2266950"/>
              <a:ext cx="2514600" cy="2286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266950"/>
              <a:ext cx="28575" cy="2286000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排除重复投入"/>
            <p:cNvSpPr txBox="1"/>
            <p:nvPr/>
          </p:nvSpPr>
          <p:spPr>
            <a:xfrm>
              <a:off x="800100" y="245745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排除重复投入</a:t>
              </a:r>
            </a:p>
          </p:txBody>
        </p:sp>
        <p:sp>
          <p:nvSpPr>
            <p:cNvPr id="12" name="命中完成不再提升 同键在途不重复 完整对象须放得下"/>
            <p:cNvSpPr txBox="1"/>
            <p:nvPr/>
          </p:nvSpPr>
          <p:spPr>
            <a:xfrm>
              <a:off x="800100" y="3009900"/>
              <a:ext cx="2133600" cy="1428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完整对象须放得下</a:t>
              </a:r>
            </a:p>
          </p:txBody>
        </p:sp>
      </p:grpSp>
      <p:grpSp>
        <p:nvGrpSpPr>
          <p:cNvPr id="13" name="后台判断 检查复用证据"/>
          <p:cNvGrpSpPr/>
          <p:nvPr/>
        </p:nvGrpSpPr>
        <p:grpSpPr>
          <a:xfrm>
            <a:off x="3190875" y="2266950"/>
            <a:ext cx="2752725" cy="2286000"/>
            <a:chOff x="3190875" y="2266950"/>
            <a:chExt cx="2752725" cy="2286000"/>
          </a:xfrm>
        </p:grpSpPr>
        <p:sp>
          <p:nvSpPr>
            <p:cNvPr id="14" name="Rectangle 13"/>
            <p:cNvSpPr/>
            <p:nvPr/>
          </p:nvSpPr>
          <p:spPr>
            <a:xfrm>
              <a:off x="3429000" y="2266950"/>
              <a:ext cx="2514600" cy="2286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266950"/>
              <a:ext cx="28575" cy="2286000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检查复用证据"/>
            <p:cNvSpPr txBox="1"/>
            <p:nvPr/>
          </p:nvSpPr>
          <p:spPr>
            <a:xfrm>
              <a:off x="3619500" y="245745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检查复用证据</a:t>
              </a:r>
            </a:p>
          </p:txBody>
        </p:sp>
        <p:sp>
          <p:nvSpPr>
            <p:cNvPr id="17" name="至少跨时刻重复 间隔短于 TTL 最近需求仍新鲜"/>
            <p:cNvSpPr txBox="1"/>
            <p:nvPr/>
          </p:nvSpPr>
          <p:spPr>
            <a:xfrm>
              <a:off x="3619500" y="3009900"/>
              <a:ext cx="2133600" cy="1428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至少跨时刻重复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间隔短于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最近需求仍新鲜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343275"/>
              <a:ext cx="190500" cy="0"/>
            </a:xfrm>
            <a:prstGeom prst="line">
              <a:avLst/>
            </a:prstGeom>
            <a:ln w="2159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后台判断 估计来源与净收益"/>
          <p:cNvGrpSpPr/>
          <p:nvPr/>
        </p:nvGrpSpPr>
        <p:grpSpPr>
          <a:xfrm>
            <a:off x="6010275" y="2266950"/>
            <a:ext cx="2752725" cy="2286000"/>
            <a:chOff x="6010275" y="2266950"/>
            <a:chExt cx="2752725" cy="2286000"/>
          </a:xfrm>
        </p:grpSpPr>
        <p:sp>
          <p:nvSpPr>
            <p:cNvPr id="20" name="Rectangle 19"/>
            <p:cNvSpPr/>
            <p:nvPr/>
          </p:nvSpPr>
          <p:spPr>
            <a:xfrm>
              <a:off x="6248400" y="2266950"/>
              <a:ext cx="2514600" cy="2286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266950"/>
              <a:ext cx="28575" cy="2286000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估计来源与净收益"/>
            <p:cNvSpPr txBox="1"/>
            <p:nvPr/>
          </p:nvSpPr>
          <p:spPr>
            <a:xfrm>
              <a:off x="6438900" y="245745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估计来源与净收益</a:t>
              </a:r>
            </a:p>
          </p:txBody>
        </p:sp>
        <p:sp>
          <p:nvSpPr>
            <p:cNvPr id="23" name="比较 SSD、HBM 来源 预计命中节省 减去命中复制费用"/>
            <p:cNvSpPr txBox="1"/>
            <p:nvPr/>
          </p:nvSpPr>
          <p:spPr>
            <a:xfrm>
              <a:off x="6438900" y="3009900"/>
              <a:ext cx="2133600" cy="1428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SSD、HBM 来源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预计命中节省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减去命中复制费用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343275"/>
              <a:ext cx="190500" cy="0"/>
            </a:xfrm>
            <a:prstGeom prst="line">
              <a:avLst/>
            </a:prstGeom>
            <a:ln w="2159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后台判断 检查预算与容量"/>
          <p:cNvGrpSpPr/>
          <p:nvPr/>
        </p:nvGrpSpPr>
        <p:grpSpPr>
          <a:xfrm>
            <a:off x="8829675" y="2266950"/>
            <a:ext cx="2752725" cy="2286000"/>
            <a:chOff x="8829675" y="2266950"/>
            <a:chExt cx="2752725" cy="2286000"/>
          </a:xfrm>
        </p:grpSpPr>
        <p:sp>
          <p:nvSpPr>
            <p:cNvPr id="26" name="Rectangle 25"/>
            <p:cNvSpPr/>
            <p:nvPr/>
          </p:nvSpPr>
          <p:spPr>
            <a:xfrm>
              <a:off x="9067800" y="2266950"/>
              <a:ext cx="2514600" cy="2286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266950"/>
              <a:ext cx="28575" cy="2286000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检查预算与容量"/>
            <p:cNvSpPr txBox="1"/>
            <p:nvPr/>
          </p:nvSpPr>
          <p:spPr>
            <a:xfrm>
              <a:off x="9258300" y="2457450"/>
              <a:ext cx="2133600" cy="4000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20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检查预算与容量</a:t>
              </a:r>
            </a:p>
          </p:txBody>
        </p:sp>
        <p:sp>
          <p:nvSpPr>
            <p:cNvPr id="29" name="已有读取支出作预算 容量压力提高门槛 净收益为正且预算够"/>
            <p:cNvSpPr txBox="1"/>
            <p:nvPr/>
          </p:nvSpPr>
          <p:spPr>
            <a:xfrm>
              <a:off x="9258300" y="3009900"/>
              <a:ext cx="2133600" cy="1428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已有读取支出作预算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容量压力提高门槛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净收益为正且预算够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343275"/>
              <a:ext cx="190500" cy="0"/>
            </a:xfrm>
            <a:prstGeom prst="line">
              <a:avLst/>
            </a:prstGeom>
            <a:ln w="2159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通过准入后的提升与未来命中"/>
          <p:cNvGrpSpPr/>
          <p:nvPr/>
        </p:nvGrpSpPr>
        <p:grpSpPr>
          <a:xfrm>
            <a:off x="609600" y="4924425"/>
            <a:ext cx="10972800" cy="762000"/>
            <a:chOff x="609600" y="4924425"/>
            <a:chExt cx="10972800" cy="762000"/>
          </a:xfrm>
        </p:grpSpPr>
        <p:sp>
          <p:nvSpPr>
            <p:cNvPr id="32" name="Rectangle 31"/>
            <p:cNvSpPr/>
            <p:nvPr/>
          </p:nvSpPr>
          <p:spPr>
            <a:xfrm>
              <a:off x="609600" y="4924425"/>
              <a:ext cx="2971800" cy="762000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当前请求已完成"/>
            <p:cNvSpPr txBox="1"/>
            <p:nvPr/>
          </p:nvSpPr>
          <p:spPr>
            <a:xfrm>
              <a:off x="752475" y="5029200"/>
              <a:ext cx="26860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当前请求已完成</a:t>
              </a:r>
            </a:p>
          </p:txBody>
        </p:sp>
        <p:sp>
          <p:nvSpPr>
            <p:cNvPr id="34" name="HBM → KV，或 SSD → KV"/>
            <p:cNvSpPr txBox="1"/>
            <p:nvPr/>
          </p:nvSpPr>
          <p:spPr>
            <a:xfrm>
              <a:off x="752475" y="5381625"/>
              <a:ext cx="26860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3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HBM → KV，或 SSD → KV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610100" y="4924425"/>
              <a:ext cx="2857500" cy="762000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PROMOTE 完成入池"/>
            <p:cNvSpPr txBox="1"/>
            <p:nvPr/>
          </p:nvSpPr>
          <p:spPr>
            <a:xfrm>
              <a:off x="4752975" y="5029200"/>
              <a:ext cx="25717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PROMOTE 完成入池</a:t>
              </a:r>
            </a:p>
          </p:txBody>
        </p:sp>
        <p:sp>
          <p:nvSpPr>
            <p:cNvPr id="37" name="此时开始 TTL，允许后续命中"/>
            <p:cNvSpPr txBox="1"/>
            <p:nvPr/>
          </p:nvSpPr>
          <p:spPr>
            <a:xfrm>
              <a:off x="4752975" y="5381625"/>
              <a:ext cx="25717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3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此时开始 TTL，允许后续命中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610600" y="4924425"/>
              <a:ext cx="2971800" cy="762000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未来同键请求命中"/>
            <p:cNvSpPr txBox="1"/>
            <p:nvPr/>
          </p:nvSpPr>
          <p:spPr>
            <a:xfrm>
              <a:off x="8753475" y="5029200"/>
              <a:ext cx="26860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未来同键请求命中</a:t>
              </a:r>
            </a:p>
          </p:txBody>
        </p:sp>
        <p:sp>
          <p:nvSpPr>
            <p:cNvPr id="40" name="KV → HBM；仍占带宽并收费"/>
            <p:cNvSpPr txBox="1"/>
            <p:nvPr/>
          </p:nvSpPr>
          <p:spPr>
            <a:xfrm>
              <a:off x="8753475" y="5381625"/>
              <a:ext cx="26860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3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KV → HBM；仍占带宽并收费</a:t>
              </a:r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3714750" y="5305425"/>
              <a:ext cx="742950" cy="0"/>
            </a:xfrm>
            <a:prstGeom prst="line">
              <a:avLst/>
            </a:prstGeom>
            <a:ln w="2159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7600950" y="5305425"/>
              <a:ext cx="857250" cy="0"/>
            </a:xfrm>
            <a:prstGeom prst="line">
              <a:avLst/>
            </a:prstGeom>
            <a:ln w="2159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满池允许替换；当前策略不主动延期 PROMOTE。低优先级不等于与前台资源隔离。"/>
          <p:cNvSpPr txBox="1"/>
          <p:nvPr/>
        </p:nvSpPr>
        <p:spPr>
          <a:xfrm>
            <a:off x="609600" y="5867400"/>
            <a:ext cx="109728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满池允许替换；当前策略不主动延期 PROMOTE。低优先级不等于与前台资源隔离。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关键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关键数据结构</a:t>
            </a:r>
          </a:p>
        </p:txBody>
      </p:sp>
      <p:sp>
        <p:nvSpPr>
          <p:cNvPr id="3" name="用 Work 把前台实际计划与后台收益判断连接起来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 Work 把前台实际计划与后台收益判断连接起来</a:t>
            </a:r>
          </a:p>
        </p:txBody>
      </p:sp>
      <p:sp>
        <p:nvSpPr>
          <p:cNvPr id="4" name="核心策略在一个 solution.cpp 中；结构按单批计算和跨回调状态组织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核心策略在一个 solution.cpp 中；结构按单批计算和跨回调状态组织。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前台：处理一批未命中请求"/>
          <p:cNvSpPr txBox="1"/>
          <p:nvPr/>
        </p:nvSpPr>
        <p:spPr>
          <a:xfrm>
            <a:off x="609600" y="2133600"/>
            <a:ext cx="52387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前台：处理一批未命中请求</a:t>
            </a:r>
          </a:p>
        </p:txBody>
      </p:sp>
      <p:sp>
        <p:nvSpPr>
          <p:cNvPr id="9" name="跨回调：记录成本与复用证据"/>
          <p:cNvSpPr txBox="1"/>
          <p:nvPr/>
        </p:nvSpPr>
        <p:spPr>
          <a:xfrm>
            <a:off x="6400800" y="2133600"/>
            <a:ext cx="51816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跨回调：记录成本与复用证据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667000"/>
            <a:ext cx="5238750" cy="7524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ovIndex"/>
          <p:cNvSpPr txBox="1"/>
          <p:nvPr/>
        </p:nvSpPr>
        <p:spPr>
          <a:xfrm>
            <a:off x="781050" y="2752725"/>
            <a:ext cx="48958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2" name="目标累计偏移；二分定位目标地址"/>
          <p:cNvSpPr txBox="1"/>
          <p:nvPr/>
        </p:nvSpPr>
        <p:spPr>
          <a:xfrm>
            <a:off x="781050" y="3095625"/>
            <a:ext cx="48958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目标累计偏移；二分定位目标地址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667000"/>
            <a:ext cx="5181600" cy="7524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Work"/>
          <p:cNvSpPr txBox="1"/>
          <p:nvPr/>
        </p:nvSpPr>
        <p:spPr>
          <a:xfrm>
            <a:off x="6572250" y="2752725"/>
            <a:ext cx="48387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15" name="最终计划分摊的读/复制工作与调用费"/>
          <p:cNvSpPr txBox="1"/>
          <p:nvPr/>
        </p:nvSpPr>
        <p:spPr>
          <a:xfrm>
            <a:off x="6572250" y="3095625"/>
            <a:ext cx="48387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最终计划分摊的读/复制工作与调用费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571875"/>
            <a:ext cx="5238750" cy="7524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iece"/>
          <p:cNvSpPr txBox="1"/>
          <p:nvPr/>
        </p:nvSpPr>
        <p:spPr>
          <a:xfrm>
            <a:off x="781050" y="3657600"/>
            <a:ext cx="48958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8" name="请求内偏移、长度、对齐、所属 IOCB"/>
          <p:cNvSpPr txBox="1"/>
          <p:nvPr/>
        </p:nvSpPr>
        <p:spPr>
          <a:xfrm>
            <a:off x="781050" y="4000500"/>
            <a:ext cx="48958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请求内偏移、长度、对齐、所属 IOCB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71875"/>
            <a:ext cx="5181600" cy="7524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istory"/>
          <p:cNvSpPr txBox="1"/>
          <p:nvPr/>
        </p:nvSpPr>
        <p:spPr>
          <a:xfrm>
            <a:off x="6572250" y="3657600"/>
            <a:ext cx="48387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21" name="同键访问间隔、新鲜度、预算与准入状态"/>
          <p:cNvSpPr txBox="1"/>
          <p:nvPr/>
        </p:nvSpPr>
        <p:spPr>
          <a:xfrm>
            <a:off x="6572250" y="4000500"/>
            <a:ext cx="48387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同键访问间隔、新鲜度、预算与准入状态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476750"/>
            <a:ext cx="5238750" cy="7524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p / prev / path"/>
          <p:cNvSpPr txBox="1"/>
          <p:nvPr/>
        </p:nvSpPr>
        <p:spPr>
          <a:xfrm>
            <a:off x="781050" y="4562475"/>
            <a:ext cx="48958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dp / prev / path</a:t>
            </a:r>
          </a:p>
        </p:txBody>
      </p:sp>
      <p:sp>
        <p:nvSpPr>
          <p:cNvPr id="24" name="累计估价、前驱边界和路径；回溯最终计划"/>
          <p:cNvSpPr txBox="1"/>
          <p:nvPr/>
        </p:nvSpPr>
        <p:spPr>
          <a:xfrm>
            <a:off x="781050" y="4905375"/>
            <a:ext cx="48958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累计估价、前驱边界和路径；回溯最终计划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476750"/>
            <a:ext cx="5181600" cy="7524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romotions / pending_keys"/>
          <p:cNvSpPr txBox="1"/>
          <p:nvPr/>
        </p:nvSpPr>
        <p:spPr>
          <a:xfrm>
            <a:off x="6572250" y="4562475"/>
            <a:ext cx="48387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 / pending_keys</a:t>
            </a:r>
          </a:p>
        </p:txBody>
      </p:sp>
      <p:sp>
        <p:nvSpPr>
          <p:cNvPr id="27" name="记录在途提升，避免同键重复投入"/>
          <p:cNvSpPr txBox="1"/>
          <p:nvPr/>
        </p:nvSpPr>
        <p:spPr>
          <a:xfrm>
            <a:off x="6572250" y="4905375"/>
            <a:ext cx="48387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记录在途提升，避免同键重复投入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34075" y="4848225"/>
            <a:ext cx="180975" cy="0"/>
          </a:xfrm>
          <a:prstGeom prst="line">
            <a:avLst/>
          </a:prstGeom>
          <a:ln w="17780">
            <a:solidFill>
              <a:srgbClr val="2475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115050" y="3038475"/>
            <a:ext cx="0" cy="1809750"/>
          </a:xfrm>
          <a:prstGeom prst="line">
            <a:avLst/>
          </a:prstGeom>
          <a:ln w="17780">
            <a:solidFill>
              <a:srgbClr val="2475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15050" y="3038475"/>
            <a:ext cx="171450" cy="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缓存键 = 卡号 + SSD 起点 + 完整长度；不同卡不共用一个缓存键。"/>
          <p:cNvSpPr txBox="1"/>
          <p:nvPr/>
        </p:nvSpPr>
        <p:spPr>
          <a:xfrm>
            <a:off x="609600" y="5686425"/>
            <a:ext cx="10972800" cy="3524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缓存键 = 卡号 + SSD 起点 + 完整长度；不同卡不共用一个缓存键。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收益 · 官方公开集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性能收益 · 官方公开集</a:t>
            </a:r>
          </a:p>
        </p:txBody>
      </p:sp>
      <p:sp>
        <p:nvSpPr>
          <p:cNvPr id="3" name="公开集自动分 88.4555 / 90，较官方贪心提高 21.2574 分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公开集自动分 88.4555 / 90，较官方贪心提高 21.2574 分</a:t>
            </a:r>
          </a:p>
        </p:txBody>
      </p:sp>
      <p:sp>
        <p:nvSpPr>
          <p:cNvPr id="4" name="同一官方 engine、validator 和评分器；共 39 条公开输入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同一官方 engine、validator 和评分器；共 39 条公开输入。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官方贪心"/>
          <p:cNvSpPr txBox="1"/>
          <p:nvPr/>
        </p:nvSpPr>
        <p:spPr>
          <a:xfrm>
            <a:off x="609600" y="2200275"/>
            <a:ext cx="1666875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1250" y="2181225"/>
            <a:ext cx="4693787" cy="3333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67.1981 / 90"/>
          <p:cNvSpPr txBox="1"/>
          <p:nvPr/>
        </p:nvSpPr>
        <p:spPr>
          <a:xfrm>
            <a:off x="8915400" y="2190750"/>
            <a:ext cx="21907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657184"/>
                </a:solidFill>
                <a:latin typeface="Microsoft YaHei"/>
                <a:ea typeface="Microsoft YaHei"/>
              </a:rPr>
              <a:t>67.1981 / 90</a:t>
            </a:r>
          </a:p>
        </p:txBody>
      </p:sp>
      <p:sp>
        <p:nvSpPr>
          <p:cNvPr id="11" name="本方案"/>
          <p:cNvSpPr txBox="1"/>
          <p:nvPr/>
        </p:nvSpPr>
        <p:spPr>
          <a:xfrm>
            <a:off x="609600" y="2762250"/>
            <a:ext cx="1666875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81250" y="2743200"/>
            <a:ext cx="6178616" cy="3333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8.4555 / 90"/>
          <p:cNvSpPr txBox="1"/>
          <p:nvPr/>
        </p:nvSpPr>
        <p:spPr>
          <a:xfrm>
            <a:off x="8915400" y="2752725"/>
            <a:ext cx="21907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88.4555 / 90</a:t>
            </a:r>
          </a:p>
        </p:txBody>
      </p:sp>
      <p:sp>
        <p:nvSpPr>
          <p:cNvPr id="14" name="相对官方贪心：35 条更优    4 条持平    0 条更差"/>
          <p:cNvSpPr txBox="1"/>
          <p:nvPr/>
        </p:nvSpPr>
        <p:spPr>
          <a:xfrm>
            <a:off x="609600" y="3390900"/>
            <a:ext cx="109728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相对官方贪心：35 条更优    4 条持平    0 条更差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38766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ad_direct_high"/>
          <p:cNvSpPr txBox="1"/>
          <p:nvPr/>
        </p:nvSpPr>
        <p:spPr>
          <a:xfrm>
            <a:off x="609600" y="4086225"/>
            <a:ext cx="31242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read_direct_high</a:t>
            </a:r>
          </a:p>
        </p:txBody>
      </p:sp>
      <p:sp>
        <p:nvSpPr>
          <p:cNvPr id="17" name="J 降低 97.69%"/>
          <p:cNvSpPr txBox="1"/>
          <p:nvPr/>
        </p:nvSpPr>
        <p:spPr>
          <a:xfrm>
            <a:off x="3867150" y="4086225"/>
            <a:ext cx="24765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J 降低 97.69%</a:t>
            </a:r>
          </a:p>
        </p:txBody>
      </p:sp>
      <p:sp>
        <p:nvSpPr>
          <p:cNvPr id="18" name="相邻小读合并，调用费明显减少"/>
          <p:cNvSpPr txBox="1"/>
          <p:nvPr/>
        </p:nvSpPr>
        <p:spPr>
          <a:xfrm>
            <a:off x="6610350" y="4086225"/>
            <a:ext cx="49720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相邻小读合并，调用费明显减少</a:t>
            </a:r>
          </a:p>
        </p:txBody>
      </p:sp>
      <p:sp>
        <p:nvSpPr>
          <p:cNvPr id="19" name="high_mixed"/>
          <p:cNvSpPr txBox="1"/>
          <p:nvPr/>
        </p:nvSpPr>
        <p:spPr>
          <a:xfrm>
            <a:off x="609600" y="4581525"/>
            <a:ext cx="31242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high_mixed</a:t>
            </a:r>
          </a:p>
        </p:txBody>
      </p:sp>
      <p:sp>
        <p:nvSpPr>
          <p:cNvPr id="20" name="J 降低 67.18%"/>
          <p:cNvSpPr txBox="1"/>
          <p:nvPr/>
        </p:nvSpPr>
        <p:spPr>
          <a:xfrm>
            <a:off x="3867150" y="4581525"/>
            <a:ext cx="24765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J 降低 67.18%</a:t>
            </a:r>
          </a:p>
        </p:txBody>
      </p:sp>
      <p:sp>
        <p:nvSpPr>
          <p:cNvPr id="21" name="减少物理读与无收益提升投入"/>
          <p:cNvSpPr txBox="1"/>
          <p:nvPr/>
        </p:nvSpPr>
        <p:spPr>
          <a:xfrm>
            <a:off x="6610350" y="4581525"/>
            <a:ext cx="49720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减少物理读与无收益提升投入</a:t>
            </a:r>
          </a:p>
        </p:txBody>
      </p:sp>
      <p:sp>
        <p:nvSpPr>
          <p:cNvPr id="22" name="promote_ssd_high"/>
          <p:cNvSpPr txBox="1"/>
          <p:nvPr/>
        </p:nvSpPr>
        <p:spPr>
          <a:xfrm>
            <a:off x="609600" y="5076825"/>
            <a:ext cx="31242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promote_ssd_high</a:t>
            </a:r>
          </a:p>
        </p:txBody>
      </p:sp>
      <p:sp>
        <p:nvSpPr>
          <p:cNvPr id="23" name="J 降低 38.17%"/>
          <p:cNvSpPr txBox="1"/>
          <p:nvPr/>
        </p:nvSpPr>
        <p:spPr>
          <a:xfrm>
            <a:off x="3867150" y="5076825"/>
            <a:ext cx="24765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J 降低 38.17%</a:t>
            </a:r>
          </a:p>
        </p:txBody>
      </p:sp>
      <p:sp>
        <p:nvSpPr>
          <p:cNvPr id="24" name="少做不划算的缓存搬运，命中数也下降"/>
          <p:cNvSpPr txBox="1"/>
          <p:nvPr/>
        </p:nvSpPr>
        <p:spPr>
          <a:xfrm>
            <a:off x="6610350" y="5076825"/>
            <a:ext cx="49720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少做不划算的缓存搬运，命中数也下降</a:t>
            </a:r>
          </a:p>
        </p:txBody>
      </p:sp>
      <p:sp>
        <p:nvSpPr>
          <p:cNvPr id="25" name="代价：39 条回调时间合计 0.831s → 1.153s；本方案策略堆峰值 12.34MiB。"/>
          <p:cNvSpPr txBox="1"/>
          <p:nvPr/>
        </p:nvSpPr>
        <p:spPr>
          <a:xfrm>
            <a:off x="609600" y="5724525"/>
            <a:ext cx="10972800" cy="3524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657184"/>
                </a:solidFill>
                <a:latin typeface="Microsoft YaHei"/>
                <a:ea typeface="Microsoft YaHei"/>
              </a:rPr>
              <a:t>代价：39 条回调时间合计 0.831s → 1.153s；本方案策略堆峰值 12.34MiB。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验证与适用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验证与适用边界</a:t>
            </a:r>
          </a:p>
        </p:txBody>
      </p:sp>
      <p:sp>
        <p:nvSpPr>
          <p:cNvPr id="3" name="联合规划当前读取，有条件地投资未来复用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联合规划当前读取，有条件地投资未来复用</a:t>
            </a:r>
          </a:p>
        </p:txBody>
      </p:sp>
      <p:sp>
        <p:nvSpPr>
          <p:cNvPr id="4" name="方案同时交付可运行程序、解释依据与可复现的验证结果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方案同时交付可运行程序、解释依据与可复现的验证结果。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5257800" cy="27908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209800"/>
            <a:ext cx="28575" cy="27908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已验证"/>
          <p:cNvSpPr txBox="1"/>
          <p:nvPr/>
        </p:nvSpPr>
        <p:spPr>
          <a:xfrm>
            <a:off x="800100" y="2400300"/>
            <a:ext cx="48768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已验证</a:t>
            </a:r>
          </a:p>
        </p:txBody>
      </p:sp>
      <p:sp>
        <p:nvSpPr>
          <p:cNvPr id="11" name="655 条输入 × 3 轮：合法且输出一致。 173 项专项检查通过。 两类十万请求、三类高 iov 探针通过。  官方回放验证计划覆盖、依赖与资源合法性。"/>
          <p:cNvSpPr txBox="1"/>
          <p:nvPr/>
        </p:nvSpPr>
        <p:spPr>
          <a:xfrm>
            <a:off x="800100" y="2952750"/>
            <a:ext cx="4876800" cy="19335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655 条输入 × 3 轮：合法且输出一致。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173 项专项检查通过。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两类十万请求、三类高 iov 探针通过。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官方回放验证计划覆盖、依赖与资源合法性。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0" y="2209800"/>
            <a:ext cx="5486400" cy="27908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0" y="2209800"/>
            <a:ext cx="28575" cy="279082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需要保留的边界"/>
          <p:cNvSpPr txBox="1"/>
          <p:nvPr/>
        </p:nvSpPr>
        <p:spPr>
          <a:xfrm>
            <a:off x="6286500" y="2400300"/>
            <a:ext cx="510540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需要保留的边界</a:t>
            </a:r>
          </a:p>
        </p:txBody>
      </p:sp>
      <p:sp>
        <p:nvSpPr>
          <p:cNvPr id="15" name="扩展 292 条中有 96 条比贪心差； 最大成本增幅 94.27%。  静态并发估价、固定块长与历史复用预测 仍可能误判；极端碎片策略堆约 1.58GiB。"/>
          <p:cNvSpPr txBox="1"/>
          <p:nvPr/>
        </p:nvSpPr>
        <p:spPr>
          <a:xfrm>
            <a:off x="6286500" y="2952750"/>
            <a:ext cx="5105400" cy="19335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扩展 292 条中有 96 条比贪心差；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最大成本增幅 94.27%。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静态并发估价、固定块长与历史复用预测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仍可能误判；极端碎片策略堆约 1.58GiB。</a:t>
            </a:r>
          </a:p>
        </p:txBody>
      </p:sp>
      <p:sp>
        <p:nvSpPr>
          <p:cNvPr id="16" name="复现入口"/>
          <p:cNvSpPr txBox="1"/>
          <p:nvPr/>
        </p:nvSpPr>
        <p:spPr>
          <a:xfrm>
            <a:off x="609600" y="5305425"/>
            <a:ext cx="10972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1F2937"/>
                </a:solidFill>
                <a:latin typeface="Microsoft YaHei"/>
                <a:ea typeface="Microsoft YaHei"/>
              </a:rPr>
              <a:t>复现入口</a:t>
            </a:r>
          </a:p>
        </p:txBody>
      </p:sp>
      <p:sp>
        <p:nvSpPr>
          <p:cNvPr id="17" name="python3 run.py quick     /     score     /     runtime     /     demo"/>
          <p:cNvSpPr txBox="1"/>
          <p:nvPr/>
        </p:nvSpPr>
        <p:spPr>
          <a:xfrm>
            <a:off x="609600" y="5743575"/>
            <a:ext cx="109728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285EA8"/>
                </a:solidFill>
                <a:latin typeface="Microsoft YaHei"/>
                <a:ea typeface="Microsoft YaHei"/>
              </a:rPr>
              <a:t>python3 run.py quick     /     score     /     runtime     /    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前台联合规划与后台复用感知缓存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