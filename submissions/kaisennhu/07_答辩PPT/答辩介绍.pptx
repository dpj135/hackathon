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762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讲解按约6分钟组织，单页默认完整展示，不需要翻页。</a:t>
            </a:r>
          </a:p>
          <a:p>
            <a:r>
              <a:t>0:00–0:35 目标与边界。我们要把SSD数据正确搬到指定卡的HBM，并降低完整Trace的J。J由模拟历时折价与CPU/NPU调用费组成，调用费不是本机CPU运行时间。策略在线决策，不读取未来Trace，不调用模拟器。框架负责缓存查找、排队执行、带宽共享及计分，目标卡不可改变。</a:t>
            </a:r>
          </a:p>
          <a:p>
            <a:r>
              <a:t>0:35–1:20 三条观察。合并可以减少固定调用费，也能共享重叠物理读，但改变SSD并发与缓冲占用，因此不是越大越好。同组数据可能有DIRECT、AGGREGATE、FALLBACK等合法路径，复制类型、池需求及调用结构不同，所以分组边界和路径要放进同一DP转移。缓存先付提升成本，命中仍需KV到目标HBM复制，因此需要根据复用证据控制投入。</a:t>
            </a:r>
          </a:p>
          <a:p>
            <a:r>
              <a:t>1:20–2:50 前台流程。IovIndex保存iov累计终点，将请求偏移映射到目标HBM片段。Piece保存请求、偏移、长度及对齐/完整性标记。按块上限切分，非对齐块受临时池容量约束，内部切点退到扇区边界以减少重复扩读。AGGREGATE/FALLBACK允许有效范围非对齐，SSD物理读向外扩至扇区边界，复制仅搬有效字节。随后按卡号与SSD地址排序，同卡且物理范围相连才枚举候选组，路径还检查槽位、池容量及对齐。DIRECT直接到目标HBM，AGGREGATE经临时HBM再D2D，FALLBACK经DDR再H2D。候选估价把读、复制工作换成时间成本，加调用费；中转考虑池压力。DP同时选边界和路径。快速每批执行，状态dp[j]得到一份完整基础方案；空闲且规模可控时，细化对候选总组数cnt分别求D[h][j]，重估并发。两者共享预处理片段列表，细化可以改变快速方案的边界，并非只拆原来的组。但当前细化仍引用基础复制分布和组数采样，不能说完全独立。最后检查总槽位与容量，只提交一份；没有合格细化结果则保留快速方案。Work只记录最终计划按有效字节分摊的估计工作及调用费。</a:t>
            </a:r>
          </a:p>
          <a:p>
            <a:r>
              <a:t>2:50–3:55 后台准入。完成回调不是必须PROMOTE。先排除缓存命中、同键在途及过大对象。History维护复用间隔、抖动、新鲜度和credit预算，间隔与证据年龄均严格小于TTL，证据年龄还受均值加两倍抖动约束，复用字节距离不能超过池容量。Work给出命中可替代的前台成本，扣除命中复制与调用费，净收益必须为正。比较从HBM或SSD提升的合法成本，再要求历史支出预算覆盖提升投入及容量压力门槛。池满允许替换，并非停止准入；压力越大要求越高。提升完成后才能被未来请求命中。</a:t>
            </a:r>
          </a:p>
          <a:p>
            <a:r>
              <a:t>3:55–4:35 复杂度与调度开销。n为片段数、W为枚举窗口。快速核心转移O(nW)、状态O(n)；owners集合维护另有O(nWlog(W+1))，索引与排序另外统计。固定cnt细化转移最坏O(cnt*n*W)，状态与合法边为O(cnt*n+nW)，采样与预算控制搜索开销。图上不是整体算法上界，完整分析在文档。进程耗时包含框架和输入输出；39条每例三轮取中位数后求和。RSS取所有正式轮最大值。策略回调单独计量为0.831→1.153s，并未变快；进程总耗时下降不能说成DP计算加速。</a:t>
            </a:r>
          </a:p>
          <a:p>
            <a:r>
              <a:t>4:35–6:00 性能结果与原因。三组柱形各自从同一零点并共用比例，比较39条完整Trace的累计值，不是逐例下降率的平均。J下降36.51%，前台调用费下降66.82%，后台调用费下降94.84%。前台联合分组减少操作固定费，共享重叠读，联合路径估价改变调用结构；后台根据复用证据、净收益和预算减少提升投入。它们存在联动，结果不独立归因给某个模块。后台费只包含PROMOTE与命中复制调用费，不包含搬运时间费。每次命中分摊费是总后台费除总命中数：804656/40831=19.71，41482/8403=4.94；包含没有带来命中的提升，单次命中固有调用费两者仍为2。命中数不是更高，而是投入效率更高。总体公开集35胜4平，自动分为官方评分器结果，不按总J降幅换算。655条各三轮合法且一致是验证覆盖，不是图中的统计样本。所有性能数字沿用已提交CSV，算法和测试结果未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24.NDS多路径IO分配、聚合与缓存提升算法"/>
          <p:cNvSpPr txBox="1"/>
          <p:nvPr/>
        </p:nvSpPr>
        <p:spPr>
          <a:xfrm>
            <a:off x="381000" y="200025"/>
            <a:ext cx="11430000" cy="4572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2700" b="1" lang="zh-CN">
                <a:solidFill>
                  <a:srgbClr val="1F2937"/>
                </a:solidFill>
                <a:latin typeface="Microsoft YaHei"/>
                <a:ea typeface="Microsoft YaHei"/>
              </a:rPr>
              <a:t>24.NDS多路径IO分配、聚合与缓存提升算法</a:t>
            </a:r>
          </a:p>
        </p:txBody>
      </p:sp>
      <p:sp>
        <p:nvSpPr>
          <p:cNvPr id="3" name="风花雪月战队  ·  刁鹏杰 / 胡海川 / 杜杰贵"/>
          <p:cNvSpPr txBox="1"/>
          <p:nvPr/>
        </p:nvSpPr>
        <p:spPr>
          <a:xfrm>
            <a:off x="400050" y="714375"/>
            <a:ext cx="11410950" cy="2667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575" b="1" lang="zh-CN">
                <a:solidFill>
                  <a:srgbClr val="285EA8"/>
                </a:solidFill>
                <a:latin typeface="Microsoft YaHei"/>
                <a:ea typeface="Microsoft YaHei"/>
              </a:rPr>
              <a:t>风花雪月战队  ·  刁鹏杰 / 胡海川 / 杜杰贵</a:t>
            </a:r>
          </a:p>
        </p:txBody>
      </p:sp>
      <p:sp>
        <p:nvSpPr>
          <p:cNvPr id="4" name="Rectangle 3"/>
          <p:cNvSpPr/>
          <p:nvPr/>
        </p:nvSpPr>
        <p:spPr>
          <a:xfrm>
            <a:off x="381000" y="1076325"/>
            <a:ext cx="11430000" cy="590550"/>
          </a:xfrm>
          <a:prstGeom prst="rect">
            <a:avLst/>
          </a:prstGeom>
          <a:solidFill>
            <a:srgbClr val="ED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目标：正确覆盖请求，降低 J = 时间单价 × 完整 Trace 历时 + CPU / NPU 调用费。"/>
          <p:cNvSpPr txBox="1"/>
          <p:nvPr/>
        </p:nvSpPr>
        <p:spPr>
          <a:xfrm>
            <a:off x="523874" y="1143000"/>
            <a:ext cx="11144250" cy="2571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650" b="1" lang="zh-CN">
                <a:solidFill>
                  <a:srgbClr val="285EA8"/>
                </a:solidFill>
                <a:latin typeface="Microsoft YaHei"/>
                <a:ea typeface="Microsoft YaHei"/>
              </a:rPr>
              <a:t>目标：正确覆盖请求，降低 J = 时间单价 × 完整 Trace 历时 + CPU / NPU 调用费。</a:t>
            </a:r>
          </a:p>
        </p:txBody>
      </p:sp>
      <p:sp>
        <p:nvSpPr>
          <p:cNvPr id="6" name="边界：策略在线决定切块、分组、路径与提升；框架负责查缓存、执行、共享带宽及计分。目标卡由请求指定。"/>
          <p:cNvSpPr txBox="1"/>
          <p:nvPr/>
        </p:nvSpPr>
        <p:spPr>
          <a:xfrm>
            <a:off x="523874" y="1438275"/>
            <a:ext cx="11144250" cy="2095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425" b="0" lang="zh-CN">
                <a:solidFill>
                  <a:srgbClr val="1F2937"/>
                </a:solidFill>
                <a:latin typeface="Microsoft YaHei"/>
                <a:ea typeface="Microsoft YaHei"/>
              </a:rPr>
              <a:t>边界：策略在线决定切块、分组、路径与提升；框架负责查缓存、执行、共享带宽及计分。目标卡由请求指定。</a:t>
            </a:r>
          </a:p>
        </p:txBody>
      </p:sp>
      <p:sp>
        <p:nvSpPr>
          <p:cNvPr id="7" name="关键观察与设计依据"/>
          <p:cNvSpPr txBox="1"/>
          <p:nvPr/>
        </p:nvSpPr>
        <p:spPr>
          <a:xfrm>
            <a:off x="381000" y="1828800"/>
            <a:ext cx="7086600" cy="2857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800" b="1" lang="zh-CN">
                <a:solidFill>
                  <a:srgbClr val="285EA8"/>
                </a:solidFill>
                <a:latin typeface="Microsoft YaHei"/>
                <a:ea typeface="Microsoft YaHei"/>
              </a:rPr>
              <a:t>关键观察与设计依据</a:t>
            </a:r>
          </a:p>
        </p:txBody>
      </p:sp>
      <p:sp>
        <p:nvSpPr>
          <p:cNvPr id="8" name="Rectangle 7"/>
          <p:cNvSpPr/>
          <p:nvPr/>
        </p:nvSpPr>
        <p:spPr>
          <a:xfrm>
            <a:off x="381000" y="2190750"/>
            <a:ext cx="2247900" cy="89535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合并有双重作用"/>
          <p:cNvSpPr txBox="1"/>
          <p:nvPr/>
        </p:nvSpPr>
        <p:spPr>
          <a:xfrm>
            <a:off x="495299" y="2276475"/>
            <a:ext cx="2019300" cy="2667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575" b="1" lang="zh-CN">
                <a:solidFill>
                  <a:srgbClr val="285EA8"/>
                </a:solidFill>
                <a:latin typeface="Microsoft YaHei"/>
                <a:ea typeface="Microsoft YaHei"/>
              </a:rPr>
              <a:t>合并有双重作用</a:t>
            </a:r>
          </a:p>
        </p:txBody>
      </p:sp>
      <p:sp>
        <p:nvSpPr>
          <p:cNvPr id="10" name="少调用、共享重叠读取； 也会改变并发与缓冲占用。"/>
          <p:cNvSpPr txBox="1"/>
          <p:nvPr/>
        </p:nvSpPr>
        <p:spPr>
          <a:xfrm>
            <a:off x="495299" y="2590800"/>
            <a:ext cx="2019300" cy="4191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50" b="0" lang="zh-CN">
                <a:solidFill>
                  <a:srgbClr val="1F2937"/>
                </a:solidFill>
                <a:latin typeface="Microsoft YaHei"/>
                <a:ea typeface="Microsoft YaHei"/>
              </a:rPr>
              <a:t>少调用、共享重叠读取；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50" b="0" lang="zh-CN">
                <a:solidFill>
                  <a:srgbClr val="1F2937"/>
                </a:solidFill>
                <a:latin typeface="Microsoft YaHei"/>
                <a:ea typeface="Microsoft YaHei"/>
              </a:rPr>
              <a:t>也会改变并发与缓冲占用。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00350" y="2190750"/>
            <a:ext cx="2247900" cy="89535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路径选择依赖分组"/>
          <p:cNvSpPr txBox="1"/>
          <p:nvPr/>
        </p:nvSpPr>
        <p:spPr>
          <a:xfrm>
            <a:off x="2914650" y="2276475"/>
            <a:ext cx="2019300" cy="2667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575" b="1" lang="zh-CN">
                <a:solidFill>
                  <a:srgbClr val="285EA8"/>
                </a:solidFill>
                <a:latin typeface="Microsoft YaHei"/>
                <a:ea typeface="Microsoft YaHei"/>
              </a:rPr>
              <a:t>路径选择依赖分组</a:t>
            </a:r>
          </a:p>
        </p:txBody>
      </p:sp>
      <p:sp>
        <p:nvSpPr>
          <p:cNvPr id="13" name="同组可有多条合法路径； 调用、复制和池需求不同。"/>
          <p:cNvSpPr txBox="1"/>
          <p:nvPr/>
        </p:nvSpPr>
        <p:spPr>
          <a:xfrm>
            <a:off x="2914650" y="2590800"/>
            <a:ext cx="2019300" cy="4191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50" b="0" lang="zh-CN">
                <a:solidFill>
                  <a:srgbClr val="1F2937"/>
                </a:solidFill>
                <a:latin typeface="Microsoft YaHei"/>
                <a:ea typeface="Microsoft YaHei"/>
              </a:rPr>
              <a:t>同组可有多条合法路径；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50" b="0" lang="zh-CN">
                <a:solidFill>
                  <a:srgbClr val="1F2937"/>
                </a:solidFill>
                <a:latin typeface="Microsoft YaHei"/>
                <a:ea typeface="Microsoft YaHei"/>
              </a:rPr>
              <a:t>调用、复制和池需求不同。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19700" y="2190750"/>
            <a:ext cx="2247900" cy="895350"/>
          </a:xfrm>
          <a:prstGeom prst="rect">
            <a:avLst/>
          </a:prstGeom>
          <a:solidFill>
            <a:srgbClr val="EE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缓存需要收回投入"/>
          <p:cNvSpPr txBox="1"/>
          <p:nvPr/>
        </p:nvSpPr>
        <p:spPr>
          <a:xfrm>
            <a:off x="5334000" y="2276475"/>
            <a:ext cx="2019300" cy="2667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575" b="1" lang="zh-CN">
                <a:solidFill>
                  <a:srgbClr val="24756D"/>
                </a:solidFill>
                <a:latin typeface="Microsoft YaHei"/>
                <a:ea typeface="Microsoft YaHei"/>
              </a:rPr>
              <a:t>缓存需要收回投入</a:t>
            </a:r>
          </a:p>
        </p:txBody>
      </p:sp>
      <p:sp>
        <p:nvSpPr>
          <p:cNvPr id="16" name="提升和命中均有搬运成本； 投入依靠后续复用收回。"/>
          <p:cNvSpPr txBox="1"/>
          <p:nvPr/>
        </p:nvSpPr>
        <p:spPr>
          <a:xfrm>
            <a:off x="5334000" y="2590800"/>
            <a:ext cx="2019300" cy="4191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50" b="0" lang="zh-CN">
                <a:solidFill>
                  <a:srgbClr val="1F2937"/>
                </a:solidFill>
                <a:latin typeface="Microsoft YaHei"/>
                <a:ea typeface="Microsoft YaHei"/>
              </a:rPr>
              <a:t>提升和命中均有搬运成本；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50" b="0" lang="zh-CN">
                <a:solidFill>
                  <a:srgbClr val="1F2937"/>
                </a:solidFill>
                <a:latin typeface="Microsoft YaHei"/>
                <a:ea typeface="Microsoft YaHei"/>
              </a:rPr>
              <a:t>投入依靠后续复用收回。</a:t>
            </a:r>
          </a:p>
        </p:txBody>
      </p:sp>
      <p:sp>
        <p:nvSpPr>
          <p:cNvPr id="17" name="前台：同一转移联合选择分组边界与路径"/>
          <p:cNvSpPr txBox="1"/>
          <p:nvPr/>
        </p:nvSpPr>
        <p:spPr>
          <a:xfrm>
            <a:off x="381000" y="3190875"/>
            <a:ext cx="7086600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800" b="1" lang="zh-CN">
                <a:solidFill>
                  <a:srgbClr val="285EA8"/>
                </a:solidFill>
                <a:latin typeface="Microsoft YaHei"/>
                <a:ea typeface="Microsoft YaHei"/>
              </a:rPr>
              <a:t>前台：同一转移联合选择分组边界与路径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81000" y="3562350"/>
            <a:ext cx="1657350" cy="523874"/>
          </a:xfrm>
          <a:prstGeom prst="rect">
            <a:avLst/>
          </a:prstGeom>
          <a:solidFill>
            <a:srgbClr val="ED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索引与合法切块"/>
          <p:cNvSpPr txBox="1"/>
          <p:nvPr/>
        </p:nvSpPr>
        <p:spPr>
          <a:xfrm>
            <a:off x="466724" y="3638550"/>
            <a:ext cx="1485900" cy="2190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50" b="1" lang="zh-CN">
                <a:solidFill>
                  <a:srgbClr val="285EA8"/>
                </a:solidFill>
                <a:latin typeface="Microsoft YaHei"/>
                <a:ea typeface="Microsoft YaHei"/>
              </a:rPr>
              <a:t>索引与合法切块</a:t>
            </a:r>
          </a:p>
        </p:txBody>
      </p:sp>
      <p:sp>
        <p:nvSpPr>
          <p:cNvPr id="20" name="IovIndex / Piece"/>
          <p:cNvSpPr txBox="1"/>
          <p:nvPr/>
        </p:nvSpPr>
        <p:spPr>
          <a:xfrm>
            <a:off x="466724" y="3895725"/>
            <a:ext cx="1485900" cy="2000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00" b="0" lang="zh-CN">
                <a:solidFill>
                  <a:srgbClr val="1F2937"/>
                </a:solidFill>
                <a:latin typeface="Microsoft YaHei"/>
                <a:ea typeface="Microsoft YaHei"/>
              </a:rPr>
              <a:t>IovIndex / Piece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047875" y="3819524"/>
            <a:ext cx="123825" cy="0"/>
          </a:xfrm>
          <a:prstGeom prst="line">
            <a:avLst/>
          </a:prstGeom>
          <a:ln w="16510">
            <a:solidFill>
              <a:srgbClr val="285EA8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2190750" y="3562350"/>
            <a:ext cx="1657350" cy="523874"/>
          </a:xfrm>
          <a:prstGeom prst="rect">
            <a:avLst/>
          </a:prstGeom>
          <a:solidFill>
            <a:srgbClr val="ED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按卡、SSD 排序"/>
          <p:cNvSpPr txBox="1"/>
          <p:nvPr/>
        </p:nvSpPr>
        <p:spPr>
          <a:xfrm>
            <a:off x="2276475" y="3638550"/>
            <a:ext cx="1485900" cy="2190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50" b="1" lang="zh-CN">
                <a:solidFill>
                  <a:srgbClr val="285EA8"/>
                </a:solidFill>
                <a:latin typeface="Microsoft YaHei"/>
                <a:ea typeface="Microsoft YaHei"/>
              </a:rPr>
              <a:t>按卡、SSD 排序</a:t>
            </a:r>
          </a:p>
        </p:txBody>
      </p:sp>
      <p:sp>
        <p:nvSpPr>
          <p:cNvPr id="24" name="枚举同卡相连候选"/>
          <p:cNvSpPr txBox="1"/>
          <p:nvPr/>
        </p:nvSpPr>
        <p:spPr>
          <a:xfrm>
            <a:off x="2276475" y="3895725"/>
            <a:ext cx="1485900" cy="2000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00" b="0" lang="zh-CN">
                <a:solidFill>
                  <a:srgbClr val="1F2937"/>
                </a:solidFill>
                <a:latin typeface="Microsoft YaHei"/>
                <a:ea typeface="Microsoft YaHei"/>
              </a:rPr>
              <a:t>枚举同卡相连候选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857625" y="3819524"/>
            <a:ext cx="123825" cy="0"/>
          </a:xfrm>
          <a:prstGeom prst="line">
            <a:avLst/>
          </a:prstGeom>
          <a:ln w="16510">
            <a:solidFill>
              <a:srgbClr val="285EA8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4000500" y="3562350"/>
            <a:ext cx="1657350" cy="523874"/>
          </a:xfrm>
          <a:prstGeom prst="rect">
            <a:avLst/>
          </a:prstGeom>
          <a:solidFill>
            <a:srgbClr val="ED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联合 DP 估价"/>
          <p:cNvSpPr txBox="1"/>
          <p:nvPr/>
        </p:nvSpPr>
        <p:spPr>
          <a:xfrm>
            <a:off x="4086225" y="3638550"/>
            <a:ext cx="1485900" cy="2190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50" b="1" lang="zh-CN">
                <a:solidFill>
                  <a:srgbClr val="285EA8"/>
                </a:solidFill>
                <a:latin typeface="Microsoft YaHei"/>
                <a:ea typeface="Microsoft YaHei"/>
              </a:rPr>
              <a:t>联合 DP 估价</a:t>
            </a:r>
          </a:p>
        </p:txBody>
      </p:sp>
      <p:sp>
        <p:nvSpPr>
          <p:cNvPr id="28" name="分组边界 + 路径"/>
          <p:cNvSpPr txBox="1"/>
          <p:nvPr/>
        </p:nvSpPr>
        <p:spPr>
          <a:xfrm>
            <a:off x="4086225" y="3895725"/>
            <a:ext cx="1485900" cy="2000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00" b="0" lang="zh-CN">
                <a:solidFill>
                  <a:srgbClr val="1F2937"/>
                </a:solidFill>
                <a:latin typeface="Microsoft YaHei"/>
                <a:ea typeface="Microsoft YaHei"/>
              </a:rPr>
              <a:t>分组边界 + 路径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667375" y="3819524"/>
            <a:ext cx="123825" cy="0"/>
          </a:xfrm>
          <a:prstGeom prst="line">
            <a:avLst/>
          </a:prstGeom>
          <a:ln w="16510">
            <a:solidFill>
              <a:srgbClr val="285EA8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5810250" y="3562350"/>
            <a:ext cx="1657350" cy="523874"/>
          </a:xfrm>
          <a:prstGeom prst="rect">
            <a:avLst/>
          </a:prstGeom>
          <a:solidFill>
            <a:srgbClr val="ED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回溯生成最终计划"/>
          <p:cNvSpPr txBox="1"/>
          <p:nvPr/>
        </p:nvSpPr>
        <p:spPr>
          <a:xfrm>
            <a:off x="5895975" y="3638550"/>
            <a:ext cx="1485900" cy="2190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50" b="1" lang="zh-CN">
                <a:solidFill>
                  <a:srgbClr val="285EA8"/>
                </a:solidFill>
                <a:latin typeface="Microsoft YaHei"/>
                <a:ea typeface="Microsoft YaHei"/>
              </a:rPr>
              <a:t>回溯生成最终计划</a:t>
            </a:r>
          </a:p>
        </p:txBody>
      </p:sp>
      <p:sp>
        <p:nvSpPr>
          <p:cNvPr id="32" name="operation → Work"/>
          <p:cNvSpPr txBox="1"/>
          <p:nvPr/>
        </p:nvSpPr>
        <p:spPr>
          <a:xfrm>
            <a:off x="5895975" y="3895725"/>
            <a:ext cx="1485900" cy="2000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00" b="0" lang="zh-CN">
                <a:solidFill>
                  <a:srgbClr val="1F2937"/>
                </a:solidFill>
                <a:latin typeface="Microsoft YaHei"/>
                <a:ea typeface="Microsoft YaHei"/>
              </a:rPr>
              <a:t>operation → Work</a:t>
            </a:r>
          </a:p>
        </p:txBody>
      </p:sp>
      <p:sp>
        <p:nvSpPr>
          <p:cNvPr id="33" name="切块保留目标映射、内部切点对齐；候选路径须满足对齐、容量与槽位约束。"/>
          <p:cNvSpPr txBox="1"/>
          <p:nvPr/>
        </p:nvSpPr>
        <p:spPr>
          <a:xfrm>
            <a:off x="381000" y="4181475"/>
            <a:ext cx="7086600" cy="2190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50" b="0" lang="zh-CN">
                <a:solidFill>
                  <a:srgbClr val="1F2937"/>
                </a:solidFill>
                <a:latin typeface="Microsoft YaHei"/>
                <a:ea typeface="Microsoft YaHei"/>
              </a:rPr>
              <a:t>切块保留目标映射、内部切点对齐；候选路径须满足对齐、容量与槽位约束。</a:t>
            </a:r>
          </a:p>
        </p:txBody>
      </p:sp>
      <p:sp>
        <p:nvSpPr>
          <p:cNvPr id="34" name="估价 E = 时间单价 ×（SSD 读工作 + 复制工作）× 池压力 + 调用费"/>
          <p:cNvSpPr txBox="1"/>
          <p:nvPr/>
        </p:nvSpPr>
        <p:spPr>
          <a:xfrm>
            <a:off x="381000" y="4467225"/>
            <a:ext cx="7086600" cy="2286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425" b="1" lang="zh-CN">
                <a:solidFill>
                  <a:srgbClr val="285EA8"/>
                </a:solidFill>
                <a:latin typeface="Microsoft YaHei"/>
                <a:ea typeface="Microsoft YaHei"/>
              </a:rPr>
              <a:t>估价 E = 时间单价 ×（SSD 读工作 + 复制工作）× 池压力 + 调用费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81000" y="4781550"/>
            <a:ext cx="3467100" cy="5715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快速 DP · 每批执行"/>
          <p:cNvSpPr txBox="1"/>
          <p:nvPr/>
        </p:nvSpPr>
        <p:spPr>
          <a:xfrm>
            <a:off x="476250" y="4848225"/>
            <a:ext cx="3276600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500" b="1" lang="zh-CN">
                <a:solidFill>
                  <a:srgbClr val="285EA8"/>
                </a:solidFill>
                <a:latin typeface="Microsoft YaHei"/>
                <a:ea typeface="Microsoft YaHei"/>
              </a:rPr>
              <a:t>快速 DP · 每批执行</a:t>
            </a:r>
          </a:p>
        </p:txBody>
      </p:sp>
      <p:sp>
        <p:nvSpPr>
          <p:cNvPr id="37" name="dp[j]：前 j 段最低估价；得到一份基础方案。"/>
          <p:cNvSpPr txBox="1"/>
          <p:nvPr/>
        </p:nvSpPr>
        <p:spPr>
          <a:xfrm>
            <a:off x="476250" y="5124450"/>
            <a:ext cx="3276600" cy="2000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25" b="0" lang="zh-CN">
                <a:solidFill>
                  <a:srgbClr val="1F2937"/>
                </a:solidFill>
                <a:latin typeface="Microsoft YaHei"/>
                <a:ea typeface="Microsoft YaHei"/>
              </a:rPr>
              <a:t>dp[j]：前 j 段最低估价；得到一份基础方案。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000500" y="4781550"/>
            <a:ext cx="3467100" cy="5715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细化 DP · 空闲且规模可控"/>
          <p:cNvSpPr txBox="1"/>
          <p:nvPr/>
        </p:nvSpPr>
        <p:spPr>
          <a:xfrm>
            <a:off x="4095750" y="4848225"/>
            <a:ext cx="3276600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500" b="1" lang="zh-CN">
                <a:solidFill>
                  <a:srgbClr val="285EA8"/>
                </a:solidFill>
                <a:latin typeface="Microsoft YaHei"/>
                <a:ea typeface="Microsoft YaHei"/>
              </a:rPr>
              <a:t>细化 DP · 空闲且规模可控</a:t>
            </a:r>
          </a:p>
        </p:txBody>
      </p:sp>
      <p:sp>
        <p:nvSpPr>
          <p:cNvPr id="40" name="D[h][j]：前 j 段恰好 h 组；重估并发、重新划分。"/>
          <p:cNvSpPr txBox="1"/>
          <p:nvPr/>
        </p:nvSpPr>
        <p:spPr>
          <a:xfrm>
            <a:off x="4095750" y="5124450"/>
            <a:ext cx="3276600" cy="2000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25" b="0" lang="zh-CN">
                <a:solidFill>
                  <a:srgbClr val="1F2937"/>
                </a:solidFill>
                <a:latin typeface="Microsoft YaHei"/>
                <a:ea typeface="Microsoft YaHei"/>
              </a:rPr>
              <a:t>D[h][j]：前 j 段恰好 h 组；重估并发、重新划分。</a:t>
            </a:r>
          </a:p>
        </p:txBody>
      </p:sp>
      <p:sp>
        <p:nvSpPr>
          <p:cNvPr id="41" name="细化从原片段重算，引用基础复制分布；资源检查后只提交一份，无合格结果则保留快速方案。"/>
          <p:cNvSpPr txBox="1"/>
          <p:nvPr/>
        </p:nvSpPr>
        <p:spPr>
          <a:xfrm>
            <a:off x="381000" y="5448300"/>
            <a:ext cx="7086600" cy="2286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00" b="0" lang="zh-CN">
                <a:solidFill>
                  <a:srgbClr val="1F2937"/>
                </a:solidFill>
                <a:latin typeface="Microsoft YaHei"/>
                <a:ea typeface="Microsoft YaHei"/>
              </a:rPr>
              <a:t>细化从原片段重算，引用基础复制分布；资源检查后只提交一份，无合格结果则保留快速方案。</a:t>
            </a:r>
          </a:p>
        </p:txBody>
      </p:sp>
      <p:sp>
        <p:nvSpPr>
          <p:cNvPr id="42" name="后台：完成 → 去重 → 复用证据 → 正净收益 → 预算 → PROMOTE"/>
          <p:cNvSpPr txBox="1"/>
          <p:nvPr/>
        </p:nvSpPr>
        <p:spPr>
          <a:xfrm>
            <a:off x="381000" y="5810250"/>
            <a:ext cx="7086600" cy="2762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650" b="1" lang="zh-CN">
                <a:solidFill>
                  <a:srgbClr val="24756D"/>
                </a:solidFill>
                <a:latin typeface="Microsoft YaHei"/>
                <a:ea typeface="Microsoft YaHei"/>
              </a:rPr>
              <a:t>后台：完成 → 去重 → 复用证据 → 正净收益 → 预算 → PROMOTE</a:t>
            </a:r>
          </a:p>
        </p:txBody>
      </p:sp>
      <p:sp>
        <p:nvSpPr>
          <p:cNvPr id="43" name="History 管间隔、时效与预算；Work 提供可替代成本；在途键集合去重。"/>
          <p:cNvSpPr txBox="1"/>
          <p:nvPr/>
        </p:nvSpPr>
        <p:spPr>
          <a:xfrm>
            <a:off x="381000" y="6153150"/>
            <a:ext cx="7086600" cy="2190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50" b="0" lang="zh-CN">
                <a:solidFill>
                  <a:srgbClr val="1F2937"/>
                </a:solidFill>
                <a:latin typeface="Microsoft YaHei"/>
                <a:ea typeface="Microsoft YaHei"/>
              </a:rPr>
              <a:t>History 管间隔、时效与预算；Work 提供可替代成本；在途键集合去重。</a:t>
            </a:r>
          </a:p>
        </p:txBody>
      </p:sp>
      <p:sp>
        <p:nvSpPr>
          <p:cNvPr id="44" name="复用间隔与证据年龄均须在 TTL 内；池满可替换，压力越大门槛越高。"/>
          <p:cNvSpPr txBox="1"/>
          <p:nvPr/>
        </p:nvSpPr>
        <p:spPr>
          <a:xfrm>
            <a:off x="381000" y="6448425"/>
            <a:ext cx="7086600" cy="2190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50" b="0" lang="zh-CN">
                <a:solidFill>
                  <a:srgbClr val="1F2937"/>
                </a:solidFill>
                <a:latin typeface="Microsoft YaHei"/>
                <a:ea typeface="Microsoft YaHei"/>
              </a:rPr>
              <a:t>复用间隔与证据年龄均须在 TTL 内；池满可替换，压力越大门槛越高。</a:t>
            </a:r>
          </a:p>
        </p:txBody>
      </p:sp>
      <p:sp>
        <p:nvSpPr>
          <p:cNvPr id="45" name="性能对比 · 官方贪心 → 本方案"/>
          <p:cNvSpPr txBox="1"/>
          <p:nvPr/>
        </p:nvSpPr>
        <p:spPr>
          <a:xfrm>
            <a:off x="7772400" y="1828800"/>
            <a:ext cx="4038600" cy="2857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800" b="1" lang="zh-CN">
                <a:solidFill>
                  <a:srgbClr val="24756D"/>
                </a:solidFill>
                <a:latin typeface="Microsoft YaHei"/>
                <a:ea typeface="Microsoft YaHei"/>
              </a:rPr>
              <a:t>性能对比 · 官方贪心 → 本方案</a:t>
            </a:r>
          </a:p>
        </p:txBody>
      </p:sp>
      <p:sp>
        <p:nvSpPr>
          <p:cNvPr id="46" name="39 条公开 Trace 累计；降幅按总量计算"/>
          <p:cNvSpPr txBox="1"/>
          <p:nvPr/>
        </p:nvSpPr>
        <p:spPr>
          <a:xfrm>
            <a:off x="7772400" y="2200275"/>
            <a:ext cx="4038600" cy="2190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425" b="0" lang="zh-CN">
                <a:solidFill>
                  <a:srgbClr val="657184"/>
                </a:solidFill>
                <a:latin typeface="Microsoft YaHei"/>
                <a:ea typeface="Microsoft YaHei"/>
              </a:rPr>
              <a:t>39 条公开 Trace 累计；降幅按总量计算</a:t>
            </a:r>
          </a:p>
        </p:txBody>
      </p:sp>
      <p:sp>
        <p:nvSpPr>
          <p:cNvPr id="47" name="总成本 J  ↓ 36.51%"/>
          <p:cNvSpPr txBox="1"/>
          <p:nvPr/>
        </p:nvSpPr>
        <p:spPr>
          <a:xfrm>
            <a:off x="7772400" y="2590800"/>
            <a:ext cx="4038600" cy="2857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725" b="1" lang="zh-CN">
                <a:solidFill>
                  <a:srgbClr val="24756D"/>
                </a:solidFill>
                <a:latin typeface="Microsoft YaHei"/>
                <a:ea typeface="Microsoft YaHei"/>
              </a:rPr>
              <a:t>总成本 J  ↓ 36.51%</a:t>
            </a:r>
          </a:p>
        </p:txBody>
      </p:sp>
      <p:sp>
        <p:nvSpPr>
          <p:cNvPr id="48" name="贪心"/>
          <p:cNvSpPr txBox="1"/>
          <p:nvPr/>
        </p:nvSpPr>
        <p:spPr>
          <a:xfrm>
            <a:off x="7772400" y="2952750"/>
            <a:ext cx="647700" cy="2286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50" b="0" lang="zh-CN">
                <a:solidFill>
                  <a:srgbClr val="657184"/>
                </a:solidFill>
                <a:latin typeface="Microsoft YaHei"/>
                <a:ea typeface="Microsoft YaHei"/>
              </a:rPr>
              <a:t>贪心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486775" y="3000375"/>
            <a:ext cx="1809750" cy="123824"/>
          </a:xfrm>
          <a:prstGeom prst="rect">
            <a:avLst/>
          </a:prstGeom>
          <a:solidFill>
            <a:srgbClr val="C8D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3,581,641"/>
          <p:cNvSpPr txBox="1"/>
          <p:nvPr/>
        </p:nvSpPr>
        <p:spPr>
          <a:xfrm>
            <a:off x="10420350" y="2943225"/>
            <a:ext cx="1390650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300"/>
              </a:spcAft>
            </a:pPr>
            <a:r>
              <a:rPr sz="1575" b="1" lang="zh-CN">
                <a:solidFill>
                  <a:srgbClr val="657184"/>
                </a:solidFill>
                <a:latin typeface="Microsoft YaHei"/>
                <a:ea typeface="Microsoft YaHei"/>
              </a:rPr>
              <a:t>3,581,641</a:t>
            </a:r>
          </a:p>
        </p:txBody>
      </p:sp>
      <p:sp>
        <p:nvSpPr>
          <p:cNvPr id="51" name="本方案"/>
          <p:cNvSpPr txBox="1"/>
          <p:nvPr/>
        </p:nvSpPr>
        <p:spPr>
          <a:xfrm>
            <a:off x="7772400" y="3248025"/>
            <a:ext cx="647700" cy="2286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50" b="0" lang="zh-CN">
                <a:solidFill>
                  <a:srgbClr val="24756D"/>
                </a:solidFill>
                <a:latin typeface="Microsoft YaHei"/>
                <a:ea typeface="Microsoft YaHei"/>
              </a:rPr>
              <a:t>本方案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486775" y="3295650"/>
            <a:ext cx="1148954" cy="123824"/>
          </a:xfrm>
          <a:prstGeom prst="rect">
            <a:avLst/>
          </a:prstGeom>
          <a:solidFill>
            <a:srgbClr val="2475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2,273,874"/>
          <p:cNvSpPr txBox="1"/>
          <p:nvPr/>
        </p:nvSpPr>
        <p:spPr>
          <a:xfrm>
            <a:off x="10420350" y="3238500"/>
            <a:ext cx="1390650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300"/>
              </a:spcAft>
            </a:pPr>
            <a:r>
              <a:rPr sz="1575" b="1" lang="zh-CN">
                <a:solidFill>
                  <a:srgbClr val="24756D"/>
                </a:solidFill>
                <a:latin typeface="Microsoft YaHei"/>
                <a:ea typeface="Microsoft YaHei"/>
              </a:rPr>
              <a:t>2,273,874</a:t>
            </a:r>
          </a:p>
        </p:txBody>
      </p:sp>
      <p:sp>
        <p:nvSpPr>
          <p:cNvPr id="54" name="前台调用费  ↓ 66.82%"/>
          <p:cNvSpPr txBox="1"/>
          <p:nvPr/>
        </p:nvSpPr>
        <p:spPr>
          <a:xfrm>
            <a:off x="7772400" y="3648075"/>
            <a:ext cx="4038600" cy="2857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725" b="1" lang="zh-CN">
                <a:solidFill>
                  <a:srgbClr val="24756D"/>
                </a:solidFill>
                <a:latin typeface="Microsoft YaHei"/>
                <a:ea typeface="Microsoft YaHei"/>
              </a:rPr>
              <a:t>前台调用费  ↓ 66.82%</a:t>
            </a:r>
          </a:p>
        </p:txBody>
      </p:sp>
      <p:sp>
        <p:nvSpPr>
          <p:cNvPr id="55" name="贪心"/>
          <p:cNvSpPr txBox="1"/>
          <p:nvPr/>
        </p:nvSpPr>
        <p:spPr>
          <a:xfrm>
            <a:off x="7772400" y="4010025"/>
            <a:ext cx="647700" cy="2286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50" b="0" lang="zh-CN">
                <a:solidFill>
                  <a:srgbClr val="657184"/>
                </a:solidFill>
                <a:latin typeface="Microsoft YaHei"/>
                <a:ea typeface="Microsoft YaHei"/>
              </a:rPr>
              <a:t>贪心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486775" y="4057650"/>
            <a:ext cx="1809750" cy="123824"/>
          </a:xfrm>
          <a:prstGeom prst="rect">
            <a:avLst/>
          </a:prstGeom>
          <a:solidFill>
            <a:srgbClr val="C8D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610,928"/>
          <p:cNvSpPr txBox="1"/>
          <p:nvPr/>
        </p:nvSpPr>
        <p:spPr>
          <a:xfrm>
            <a:off x="10420350" y="4000500"/>
            <a:ext cx="1390650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300"/>
              </a:spcAft>
            </a:pPr>
            <a:r>
              <a:rPr sz="1575" b="1" lang="zh-CN">
                <a:solidFill>
                  <a:srgbClr val="657184"/>
                </a:solidFill>
                <a:latin typeface="Microsoft YaHei"/>
                <a:ea typeface="Microsoft YaHei"/>
              </a:rPr>
              <a:t>610,928</a:t>
            </a:r>
          </a:p>
        </p:txBody>
      </p:sp>
      <p:sp>
        <p:nvSpPr>
          <p:cNvPr id="58" name="本方案"/>
          <p:cNvSpPr txBox="1"/>
          <p:nvPr/>
        </p:nvSpPr>
        <p:spPr>
          <a:xfrm>
            <a:off x="7772400" y="4305300"/>
            <a:ext cx="647700" cy="2286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50" b="0" lang="zh-CN">
                <a:solidFill>
                  <a:srgbClr val="24756D"/>
                </a:solidFill>
                <a:latin typeface="Microsoft YaHei"/>
                <a:ea typeface="Microsoft YaHei"/>
              </a:rPr>
              <a:t>本方案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486775" y="4352925"/>
            <a:ext cx="600549" cy="123824"/>
          </a:xfrm>
          <a:prstGeom prst="rect">
            <a:avLst/>
          </a:prstGeom>
          <a:solidFill>
            <a:srgbClr val="2475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202,731"/>
          <p:cNvSpPr txBox="1"/>
          <p:nvPr/>
        </p:nvSpPr>
        <p:spPr>
          <a:xfrm>
            <a:off x="10420350" y="4295775"/>
            <a:ext cx="1390650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300"/>
              </a:spcAft>
            </a:pPr>
            <a:r>
              <a:rPr sz="1575" b="1" lang="zh-CN">
                <a:solidFill>
                  <a:srgbClr val="24756D"/>
                </a:solidFill>
                <a:latin typeface="Microsoft YaHei"/>
                <a:ea typeface="Microsoft YaHei"/>
              </a:rPr>
              <a:t>202,731</a:t>
            </a:r>
          </a:p>
        </p:txBody>
      </p:sp>
      <p:sp>
        <p:nvSpPr>
          <p:cNvPr id="61" name="后台调用费  ↓ 94.84%"/>
          <p:cNvSpPr txBox="1"/>
          <p:nvPr/>
        </p:nvSpPr>
        <p:spPr>
          <a:xfrm>
            <a:off x="7772400" y="4705350"/>
            <a:ext cx="4038600" cy="2857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725" b="1" lang="zh-CN">
                <a:solidFill>
                  <a:srgbClr val="24756D"/>
                </a:solidFill>
                <a:latin typeface="Microsoft YaHei"/>
                <a:ea typeface="Microsoft YaHei"/>
              </a:rPr>
              <a:t>后台调用费  ↓ 94.84%</a:t>
            </a:r>
          </a:p>
        </p:txBody>
      </p:sp>
      <p:sp>
        <p:nvSpPr>
          <p:cNvPr id="62" name="贪心"/>
          <p:cNvSpPr txBox="1"/>
          <p:nvPr/>
        </p:nvSpPr>
        <p:spPr>
          <a:xfrm>
            <a:off x="7772400" y="5067300"/>
            <a:ext cx="647700" cy="2286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50" b="0" lang="zh-CN">
                <a:solidFill>
                  <a:srgbClr val="657184"/>
                </a:solidFill>
                <a:latin typeface="Microsoft YaHei"/>
                <a:ea typeface="Microsoft YaHei"/>
              </a:rPr>
              <a:t>贪心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486775" y="5114925"/>
            <a:ext cx="1809750" cy="123824"/>
          </a:xfrm>
          <a:prstGeom prst="rect">
            <a:avLst/>
          </a:prstGeom>
          <a:solidFill>
            <a:srgbClr val="C8D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804,656"/>
          <p:cNvSpPr txBox="1"/>
          <p:nvPr/>
        </p:nvSpPr>
        <p:spPr>
          <a:xfrm>
            <a:off x="10420350" y="5057775"/>
            <a:ext cx="1390650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300"/>
              </a:spcAft>
            </a:pPr>
            <a:r>
              <a:rPr sz="1575" b="1" lang="zh-CN">
                <a:solidFill>
                  <a:srgbClr val="657184"/>
                </a:solidFill>
                <a:latin typeface="Microsoft YaHei"/>
                <a:ea typeface="Microsoft YaHei"/>
              </a:rPr>
              <a:t>804,656</a:t>
            </a:r>
          </a:p>
        </p:txBody>
      </p:sp>
      <p:sp>
        <p:nvSpPr>
          <p:cNvPr id="65" name="本方案"/>
          <p:cNvSpPr txBox="1"/>
          <p:nvPr/>
        </p:nvSpPr>
        <p:spPr>
          <a:xfrm>
            <a:off x="7772400" y="5362575"/>
            <a:ext cx="647700" cy="2286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50" b="0" lang="zh-CN">
                <a:solidFill>
                  <a:srgbClr val="24756D"/>
                </a:solidFill>
                <a:latin typeface="Microsoft YaHei"/>
                <a:ea typeface="Microsoft YaHei"/>
              </a:rPr>
              <a:t>本方案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486775" y="5410200"/>
            <a:ext cx="93297" cy="123824"/>
          </a:xfrm>
          <a:prstGeom prst="rect">
            <a:avLst/>
          </a:prstGeom>
          <a:solidFill>
            <a:srgbClr val="2475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41,482"/>
          <p:cNvSpPr txBox="1"/>
          <p:nvPr/>
        </p:nvSpPr>
        <p:spPr>
          <a:xfrm>
            <a:off x="10420350" y="5353050"/>
            <a:ext cx="1390650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300"/>
              </a:spcAft>
            </a:pPr>
            <a:r>
              <a:rPr sz="1575" b="1" lang="zh-CN">
                <a:solidFill>
                  <a:srgbClr val="24756D"/>
                </a:solidFill>
                <a:latin typeface="Microsoft YaHei"/>
                <a:ea typeface="Microsoft YaHei"/>
              </a:rPr>
              <a:t>41,482</a:t>
            </a:r>
          </a:p>
        </p:txBody>
      </p:sp>
      <p:sp>
        <p:nvSpPr>
          <p:cNvPr id="68" name="命中均摊后台费：19.71 → 4.94"/>
          <p:cNvSpPr txBox="1"/>
          <p:nvPr/>
        </p:nvSpPr>
        <p:spPr>
          <a:xfrm>
            <a:off x="7772400" y="5772150"/>
            <a:ext cx="4038600" cy="247649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725" b="1" lang="zh-CN">
                <a:solidFill>
                  <a:srgbClr val="24756D"/>
                </a:solidFill>
                <a:latin typeface="Microsoft YaHei"/>
                <a:ea typeface="Microsoft YaHei"/>
              </a:rPr>
              <a:t>命中均摊后台费：19.71 → 4.94</a:t>
            </a:r>
          </a:p>
        </p:txBody>
      </p:sp>
      <p:sp>
        <p:nvSpPr>
          <p:cNvPr id="69" name="总后台调用费 ÷ 总命中数；包含提升投入"/>
          <p:cNvSpPr txBox="1"/>
          <p:nvPr/>
        </p:nvSpPr>
        <p:spPr>
          <a:xfrm>
            <a:off x="7772400" y="6067425"/>
            <a:ext cx="4038600" cy="2095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50" b="0" lang="zh-CN">
                <a:solidFill>
                  <a:srgbClr val="657184"/>
                </a:solidFill>
                <a:latin typeface="Microsoft YaHei"/>
                <a:ea typeface="Microsoft YaHei"/>
              </a:rPr>
              <a:t>总后台调用费 ÷ 总命中数；包含提升投入</a:t>
            </a:r>
          </a:p>
        </p:txBody>
      </p:sp>
      <p:sp>
        <p:nvSpPr>
          <p:cNvPr id="70" name="自动评分：67.1981 → 88.4555 / 90"/>
          <p:cNvSpPr txBox="1"/>
          <p:nvPr/>
        </p:nvSpPr>
        <p:spPr>
          <a:xfrm>
            <a:off x="7772400" y="6400800"/>
            <a:ext cx="4038600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650" b="1" lang="zh-CN">
                <a:solidFill>
                  <a:srgbClr val="24756D"/>
                </a:solidFill>
                <a:latin typeface="Microsoft YaHei"/>
                <a:ea typeface="Microsoft YaHei"/>
              </a:rPr>
              <a:t>自动评分：67.1981 → 88.4555 / 90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381000" y="6800850"/>
            <a:ext cx="114300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复杂度：快速 DP 转移 O(nW)、空间 O(n)；细化固定 cnt 为 O(cnt·n·W)、O(cnt·n+nW)。"/>
          <p:cNvSpPr txBox="1"/>
          <p:nvPr/>
        </p:nvSpPr>
        <p:spPr>
          <a:xfrm>
            <a:off x="381000" y="6858000"/>
            <a:ext cx="11430000" cy="2286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425" b="1" lang="zh-CN">
                <a:solidFill>
                  <a:srgbClr val="285EA8"/>
                </a:solidFill>
                <a:latin typeface="Microsoft YaHei"/>
                <a:ea typeface="Microsoft YaHei"/>
              </a:rPr>
              <a:t>复杂度：快速 DP 转移 O(nW)、空间 O(n)；细化固定 cnt 为 O(cnt·n·W)、O(cnt·n+nW)。</a:t>
            </a:r>
          </a:p>
        </p:txBody>
      </p:sp>
      <p:sp>
        <p:nvSpPr>
          <p:cNvPr id="73" name="n = 片段数，W = 候选窗口，cnt = 组数；候选维护另计 O(nW log(W+1))。"/>
          <p:cNvSpPr txBox="1"/>
          <p:nvPr/>
        </p:nvSpPr>
        <p:spPr>
          <a:xfrm>
            <a:off x="381000" y="7115175"/>
            <a:ext cx="11430000" cy="2000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00" b="0" lang="zh-CN">
                <a:solidFill>
                  <a:srgbClr val="1F2937"/>
                </a:solidFill>
                <a:latin typeface="Microsoft YaHei"/>
                <a:ea typeface="Microsoft YaHei"/>
              </a:rPr>
              <a:t>n = 片段数，W = 候选窗口，cnt = 组数；候选维护另计 O(nW log(W+1))。</a:t>
            </a:r>
          </a:p>
        </p:txBody>
      </p:sp>
      <p:sp>
        <p:nvSpPr>
          <p:cNvPr id="74" name="进程耗时 10.969 → 9.393s；RSS 峰值 393.78 → 262.53MiB。时间为逐例三轮中位数之和，内存取峰值。"/>
          <p:cNvSpPr txBox="1"/>
          <p:nvPr/>
        </p:nvSpPr>
        <p:spPr>
          <a:xfrm>
            <a:off x="381000" y="7343775"/>
            <a:ext cx="11430000" cy="2000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00" b="0" lang="zh-CN">
                <a:solidFill>
                  <a:srgbClr val="1F2937"/>
                </a:solidFill>
                <a:latin typeface="Microsoft YaHei"/>
                <a:ea typeface="Microsoft YaHei"/>
              </a:rPr>
              <a:t>进程耗时 10.969 → 9.393s；RSS 峰值 393.78 → 262.53MiB。时间为逐例三轮中位数之和，内存取峰值。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NDS 多路径 IO 调度方案总览</dc:title>
  <dc:subject>算法流程、设计依据与性能对比</dc:subject>
  <dc:creator/>
  <cp:keywords/>
  <dc:description/>
  <cp:lastModifiedBy/>
  <cp:revision>1</cp:revision>
  <dcterms:created xsi:type="dcterms:W3CDTF">2013-01-27T09:14:16Z</dcterms:created>
  <dcterms:modified xsi:type="dcterms:W3CDTF">2013-01-27T09:15:58Z</dcterms:modified>
  <cp:category/>
</cp:coreProperties>
</file>