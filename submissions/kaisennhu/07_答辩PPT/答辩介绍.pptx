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风花雪月战队。选题：24.NDS多路径IO分配、聚合与缓存提升算法。队员：刁鹏杰、胡海川、杜杰贵。介绍前台联合动态规划、后台缓存准入、代码实现及验证结果。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是按时刻到达的一串读取批次。J中的时间是完整Trace模拟历时，包括已提交的尾部PROMOTE；CPU/NPU费用是题目规定的调用费，不是本机运行时间。策略在线处理已见请求，决定切块、分组、路径、依赖和提升来源，不改变请求指定的目标卡。框架查缓存、搬运、驱逐、共享资源并计分。命中仍需KV池到目标HBM的复制；PROMOTE不是本次读取必须的收尾。三条观察分别是：合并减少固定费与重复物理读，但会改变并发和缓冲；路径可替代，但合法性及成本不同；缓存先投入，只有后续复用才可能收回成本。前两项共同推出联合选择分组与路径，第三项推出后台成本准入。这里的同一个DP指分组和选路在同一转移内决策，不是声称实现仅有一种DP状态。两种求解精度在前台算法页说明。公开性能表用于估价，策略内部不调用模拟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框架读取Trace并创建策略，之后触发两个回调、执行策略返回的计划并输出结果。前台先为每个IOCB建立累计iov终点索引，二分定位目标交集；Piece保存IOCB、偏移、长度、aligned与whole。代码先按块上限切分。若不满足DIRECT对齐，用较大临时池的容量扣除起点扩读空间后限制有效长度；如果仍有后续数据，把内部块尾退到扇区边界，避免跨块重复读边界扇区。不能概括成所有有效请求都强制512B对齐。DIRECT要求SSD起点、长度及各个目标交集起点和长度均512B对齐；AGGREGATE/FALLBACK允许有效范围非对齐，但物理SSD读向两侧扩到扇区边界，复制只搬有效数据。然后按卡号、SSD起点、请求编号和偏移排序。这里所谓按卡分区是排序后候选组不能跨卡，没有另一个分区优化算法。候选组还受窗口、块大小、槽位和路径池容量约束；拆分IOCB不与其他IOCB共享操作，避免槽位等待环。DP状态是dp/prev/paths，细化追加组数维度；回溯生成operation，ranges与vectors保留请求覆盖和目标映射。Work只记最终提交计划，按有效字节分摊读、复制工作及调用费，供完成回调消费；它不是实际测得的执行时长。History跨回调维护复用间隔、抖动、新鲜度与credit。框架命中不进入on_submit，但仍有完成回调，缺少arrivals_登记可辨认命中。promotions_和pending_keys_记录在途提升并去重。缓存键为卡号、SSD起点、完整长度，不同卡不同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页以规划开销与估价精度的权衡为主线，而不是在快速解内部细分。两者从相同的预处理Piece列表与合法分组/路径候选出发。快速每批都运行，状态dp[j]只有前缀维度，更新dp[j]=min(dp[i]+E(i,j,path))；每个状态保留一个最佳前驱，最后只有一份完整基础方案。细化固定候选总组数cnt，状态D[h][j]增加组数维度，更新D[h][j]=min(D[h-1][i]+E_cnt(i,j,path))，回溯D[cnt][n]。因此可以跨越快速方案原有边界，重新选择分组和路径，结果不必相同。它不是把快速方案当作新的片段列表。快速SSD估价使用在途数+n，复制使用在途同类项+该卡请求数；细化入口要求保守空闲，SSD估价使用cnt，复制使用基础方案各卡和D2D/H2D组数比例缩放。基础组数也是cnt采样来源之一，所以当前实现仍有统计依赖，不能称为完全独立，也不能说按大小二选一。大规模或忙碌时只保留快速方案；空闲小批次在已有基础方案之上增加更细的估价搜索。每个cnt最多回溯一个估价最小计划，之后检查总槽位和池容量，不保留该cnt的次优计划。多个完整候选来自多个cnt，不来自快速DP。细化搜索受候选数、状态数和工作量约束；超限cnt跳过，保留已完成合格候选。存在合格细化结果时选择细化候选中最低估价者，否则快速方案；不同并发口径下的快速E和细化E不直接比较。局部E是时间单价乘读与复制工作、加调用费，中转还考虑池压力；它不是完整Trace的J，也不保证细化总能降低真实J。当前实现的工程阈值见算法与复杂度文档。四次点击对应快速、细化、执行选择、最终计划；不再展示教学数值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次点击依次展示去重、复用、净收益、预算。框架缓存命中仍触发完成回调；缺少arrivals_登记的完成不重复提升。同键有在途提升不再次提交；已准入而没有新的真实miss也不再提升。复用间隔与证据年龄都严格小于TTL，证据新鲜度还受均值加两倍抖动约束，统一采用更严格的上限；复用字节距离也需处于池容量内。Work提供当前读取可替代的工作和费用；gain扣除KV池到目标HBM的命中H2D及调用费，时间部分考虑本卡份额和到达空隙，必须为正。比较HBM和SSD两种来源的搬运与调用投入，选择合法且较低者。credit是按已观察前台支出累积的投入预算，不是预计未来命中次数；门槛是提升投入乘以容量压力系数，已有及在途占用计入需替换字节。池满不是绝对禁止条件，有足够证据与预算仍可替换。最终返回一条PROMOTE或空，驱逐由框架处理。完整公式及严格边界见算法文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复杂度表按开销来源分列，不把整体算法说成O(nW)。索引O(V)、排序O(nlogn)；切块对齐扫描及输出映射另计，详见复杂度文档。快速DP每个前缀检查至多W个片段、三条路径，转移O(nW)；同一循环中的owners std::set维护每次插入O(log(W+1))，因此候选组维护O(nWlog(W+1))。固定cnt的细化最坏转移O(cnt*n*W)，状态O(cnt*n)，合法边O(nW)；实现采样cnt并约束状态、边和搜索工作量。后台同步排序与扫描为O(Rlog(R+1)+A)，另有状态查表；持久状态为历史记录H、未完成请求U及在途提升R，即O(H+U+R)，并非表中的临时O(R)代表所有后台空间。输入索引、切块、未完成Work、输出vectors也占内存。实测时间是本机秒数，不是J中的模拟微秒。策略回调单独计量；程序总耗时包括框架执行和JSON读写，不含编译、预热和独立validator，所以回调较慢而程序总耗时较低可以同时成立。39条输入每例预热一次、交替三轮，时间逐例取中位数后求和，内存取正式轮的峰值。环境AMD EPYC 9575F，固定CPU 8，g++13.3/-O2。策略堆与RSS覆盖范围不同，不从进程总耗时推断单个模块加速。原始数据及完整边界见资源报告。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张柱形图各自使用同一零点和比例，不能横向比较不同量纲的柱长。39条全Trace合计，前台指schedule_decisions内全部operation，排除promotion_decisions及框架自动命中H2D。两方案收到的未命中请求集合不同，这是完整方案比较，不是相同miss集合的模块消融。前台物理读分别41400624128B和35332572160B；GiB为2^30B。调用费按engine逐操作公式重算，和提升费、命中费相加严格等于官方CPU+NPU总费。DIRECT/AGGREGATE/FALLBACK操作分别105767/65366/6047→69417/12045/306。物理读合并与缓存有交互，不把14.66%单独归因给DP。总J为3581641→2273874，下降36.51%；自动分采用官方权重，所以总J百分比与评分不是一个口径。39条启用策略的输出哈希与既有报告完全一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本页两张主图都是正常启用缓存的两套完整方案直接比较，同组39条公开Trace，各自从零起算、组内共享同一比例，费用越低越好；不混入关闭缓存的消融。后台总调用费=提升CPU/NPU费+框架命中H2D调用费：贪心722994+81662=804656，本方案24676+16806=41482，下降94.8447535%。该值不含前台调用费，也不含模拟搬运时间费，不称为整个后台J。平均每次命中的调用费=整条Trace汇总后台调用费/真实命中请求数；804656/40831=19.7069873，本方案41482/8403=4.93657027，下降74.9501525%。这是把所有提升投入（含最终没有命中的提升）和命中调用费摊到总命中数上的比值，包含准入选择的效果，不是单次命中固有单价。官方单次命中调用收费两者均为2，算法没有降低这一收费。每次提升的平均命中数=40831/8817=4.63094与8403/301=27.91694，后者6.02835倍。两项均为完整Trace的汇总效率，不代表单个对象必命中27.92次，不是同尺寸、同缓存内容的受控模块对照。请求总数相同198542，命中率20.57%→4.23%；提升次数与命中数均在页脚公开。选更少的缓存对象、保留更集中复用，是对总计数的解释，不声称每道门槛的独立因果贡献。提升调用费单项下降96.59%，提升搬运字节3881057800→327938527，下降91.55%。完整方案在39条公开Trace上35胜4平0负。逐例结果与复现方法见验证报告。所有数据由已提交CSV聚合，算法与原始性能记录不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62000" y="1000125"/>
            <a:ext cx="628650" cy="4762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风花雪月战队"/>
          <p:cNvSpPr txBox="1"/>
          <p:nvPr/>
        </p:nvSpPr>
        <p:spPr>
          <a:xfrm>
            <a:off x="762000" y="1333500"/>
            <a:ext cx="10477500" cy="4572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550" b="1" lang="zh-CN">
                <a:solidFill>
                  <a:srgbClr val="285EA8"/>
                </a:solidFill>
                <a:latin typeface="Microsoft YaHei"/>
                <a:ea typeface="Microsoft YaHei"/>
              </a:rPr>
              <a:t>风花雪月战队</a:t>
            </a:r>
          </a:p>
        </p:txBody>
      </p:sp>
      <p:sp>
        <p:nvSpPr>
          <p:cNvPr id="4" name="24.NDS多路径IO分配、 聚合与缓存提升算法"/>
          <p:cNvSpPr txBox="1"/>
          <p:nvPr/>
        </p:nvSpPr>
        <p:spPr>
          <a:xfrm>
            <a:off x="762000" y="2505075"/>
            <a:ext cx="10572750" cy="1571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24.NDS多路径IO分配、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900" b="1" lang="zh-CN">
                <a:solidFill>
                  <a:srgbClr val="1F2937"/>
                </a:solidFill>
                <a:latin typeface="Microsoft YaHei"/>
                <a:ea typeface="Microsoft YaHei"/>
              </a:rPr>
              <a:t>聚合与缓存提升算法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81525"/>
            <a:ext cx="106680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队员：刁鹏杰   胡海川   杜杰贵"/>
          <p:cNvSpPr txBox="1"/>
          <p:nvPr/>
        </p:nvSpPr>
        <p:spPr>
          <a:xfrm>
            <a:off x="762000" y="5076825"/>
            <a:ext cx="10477500" cy="4286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250" b="0" lang="zh-CN">
                <a:solidFill>
                  <a:srgbClr val="1F2937"/>
                </a:solidFill>
                <a:latin typeface="Microsoft YaHei"/>
                <a:ea typeface="Microsoft YaHei"/>
              </a:rPr>
              <a:t>队员：刁鹏杰   胡海川   杜杰贵</a:t>
            </a:r>
          </a:p>
        </p:txBody>
      </p:sp>
      <p:sp>
        <p:nvSpPr>
          <p:cNvPr id="7" name="调度策略 · 核心实现 · 性能验证"/>
          <p:cNvSpPr txBox="1"/>
          <p:nvPr/>
        </p:nvSpPr>
        <p:spPr>
          <a:xfrm>
            <a:off x="762000" y="5810250"/>
            <a:ext cx="104775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调度策略 · 核心实现 · 性能验证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目标与调度边界 · 关键观察与设计依据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目标与调度边界 · 关键观察与设计依据</a:t>
            </a:r>
          </a:p>
        </p:txBody>
      </p:sp>
      <p:sp>
        <p:nvSpPr>
          <p:cNvPr id="3" name="前台联合规划当前读取，后台有条件地投资复用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前台联合规划当前读取，后台有条件地投资复用</a:t>
            </a:r>
          </a:p>
        </p:txBody>
      </p:sp>
      <p:sp>
        <p:nvSpPr>
          <p:cNvPr id="4" name="目标：正确覆盖请求，并降低 J = 时间单价 × Trace 历时 + CPU / NPU 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目标：正确覆盖请求，并降低 J = 时间单价 × Trace 历时 + CPU / NPU 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1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47875"/>
            <a:ext cx="10972800" cy="100012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策略决定：切块、分组、路径、是否 PROMOTE"/>
          <p:cNvSpPr txBox="1"/>
          <p:nvPr/>
        </p:nvSpPr>
        <p:spPr>
          <a:xfrm>
            <a:off x="781050" y="2181225"/>
            <a:ext cx="52197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策略决定：切块、分组、路径、是否 PROMOTE</a:t>
            </a:r>
          </a:p>
        </p:txBody>
      </p:sp>
      <p:sp>
        <p:nvSpPr>
          <p:cNvPr id="10" name="在线使用已见请求与当前状态；目标卡由请求指定。"/>
          <p:cNvSpPr txBox="1"/>
          <p:nvPr/>
        </p:nvSpPr>
        <p:spPr>
          <a:xfrm>
            <a:off x="781050" y="2609850"/>
            <a:ext cx="52197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在线使用已见请求与当前状态；目标卡由请求指定。</a:t>
            </a:r>
          </a:p>
        </p:txBody>
      </p:sp>
      <p:sp>
        <p:nvSpPr>
          <p:cNvPr id="11" name="框架负责：缓存查找、排队执行、带宽共享与计分"/>
          <p:cNvSpPr txBox="1"/>
          <p:nvPr/>
        </p:nvSpPr>
        <p:spPr>
          <a:xfrm>
            <a:off x="6267450" y="2181225"/>
            <a:ext cx="51435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框架负责：缓存查找、排队执行、带宽共享与计分</a:t>
            </a:r>
          </a:p>
        </p:txBody>
      </p:sp>
      <p:sp>
        <p:nvSpPr>
          <p:cNvPr id="12" name="命中也要复制到目标 HBM；提升服务未来读取。"/>
          <p:cNvSpPr txBox="1"/>
          <p:nvPr/>
        </p:nvSpPr>
        <p:spPr>
          <a:xfrm>
            <a:off x="6267450" y="2609850"/>
            <a:ext cx="51435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命中也要复制到目标 HBM；提升服务未来读取。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3276600"/>
            <a:ext cx="3352800" cy="15621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09600" y="3276600"/>
            <a:ext cx="28575" cy="156210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观察 1 · 合并的收益与代价"/>
          <p:cNvSpPr txBox="1"/>
          <p:nvPr/>
        </p:nvSpPr>
        <p:spPr>
          <a:xfrm>
            <a:off x="771525" y="3429000"/>
            <a:ext cx="30289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1 · 合并的收益与代价</a:t>
            </a:r>
          </a:p>
        </p:txBody>
      </p:sp>
      <p:sp>
        <p:nvSpPr>
          <p:cNvPr id="16" name="合并减少操作固定费， 重叠数据可共享物理读； 也会改变并发与缓冲占用。"/>
          <p:cNvSpPr txBox="1"/>
          <p:nvPr/>
        </p:nvSpPr>
        <p:spPr>
          <a:xfrm>
            <a:off x="771525" y="3857625"/>
            <a:ext cx="3028950" cy="885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合并减少操作固定费，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重叠数据可共享物理读；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也会改变并发与缓冲占用。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43400" y="3276600"/>
            <a:ext cx="3352800" cy="15621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3276600"/>
            <a:ext cx="28575" cy="1562100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观察 2 · 路径的成本差异"/>
          <p:cNvSpPr txBox="1"/>
          <p:nvPr/>
        </p:nvSpPr>
        <p:spPr>
          <a:xfrm>
            <a:off x="4505325" y="3429000"/>
            <a:ext cx="30289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观察 2 · 路径的成本差异</a:t>
            </a:r>
          </a:p>
        </p:txBody>
      </p:sp>
      <p:sp>
        <p:nvSpPr>
          <p:cNvPr id="20" name="同一组可有多条合法路径； 调用费、复制及池需求不同。 分组和资源会改变路径优劣。"/>
          <p:cNvSpPr txBox="1"/>
          <p:nvPr/>
        </p:nvSpPr>
        <p:spPr>
          <a:xfrm>
            <a:off x="4505325" y="3857625"/>
            <a:ext cx="3028950" cy="885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同一组可有多条合法路径；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调用费、复制及池需求不同。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分组和资源会改变路径优劣。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77200" y="3276600"/>
            <a:ext cx="3505200" cy="156210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77200" y="3276600"/>
            <a:ext cx="28575" cy="156210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观察 3 · 缓存的回本条件"/>
          <p:cNvSpPr txBox="1"/>
          <p:nvPr/>
        </p:nvSpPr>
        <p:spPr>
          <a:xfrm>
            <a:off x="8239124" y="3429000"/>
            <a:ext cx="3181350" cy="3333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4756D"/>
                </a:solidFill>
                <a:latin typeface="Microsoft YaHei"/>
                <a:ea typeface="Microsoft YaHei"/>
              </a:rPr>
              <a:t>观察 3 · 缓存的回本条件</a:t>
            </a:r>
          </a:p>
        </p:txBody>
      </p:sp>
      <p:sp>
        <p:nvSpPr>
          <p:cNvPr id="24" name="提升先付搬运与调用费； 命中仍需复制到目标 HBM。 复用不足，投入可能收不回。"/>
          <p:cNvSpPr txBox="1"/>
          <p:nvPr/>
        </p:nvSpPr>
        <p:spPr>
          <a:xfrm>
            <a:off x="8239124" y="3857625"/>
            <a:ext cx="3181350" cy="885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提升先付搬运与调用费；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命中仍需复制到目标 HBM。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复用不足，投入可能收不回。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838700"/>
            <a:ext cx="0" cy="171450"/>
          </a:xfrm>
          <a:prstGeom prst="line">
            <a:avLst/>
          </a:prstGeom>
          <a:ln w="1651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019800" y="4838700"/>
            <a:ext cx="0" cy="171450"/>
          </a:xfrm>
          <a:prstGeom prst="line">
            <a:avLst/>
          </a:prstGeom>
          <a:ln w="1651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286000" y="5010150"/>
            <a:ext cx="3733800" cy="0"/>
          </a:xfrm>
          <a:prstGeom prst="line">
            <a:avLst/>
          </a:prstGeom>
          <a:ln w="16510">
            <a:solidFill>
              <a:srgbClr val="285E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4152900" y="5010150"/>
            <a:ext cx="0" cy="200025"/>
          </a:xfrm>
          <a:prstGeom prst="line">
            <a:avLst/>
          </a:prstGeom>
          <a:ln w="1651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9829800" y="4838700"/>
            <a:ext cx="0" cy="371475"/>
          </a:xfrm>
          <a:prstGeom prst="line">
            <a:avLst/>
          </a:prstGeom>
          <a:ln w="1651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609600" y="5238750"/>
            <a:ext cx="7086600" cy="7429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前台：用同一个 DP 联合选择分组边界与路径"/>
          <p:cNvSpPr txBox="1"/>
          <p:nvPr/>
        </p:nvSpPr>
        <p:spPr>
          <a:xfrm>
            <a:off x="781050" y="5334000"/>
            <a:ext cx="67437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前台：用同一个 DP 联合选择分组边界与路径</a:t>
            </a:r>
          </a:p>
        </p:txBody>
      </p:sp>
      <p:sp>
        <p:nvSpPr>
          <p:cNvPr id="32" name="合并与选路相互影响，必须使用统一成本估价。"/>
          <p:cNvSpPr txBox="1"/>
          <p:nvPr/>
        </p:nvSpPr>
        <p:spPr>
          <a:xfrm>
            <a:off x="781050" y="5724525"/>
            <a:ext cx="67437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合并与选路相互影响，必须使用统一成本估价。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77200" y="5238750"/>
            <a:ext cx="3505200" cy="742950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后台：按证据、净收益与预算准入"/>
          <p:cNvSpPr txBox="1"/>
          <p:nvPr/>
        </p:nvSpPr>
        <p:spPr>
          <a:xfrm>
            <a:off x="8248650" y="5334000"/>
            <a:ext cx="31623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后台：按证据、净收益与预算准入</a:t>
            </a:r>
          </a:p>
        </p:txBody>
      </p:sp>
      <p:sp>
        <p:nvSpPr>
          <p:cNvPr id="35" name="优先投入有复用依据的缓存对象。"/>
          <p:cNvSpPr txBox="1"/>
          <p:nvPr/>
        </p:nvSpPr>
        <p:spPr>
          <a:xfrm>
            <a:off x="8248650" y="5724525"/>
            <a:ext cx="31623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优先投入有复用依据的缓存对象。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代码流程 · 核心数据结构 · solution.cpp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代码流程 · 核心数据结构 · solution.cpp</a:t>
            </a:r>
          </a:p>
        </p:txBody>
      </p:sp>
      <p:sp>
        <p:nvSpPr>
          <p:cNvPr id="3" name="先整理合法片段，再规划搬运；完成后判断是否缓存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先整理合法片段，再规划搬运；完成后判断是否缓存</a:t>
            </a:r>
          </a:p>
        </p:txBody>
      </p:sp>
      <p:sp>
        <p:nvSpPr>
          <p:cNvPr id="4" name="切块产生规划单位，分组决定哪些片段一起搬运；前台的 Work 记录为后台估计收益提供依据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切块产生规划单位，分组决定哪些片段一起搬运；前台的 Work 记录为后台估计收益提供依据。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2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8" name="前台 on_submit() · 框架只提交未命中请求"/>
          <p:cNvSpPr txBox="1"/>
          <p:nvPr/>
        </p:nvSpPr>
        <p:spPr>
          <a:xfrm>
            <a:off x="609600" y="2038349"/>
            <a:ext cx="65722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on_submit() · 框架只提交未命中请求</a:t>
            </a:r>
          </a:p>
        </p:txBody>
      </p:sp>
      <p:sp>
        <p:nvSpPr>
          <p:cNvPr id="9" name="后台 on_iocb_complete()"/>
          <p:cNvSpPr txBox="1"/>
          <p:nvPr/>
        </p:nvSpPr>
        <p:spPr>
          <a:xfrm>
            <a:off x="7677150" y="2038349"/>
            <a:ext cx="3905249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后台 on_iocb_complete()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505075"/>
            <a:ext cx="6610350" cy="6953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整理与索引 · IovIndex"/>
          <p:cNvSpPr txBox="1"/>
          <p:nvPr/>
        </p:nvSpPr>
        <p:spPr>
          <a:xfrm>
            <a:off x="762000" y="2571750"/>
            <a:ext cx="63055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整理与索引 · IovIndex</a:t>
            </a:r>
          </a:p>
        </p:txBody>
      </p:sp>
      <p:sp>
        <p:nvSpPr>
          <p:cNvPr id="12" name="累计 iov 终点，把请求内偏移映射到目标 HBM 片段。"/>
          <p:cNvSpPr txBox="1"/>
          <p:nvPr/>
        </p:nvSpPr>
        <p:spPr>
          <a:xfrm>
            <a:off x="762000" y="2886075"/>
            <a:ext cx="63055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累计 iov 终点，把请求内偏移映射到目标 HBM 片段。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924300" y="3200400"/>
            <a:ext cx="0" cy="95250"/>
          </a:xfrm>
          <a:prstGeom prst="line">
            <a:avLst/>
          </a:prstGeom>
          <a:ln w="1524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609600" y="3324225"/>
            <a:ext cx="6610350" cy="6953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合法切块 · Piece"/>
          <p:cNvSpPr txBox="1"/>
          <p:nvPr/>
        </p:nvSpPr>
        <p:spPr>
          <a:xfrm>
            <a:off x="762000" y="3390900"/>
            <a:ext cx="63055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合法切块 · Piece</a:t>
            </a:r>
          </a:p>
        </p:txBody>
      </p:sp>
      <p:sp>
        <p:nvSpPr>
          <p:cNvPr id="16" name="按块上限切分；非对齐块受临时池容量约束，内部切点退到扇区边界。"/>
          <p:cNvSpPr txBox="1"/>
          <p:nvPr/>
        </p:nvSpPr>
        <p:spPr>
          <a:xfrm>
            <a:off x="762000" y="3705224"/>
            <a:ext cx="63055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按块上限切分；非对齐块受临时池容量约束，内部切点退到扇区边界。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924300" y="4019549"/>
            <a:ext cx="0" cy="95251"/>
          </a:xfrm>
          <a:prstGeom prst="line">
            <a:avLst/>
          </a:prstGeom>
          <a:ln w="1524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609600" y="4143375"/>
            <a:ext cx="6610350" cy="6953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排序与候选组"/>
          <p:cNvSpPr txBox="1"/>
          <p:nvPr/>
        </p:nvSpPr>
        <p:spPr>
          <a:xfrm>
            <a:off x="762000" y="4210050"/>
            <a:ext cx="63055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排序与候选组</a:t>
            </a:r>
          </a:p>
        </p:txBody>
      </p:sp>
      <p:sp>
        <p:nvSpPr>
          <p:cNvPr id="20" name="按卡号、SSD 地址排序；同卡且物理范围相连，才枚举合并与合法路径。"/>
          <p:cNvSpPr txBox="1"/>
          <p:nvPr/>
        </p:nvSpPr>
        <p:spPr>
          <a:xfrm>
            <a:off x="762000" y="4524375"/>
            <a:ext cx="63055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按卡号、SSD 地址排序；同卡且物理范围相连，才枚举合并与合法路径。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924300" y="4838700"/>
            <a:ext cx="0" cy="95250"/>
          </a:xfrm>
          <a:prstGeom prst="line">
            <a:avLst/>
          </a:prstGeom>
          <a:ln w="15240">
            <a:solidFill>
              <a:srgbClr val="285EA8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09600" y="4962525"/>
            <a:ext cx="6610350" cy="69532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联合 DP → operation → Work"/>
          <p:cNvSpPr txBox="1"/>
          <p:nvPr/>
        </p:nvSpPr>
        <p:spPr>
          <a:xfrm>
            <a:off x="762000" y="5029200"/>
            <a:ext cx="630555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联合 DP → operation → Work</a:t>
            </a:r>
          </a:p>
        </p:txBody>
      </p:sp>
      <p:sp>
        <p:nvSpPr>
          <p:cNvPr id="24" name="回溯一份最终计划；记录读、复制和调用费，提交框架执行。"/>
          <p:cNvSpPr txBox="1"/>
          <p:nvPr/>
        </p:nvSpPr>
        <p:spPr>
          <a:xfrm>
            <a:off x="762000" y="5343525"/>
            <a:ext cx="63055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1F2937"/>
                </a:solidFill>
                <a:latin typeface="Microsoft YaHei"/>
                <a:ea typeface="Microsoft YaHei"/>
              </a:rPr>
              <a:t>回溯一份最终计划；记录读、复制和调用费，提交框架执行。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77150" y="2505075"/>
            <a:ext cx="3905249" cy="962024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去重与在途状态"/>
          <p:cNvSpPr txBox="1"/>
          <p:nvPr/>
        </p:nvSpPr>
        <p:spPr>
          <a:xfrm>
            <a:off x="7829550" y="2581275"/>
            <a:ext cx="36004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去重与在途状态</a:t>
            </a:r>
          </a:p>
        </p:txBody>
      </p:sp>
      <p:sp>
        <p:nvSpPr>
          <p:cNvPr id="27" name="arrivals_：未命中登记 promotions_ / pending_keys_：去重"/>
          <p:cNvSpPr txBox="1"/>
          <p:nvPr/>
        </p:nvSpPr>
        <p:spPr>
          <a:xfrm>
            <a:off x="7829550" y="2924175"/>
            <a:ext cx="360045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arrivals_：未命中登记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promotions_ / pending_keys_：去重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620250" y="3467100"/>
            <a:ext cx="0" cy="104775"/>
          </a:xfrm>
          <a:prstGeom prst="line">
            <a:avLst/>
          </a:prstGeom>
          <a:ln w="1524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7677150" y="3600450"/>
            <a:ext cx="3905249" cy="962024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复用与成本证据"/>
          <p:cNvSpPr txBox="1"/>
          <p:nvPr/>
        </p:nvSpPr>
        <p:spPr>
          <a:xfrm>
            <a:off x="7829550" y="3676649"/>
            <a:ext cx="36004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复用与成本证据</a:t>
            </a:r>
          </a:p>
        </p:txBody>
      </p:sp>
      <p:sp>
        <p:nvSpPr>
          <p:cNvPr id="31" name="History 保存访问节奏、时效与预算； Work 保存最终计划的实际工作估计。"/>
          <p:cNvSpPr txBox="1"/>
          <p:nvPr/>
        </p:nvSpPr>
        <p:spPr>
          <a:xfrm>
            <a:off x="7829550" y="4019549"/>
            <a:ext cx="360045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History 保存访问节奏、时效与预算；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Work 保存最终计划的实际工作估计。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620250" y="4562475"/>
            <a:ext cx="0" cy="104775"/>
          </a:xfrm>
          <a:prstGeom prst="line">
            <a:avLst/>
          </a:prstGeom>
          <a:ln w="15240">
            <a:solidFill>
              <a:srgbClr val="24756D"/>
            </a:solidFill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677150" y="4695825"/>
            <a:ext cx="3905249" cy="962024"/>
          </a:xfrm>
          <a:prstGeom prst="rect">
            <a:avLst/>
          </a:prstGeom>
          <a:solidFill>
            <a:srgbClr val="EEF6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准入与输出"/>
          <p:cNvSpPr txBox="1"/>
          <p:nvPr/>
        </p:nvSpPr>
        <p:spPr>
          <a:xfrm>
            <a:off x="7829550" y="4772025"/>
            <a:ext cx="36004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准入与输出</a:t>
            </a:r>
          </a:p>
        </p:txBody>
      </p:sp>
      <p:sp>
        <p:nvSpPr>
          <p:cNvPr id="35" name="检查净收益、预算和容量压力； 返回 PROMOTE 或不提升。"/>
          <p:cNvSpPr txBox="1"/>
          <p:nvPr/>
        </p:nvSpPr>
        <p:spPr>
          <a:xfrm>
            <a:off x="7829550" y="5114925"/>
            <a:ext cx="3600450" cy="5048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检查净收益、预算和容量压力；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返回 PROMOTE 或不提升。</a:t>
            </a:r>
          </a:p>
        </p:txBody>
      </p:sp>
      <p:sp>
        <p:nvSpPr>
          <p:cNvPr id="36" name="对齐约束作用于物理读与路径合法性；请求的有效字节范围、目标卡和目标地址始终保留。"/>
          <p:cNvSpPr txBox="1"/>
          <p:nvPr/>
        </p:nvSpPr>
        <p:spPr>
          <a:xfrm>
            <a:off x="609600" y="5886450"/>
            <a:ext cx="10972800" cy="247649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对齐约束作用于物理读与路径合法性；请求的有效字节范围、目标卡和目标地址始终保留。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前台 · 联合分组与选路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前台 · 联合分组与选路</a:t>
            </a:r>
          </a:p>
        </p:txBody>
      </p:sp>
      <p:sp>
        <p:nvSpPr>
          <p:cNvPr id="3" name="快速规划控制开销，按需细化分组与并发估价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快速规划控制开销，按需细化分组与并发估价</a:t>
            </a:r>
          </a:p>
        </p:txBody>
      </p:sp>
      <p:sp>
        <p:nvSpPr>
          <p:cNvPr id="4" name="两种求解都从同一片段列表出发；细化重新选择分组边界，不受快速方案分组的限制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两种求解都从同一片段列表出发；细化重新选择分组边界，不受快速方案分组的限制。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3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47875"/>
            <a:ext cx="10972800" cy="409575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输入：已切分、排序的 Piece；每条候选边 = 一组连续片段 + 一条合法路径。"/>
          <p:cNvSpPr txBox="1"/>
          <p:nvPr/>
        </p:nvSpPr>
        <p:spPr>
          <a:xfrm>
            <a:off x="762000" y="21431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85EA8"/>
                </a:solidFill>
                <a:latin typeface="Microsoft YaHei"/>
                <a:ea typeface="Microsoft YaHei"/>
              </a:rPr>
              <a:t>输入：已切分、排序的 Piece；每条候选边 = 一组连续片段 + 一条合法路径。</a:t>
            </a:r>
          </a:p>
        </p:txBody>
      </p:sp>
      <p:sp>
        <p:nvSpPr>
          <p:cNvPr id="10" name="状态"/>
          <p:cNvSpPr txBox="1"/>
          <p:nvPr/>
        </p:nvSpPr>
        <p:spPr>
          <a:xfrm>
            <a:off x="742950" y="2971800"/>
            <a:ext cx="135255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状态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09600" y="347662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估价并发"/>
          <p:cNvSpPr txBox="1"/>
          <p:nvPr/>
        </p:nvSpPr>
        <p:spPr>
          <a:xfrm>
            <a:off x="742950" y="3590925"/>
            <a:ext cx="135255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估价并发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09600" y="409575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输出"/>
          <p:cNvSpPr txBox="1"/>
          <p:nvPr/>
        </p:nvSpPr>
        <p:spPr>
          <a:xfrm>
            <a:off x="742950" y="4210050"/>
            <a:ext cx="1352550" cy="4000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657184"/>
                </a:solidFill>
                <a:latin typeface="Microsoft YaHei"/>
                <a:ea typeface="Microsoft YaHei"/>
              </a:rPr>
              <a:t>输出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" y="47148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步骤1：快速 DP 生成一份基础方案"/>
          <p:cNvGrpSpPr/>
          <p:nvPr/>
        </p:nvGrpSpPr>
        <p:grpSpPr>
          <a:xfrm>
            <a:off x="2305050" y="2600325"/>
            <a:ext cx="4171950" cy="2085975"/>
            <a:chOff x="2305050" y="2600325"/>
            <a:chExt cx="4171950" cy="2085975"/>
          </a:xfrm>
        </p:grpSpPr>
        <p:sp>
          <p:nvSpPr>
            <p:cNvPr id="17" name="快速 DP · 每批执行"/>
            <p:cNvSpPr txBox="1"/>
            <p:nvPr/>
          </p:nvSpPr>
          <p:spPr>
            <a:xfrm>
              <a:off x="2305050" y="2600325"/>
              <a:ext cx="41719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快速 DP · 每批执行</a:t>
              </a:r>
            </a:p>
          </p:txBody>
        </p:sp>
        <p:sp>
          <p:nvSpPr>
            <p:cNvPr id="18" name="dp[j]：前 j 段最低估价 组数由回溯决定"/>
            <p:cNvSpPr txBox="1"/>
            <p:nvPr/>
          </p:nvSpPr>
          <p:spPr>
            <a:xfrm>
              <a:off x="2305050" y="2971800"/>
              <a:ext cx="4171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dp[j]：前 j 段最低估价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组数由回溯决定</a:t>
              </a:r>
            </a:p>
          </p:txBody>
        </p:sp>
        <p:sp>
          <p:nvSpPr>
            <p:cNvPr id="19" name="SSD 按片段数估计； 复制按该卡请求数估计，均计入在途项"/>
            <p:cNvSpPr txBox="1"/>
            <p:nvPr/>
          </p:nvSpPr>
          <p:spPr>
            <a:xfrm>
              <a:off x="2305050" y="3590925"/>
              <a:ext cx="4171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 按片段数估计；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复制按该卡请求数估计，均计入在途项</a:t>
              </a:r>
            </a:p>
          </p:txBody>
        </p:sp>
        <p:sp>
          <p:nvSpPr>
            <p:cNvPr id="20" name="一份完整方案，兼作保留方案； 提供组数与各卡复制分布"/>
            <p:cNvSpPr txBox="1"/>
            <p:nvPr/>
          </p:nvSpPr>
          <p:spPr>
            <a:xfrm>
              <a:off x="2305050" y="4210050"/>
              <a:ext cx="4171950" cy="4762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一份完整方案，兼作保留方案；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提供组数与各卡复制分布</a:t>
              </a:r>
            </a:p>
          </p:txBody>
        </p:sp>
      </p:grpSp>
      <p:grpSp>
        <p:nvGrpSpPr>
          <p:cNvPr id="21" name="步骤2：细化 DP 从同一片段列表重新求解"/>
          <p:cNvGrpSpPr/>
          <p:nvPr/>
        </p:nvGrpSpPr>
        <p:grpSpPr>
          <a:xfrm>
            <a:off x="6877050" y="2600325"/>
            <a:ext cx="4552950" cy="2085975"/>
            <a:chOff x="6877050" y="2600325"/>
            <a:chExt cx="4552950" cy="2085975"/>
          </a:xfrm>
        </p:grpSpPr>
        <p:sp>
          <p:nvSpPr>
            <p:cNvPr id="22" name="细化 DP · 空闲且规模可控时尝试"/>
            <p:cNvSpPr txBox="1"/>
            <p:nvPr/>
          </p:nvSpPr>
          <p:spPr>
            <a:xfrm>
              <a:off x="6877050" y="2600325"/>
              <a:ext cx="4552950" cy="2857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细化 DP · 空闲且规模可控时尝试</a:t>
              </a:r>
            </a:p>
          </p:txBody>
        </p:sp>
        <p:sp>
          <p:nvSpPr>
            <p:cNvPr id="23" name="D[h][j]：前 j 段恰好 h 组的最低估价 对候选总组数 cnt 分别重新求解"/>
            <p:cNvSpPr txBox="1"/>
            <p:nvPr/>
          </p:nvSpPr>
          <p:spPr>
            <a:xfrm>
              <a:off x="6877050" y="2971800"/>
              <a:ext cx="4552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D[h][j]：前 j 段恰好 h 组的最低估价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对候选总组数 cnt 分别重新求解</a:t>
              </a:r>
            </a:p>
          </p:txBody>
        </p:sp>
        <p:sp>
          <p:nvSpPr>
            <p:cNvPr id="24" name="SSD 按 cnt 估计；复制按基础分布缩放 更贴近候选组数，增加搜索开销"/>
            <p:cNvSpPr txBox="1"/>
            <p:nvPr/>
          </p:nvSpPr>
          <p:spPr>
            <a:xfrm>
              <a:off x="6877050" y="3590925"/>
              <a:ext cx="4552950" cy="4857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SSD 按 cnt 估计；复制按基础分布缩放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更贴近候选组数，增加搜索开销</a:t>
              </a:r>
            </a:p>
          </p:txBody>
        </p:sp>
        <p:sp>
          <p:nvSpPr>
            <p:cNvPr id="25" name="每个 cnt 至多一份合格候选； 从中选估价最低的一份"/>
            <p:cNvSpPr txBox="1"/>
            <p:nvPr/>
          </p:nvSpPr>
          <p:spPr>
            <a:xfrm>
              <a:off x="6877050" y="4210050"/>
              <a:ext cx="4552950" cy="47625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每个 cnt 至多一份合格候选；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75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从中选估价最低的一份</a:t>
              </a:r>
            </a:p>
          </p:txBody>
        </p:sp>
      </p:grpSp>
      <p:grpSp>
        <p:nvGrpSpPr>
          <p:cNvPr id="26" name="步骤3：规模与系统状态决定是否追加细化"/>
          <p:cNvGrpSpPr/>
          <p:nvPr/>
        </p:nvGrpSpPr>
        <p:grpSpPr>
          <a:xfrm>
            <a:off x="609600" y="4895850"/>
            <a:ext cx="10972800" cy="438150"/>
            <a:chOff x="609600" y="4895850"/>
            <a:chExt cx="10972800" cy="438150"/>
          </a:xfrm>
        </p:grpSpPr>
        <p:sp>
          <p:nvSpPr>
            <p:cNvPr id="27" name="Rectangle 26"/>
            <p:cNvSpPr/>
            <p:nvPr/>
          </p:nvSpPr>
          <p:spPr>
            <a:xfrm>
              <a:off x="609600" y="4895850"/>
              <a:ext cx="10972800" cy="438150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执行选择：忙碌或大批次保留快速方案；空闲且规模可控时追加细化，并限制搜索工作量。"/>
            <p:cNvSpPr txBox="1"/>
            <p:nvPr/>
          </p:nvSpPr>
          <p:spPr>
            <a:xfrm>
              <a:off x="762000" y="5010150"/>
              <a:ext cx="10668000" cy="25717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65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执行选择：忙碌或大批次保留快速方案；空闲且规模可控时追加细化，并限制搜索工作量。</a:t>
              </a:r>
            </a:p>
          </p:txBody>
        </p:sp>
      </p:grpSp>
      <p:grpSp>
        <p:nvGrpSpPr>
          <p:cNvPr id="29" name="步骤4：检查完整候选，只提交一份计划"/>
          <p:cNvGrpSpPr/>
          <p:nvPr/>
        </p:nvGrpSpPr>
        <p:grpSpPr>
          <a:xfrm>
            <a:off x="609600" y="5486400"/>
            <a:ext cx="10972800" cy="276225"/>
            <a:chOff x="609600" y="5486400"/>
            <a:chExt cx="10972800" cy="276225"/>
          </a:xfrm>
        </p:grpSpPr>
        <p:sp>
          <p:nvSpPr>
            <p:cNvPr id="30" name="最终只提交一份：细化结果须通过总槽位、池容量检查；没有合格结果则使用快速方案。"/>
            <p:cNvSpPr txBox="1"/>
            <p:nvPr/>
          </p:nvSpPr>
          <p:spPr>
            <a:xfrm>
              <a:off x="609600" y="5486400"/>
              <a:ext cx="10972800" cy="276225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650" b="1" lang="zh-CN">
                  <a:solidFill>
                    <a:srgbClr val="285EA8"/>
                  </a:solidFill>
                  <a:latin typeface="Microsoft YaHei"/>
                  <a:ea typeface="Microsoft YaHei"/>
                </a:rPr>
                <a:t>最终只提交一份：细化结果须通过总槽位、池容量检查；没有合格结果则使用快速方案。</a:t>
              </a:r>
            </a:p>
          </p:txBody>
        </p:sp>
      </p:grpSp>
      <p:sp>
        <p:nvSpPr>
          <p:cNvPr id="31" name="路径：DIRECT 直达 HBM；AGGREGATE 经临时 HBM；FALLBACK 经 DDR。均写入原请求目标。"/>
          <p:cNvSpPr txBox="1"/>
          <p:nvPr/>
        </p:nvSpPr>
        <p:spPr>
          <a:xfrm>
            <a:off x="609600" y="5934075"/>
            <a:ext cx="1097280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路径：DIRECT 直达 HBM；AGGREGATE 经临时 HBM；FALLBACK 经 DDR。均写入原请求目标。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后台 · on_iocb_complete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后台 · on_iocb_complete</a:t>
            </a:r>
          </a:p>
        </p:txBody>
      </p:sp>
      <p:sp>
        <p:nvSpPr>
          <p:cNvPr id="3" name="用复用证据与成本准入，控制缓存投入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用复用证据与成本准入，控制缓存投入</a:t>
            </a:r>
          </a:p>
        </p:txBody>
      </p:sp>
      <p:sp>
        <p:nvSpPr>
          <p:cNvPr id="4" name="读取完成后决定是否提升；缓存键为卡号、SSD 起点和完整长度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读取完成后决定是否提升；缓存键为卡号、SSD 起点和完整长度。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4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4</a:t>
            </a:r>
          </a:p>
        </p:txBody>
      </p:sp>
      <p:grpSp>
        <p:nvGrpSpPr>
          <p:cNvPr id="8" name="缓存判断 排除重复与不可行项"/>
          <p:cNvGrpSpPr/>
          <p:nvPr/>
        </p:nvGrpSpPr>
        <p:grpSpPr>
          <a:xfrm>
            <a:off x="609600" y="2257425"/>
            <a:ext cx="2514600" cy="2657475"/>
            <a:chOff x="609600" y="2257425"/>
            <a:chExt cx="2514600" cy="2657475"/>
          </a:xfrm>
        </p:grpSpPr>
        <p:sp>
          <p:nvSpPr>
            <p:cNvPr id="9" name="Rectangle 8"/>
            <p:cNvSpPr/>
            <p:nvPr/>
          </p:nvSpPr>
          <p:spPr>
            <a:xfrm>
              <a:off x="609600" y="2257425"/>
              <a:ext cx="2514600" cy="265747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Rectangle 9"/>
            <p:cNvSpPr/>
            <p:nvPr/>
          </p:nvSpPr>
          <p:spPr>
            <a:xfrm>
              <a:off x="609600" y="2257425"/>
              <a:ext cx="28575" cy="265747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排除重复与不可行项"/>
            <p:cNvSpPr txBox="1"/>
            <p:nvPr/>
          </p:nvSpPr>
          <p:spPr>
            <a:xfrm>
              <a:off x="762000" y="2419350"/>
              <a:ext cx="2209800" cy="5715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排除重复与不可行项</a:t>
              </a:r>
            </a:p>
          </p:txBody>
        </p:sp>
        <p:sp>
          <p:nvSpPr>
            <p:cNvPr id="12" name="命中完成不再提升 同键在途不重复 对象不超过 KV 池容量"/>
            <p:cNvSpPr txBox="1"/>
            <p:nvPr/>
          </p:nvSpPr>
          <p:spPr>
            <a:xfrm>
              <a:off x="762000" y="3209925"/>
              <a:ext cx="2209800" cy="15240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命中完成不再提升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同键在途不重复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对象不超过 KV 池容量</a:t>
              </a:r>
            </a:p>
          </p:txBody>
        </p:sp>
      </p:grpSp>
      <p:grpSp>
        <p:nvGrpSpPr>
          <p:cNvPr id="13" name="缓存判断 复用证据有效"/>
          <p:cNvGrpSpPr/>
          <p:nvPr/>
        </p:nvGrpSpPr>
        <p:grpSpPr>
          <a:xfrm>
            <a:off x="3190875" y="2257425"/>
            <a:ext cx="2752725" cy="2657475"/>
            <a:chOff x="3190875" y="2257425"/>
            <a:chExt cx="2752725" cy="2657475"/>
          </a:xfrm>
        </p:grpSpPr>
        <p:sp>
          <p:nvSpPr>
            <p:cNvPr id="14" name="Rectangle 13"/>
            <p:cNvSpPr/>
            <p:nvPr/>
          </p:nvSpPr>
          <p:spPr>
            <a:xfrm>
              <a:off x="3429000" y="2257425"/>
              <a:ext cx="2514600" cy="265747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3429000" y="2257425"/>
              <a:ext cx="28575" cy="265747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复用证据有效"/>
            <p:cNvSpPr txBox="1"/>
            <p:nvPr/>
          </p:nvSpPr>
          <p:spPr>
            <a:xfrm>
              <a:off x="3581400" y="2419350"/>
              <a:ext cx="2209800" cy="5715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复用证据有效</a:t>
              </a:r>
            </a:p>
          </p:txBody>
        </p:sp>
        <p:sp>
          <p:nvSpPr>
            <p:cNvPr id="17" name="跨时刻有重复访问 复用间隔短于 TTL 证据新鲜，符合复用节奏 复用字节距离不超池容量"/>
            <p:cNvSpPr txBox="1"/>
            <p:nvPr/>
          </p:nvSpPr>
          <p:spPr>
            <a:xfrm>
              <a:off x="3581400" y="3209925"/>
              <a:ext cx="2209800" cy="15240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跨时刻有重复访问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复用间隔短于 TTL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证据新鲜，符合复用节奏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复用字节距离不超池容量</a:t>
              </a:r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3190875" y="35814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缓存判断 预计命中有净收益"/>
          <p:cNvGrpSpPr/>
          <p:nvPr/>
        </p:nvGrpSpPr>
        <p:grpSpPr>
          <a:xfrm>
            <a:off x="6010275" y="2257425"/>
            <a:ext cx="2752725" cy="2657475"/>
            <a:chOff x="6010275" y="2257425"/>
            <a:chExt cx="2752725" cy="2657475"/>
          </a:xfrm>
        </p:grpSpPr>
        <p:sp>
          <p:nvSpPr>
            <p:cNvPr id="20" name="Rectangle 19"/>
            <p:cNvSpPr/>
            <p:nvPr/>
          </p:nvSpPr>
          <p:spPr>
            <a:xfrm>
              <a:off x="6248400" y="2257425"/>
              <a:ext cx="2514600" cy="265747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6248400" y="2257425"/>
              <a:ext cx="28575" cy="265747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预计命中有净收益"/>
            <p:cNvSpPr txBox="1"/>
            <p:nvPr/>
          </p:nvSpPr>
          <p:spPr>
            <a:xfrm>
              <a:off x="6400800" y="2419350"/>
              <a:ext cx="2209800" cy="5715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预计命中有净收益</a:t>
              </a:r>
            </a:p>
          </p:txBody>
        </p:sp>
        <p:sp>
          <p:nvSpPr>
            <p:cNvPr id="23" name="Work 给出可替代的成本 扣除命中复制的成本 预计净收益必须为正 比较 HBM / SSD 来源"/>
            <p:cNvSpPr txBox="1"/>
            <p:nvPr/>
          </p:nvSpPr>
          <p:spPr>
            <a:xfrm>
              <a:off x="6400800" y="3209925"/>
              <a:ext cx="2209800" cy="15240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Work 给出可替代的成本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扣除命中复制的成本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预计净收益必须为正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比较 HBM / SSD 来源</a:t>
              </a:r>
            </a:p>
          </p:txBody>
        </p:sp>
        <p:cxnSp>
          <p:nvCxnSpPr>
            <p:cNvPr id="24" name="Connector 23"/>
            <p:cNvCxnSpPr/>
            <p:nvPr/>
          </p:nvCxnSpPr>
          <p:spPr>
            <a:xfrm>
              <a:off x="6010275" y="35814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缓存判断 预算足够才投入"/>
          <p:cNvGrpSpPr/>
          <p:nvPr/>
        </p:nvGrpSpPr>
        <p:grpSpPr>
          <a:xfrm>
            <a:off x="8829675" y="2257425"/>
            <a:ext cx="2752725" cy="2657475"/>
            <a:chOff x="8829675" y="2257425"/>
            <a:chExt cx="2752725" cy="2657475"/>
          </a:xfrm>
        </p:grpSpPr>
        <p:sp>
          <p:nvSpPr>
            <p:cNvPr id="26" name="Rectangle 25"/>
            <p:cNvSpPr/>
            <p:nvPr/>
          </p:nvSpPr>
          <p:spPr>
            <a:xfrm>
              <a:off x="9067800" y="2257425"/>
              <a:ext cx="2514600" cy="2657475"/>
            </a:xfrm>
            <a:prstGeom prst="rect">
              <a:avLst/>
            </a:prstGeom>
            <a:solidFill>
              <a:srgbClr val="EEF6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067800" y="2257425"/>
              <a:ext cx="28575" cy="2657475"/>
            </a:xfrm>
            <a:prstGeom prst="rect">
              <a:avLst/>
            </a:prstGeom>
            <a:solidFill>
              <a:srgbClr val="24756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预算足够才投入"/>
            <p:cNvSpPr txBox="1"/>
            <p:nvPr/>
          </p:nvSpPr>
          <p:spPr>
            <a:xfrm>
              <a:off x="9220200" y="2419350"/>
              <a:ext cx="2209800" cy="5715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800" b="1" lang="zh-CN">
                  <a:solidFill>
                    <a:srgbClr val="24756D"/>
                  </a:solidFill>
                  <a:latin typeface="Microsoft YaHei"/>
                  <a:ea typeface="Microsoft YaHei"/>
                </a:rPr>
                <a:t>预算足够才投入</a:t>
              </a:r>
            </a:p>
          </p:txBody>
        </p:sp>
        <p:sp>
          <p:nvSpPr>
            <p:cNvPr id="29" name="历史支出累积为投入预算 提升成本决定投入门槛 需替换越多，门槛越高 预算覆盖门槛才提升"/>
            <p:cNvSpPr txBox="1"/>
            <p:nvPr/>
          </p:nvSpPr>
          <p:spPr>
            <a:xfrm>
              <a:off x="9220200" y="3209925"/>
              <a:ext cx="2209800" cy="1524000"/>
            </a:xfrm>
            <a:prstGeom prst="rect">
              <a:avLst/>
            </a:prstGeom>
            <a:noFill/>
            <a:effectLst/>
          </p:spPr>
          <p:txBody>
            <a:bodyPr wrap="square" lIns="0" rIns="0" tIns="0" bIns="0">
              <a:spAutoFit/>
            </a:bodyPr>
            <a:lstStyle/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历史支出累积为投入预算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提升成本决定投入门槛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需替换越多，门槛越高</a:t>
              </a:r>
            </a:p>
            <a:p>
              <a:pPr algn="l">
                <a:lnSpc>
                  <a:spcPct val="112000"/>
                </a:lnSpc>
                <a:spcAft>
                  <a:spcPts val="300"/>
                </a:spcAft>
              </a:pPr>
              <a:r>
                <a:rPr sz="1500" b="0" lang="zh-CN">
                  <a:solidFill>
                    <a:srgbClr val="1F2937"/>
                  </a:solidFill>
                  <a:latin typeface="Microsoft YaHei"/>
                  <a:ea typeface="Microsoft YaHei"/>
                </a:rPr>
                <a:t>预算覆盖门槛才提升</a:t>
              </a:r>
            </a:p>
          </p:txBody>
        </p:sp>
        <p:cxnSp>
          <p:nvCxnSpPr>
            <p:cNvPr id="30" name="Connector 29"/>
            <p:cNvCxnSpPr/>
            <p:nvPr/>
          </p:nvCxnSpPr>
          <p:spPr>
            <a:xfrm>
              <a:off x="8829675" y="3581400"/>
              <a:ext cx="190500" cy="0"/>
            </a:xfrm>
            <a:prstGeom prst="line">
              <a:avLst/>
            </a:prstGeom>
            <a:ln w="19050">
              <a:solidFill>
                <a:srgbClr val="24756D"/>
              </a:solidFill>
              <a:tailEnd type="triangl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tangle 30"/>
          <p:cNvSpPr/>
          <p:nvPr/>
        </p:nvSpPr>
        <p:spPr>
          <a:xfrm>
            <a:off x="609600" y="5191125"/>
            <a:ext cx="10972800" cy="523874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通过全部条件：选择较低投入的来源，返回 PROMOTE；否则本次不提升。"/>
          <p:cNvSpPr txBox="1"/>
          <p:nvPr/>
        </p:nvSpPr>
        <p:spPr>
          <a:xfrm>
            <a:off x="781050" y="5324475"/>
            <a:ext cx="106299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24756D"/>
                </a:solidFill>
                <a:latin typeface="Microsoft YaHei"/>
                <a:ea typeface="Microsoft YaHei"/>
              </a:rPr>
              <a:t>通过全部条件：选择较低投入的来源，返回 PROMOTE；否则本次不提升。</a:t>
            </a:r>
          </a:p>
        </p:txBody>
      </p:sp>
      <p:sp>
        <p:nvSpPr>
          <p:cNvPr id="33" name="池满允许替换，提升完成后才能命中；PROMOTE 服务未来复用，不是本次读取的必要收尾。"/>
          <p:cNvSpPr txBox="1"/>
          <p:nvPr/>
        </p:nvSpPr>
        <p:spPr>
          <a:xfrm>
            <a:off x="609600" y="5934075"/>
            <a:ext cx="1097280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池满允许替换，提升完成后才能命中；PROMOTE 服务未来复用，不是本次读取的必要收尾。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8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8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8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28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复杂度与调度开销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复杂度与调度开销</a:t>
            </a:r>
          </a:p>
        </p:txBody>
      </p:sp>
      <p:sp>
        <p:nvSpPr>
          <p:cNvPr id="3" name="控制在线规划规模，并分别计量策略与进程开销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控制在线规划规模，并分别计量策略与进程开销</a:t>
            </a:r>
          </a:p>
        </p:txBody>
      </p:sp>
      <p:sp>
        <p:nvSpPr>
          <p:cNvPr id="4" name="左侧列主要开销项；右侧为 39 条公开输入，逐例预热一次、交替测三轮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左侧列主要开销项；右侧为 39 条公开输入，逐例预热一次、交替测三轮。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5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8" name="主要时间 / 空间复杂度"/>
          <p:cNvSpPr txBox="1"/>
          <p:nvPr/>
        </p:nvSpPr>
        <p:spPr>
          <a:xfrm>
            <a:off x="609600" y="2057400"/>
            <a:ext cx="62103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主要时间 / 空间复杂度</a:t>
            </a:r>
          </a:p>
        </p:txBody>
      </p:sp>
      <p:sp>
        <p:nvSpPr>
          <p:cNvPr id="9" name="实测：官方贪心 → 本方案"/>
          <p:cNvSpPr txBox="1"/>
          <p:nvPr/>
        </p:nvSpPr>
        <p:spPr>
          <a:xfrm>
            <a:off x="7410449" y="2057400"/>
            <a:ext cx="417195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实测：官方贪心 → 本方案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505075"/>
            <a:ext cx="1743075" cy="3238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开销项"/>
          <p:cNvSpPr txBox="1"/>
          <p:nvPr/>
        </p:nvSpPr>
        <p:spPr>
          <a:xfrm>
            <a:off x="704850" y="2571750"/>
            <a:ext cx="1552575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开销项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52675" y="2505075"/>
            <a:ext cx="2724150" cy="3238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时间"/>
          <p:cNvSpPr txBox="1"/>
          <p:nvPr/>
        </p:nvSpPr>
        <p:spPr>
          <a:xfrm>
            <a:off x="2447925" y="2571750"/>
            <a:ext cx="2533650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时间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76825" y="2505075"/>
            <a:ext cx="1933575" cy="3238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空间"/>
          <p:cNvSpPr txBox="1"/>
          <p:nvPr/>
        </p:nvSpPr>
        <p:spPr>
          <a:xfrm>
            <a:off x="5172075" y="2571750"/>
            <a:ext cx="1743075" cy="228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1" lang="zh-CN">
                <a:solidFill>
                  <a:srgbClr val="285EA8"/>
                </a:solidFill>
                <a:latin typeface="Microsoft YaHei"/>
                <a:ea typeface="Microsoft YaHei"/>
              </a:rPr>
              <a:t>空间</a:t>
            </a:r>
          </a:p>
        </p:txBody>
      </p:sp>
      <p:sp>
        <p:nvSpPr>
          <p:cNvPr id="16" name="索引 / 排序"/>
          <p:cNvSpPr txBox="1"/>
          <p:nvPr/>
        </p:nvSpPr>
        <p:spPr>
          <a:xfrm>
            <a:off x="704850" y="2990850"/>
            <a:ext cx="15525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索引 / 排序</a:t>
            </a:r>
          </a:p>
        </p:txBody>
      </p:sp>
      <p:sp>
        <p:nvSpPr>
          <p:cNvPr id="17" name="O(V + n log n)"/>
          <p:cNvSpPr txBox="1"/>
          <p:nvPr/>
        </p:nvSpPr>
        <p:spPr>
          <a:xfrm>
            <a:off x="2447925" y="2990850"/>
            <a:ext cx="25336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O(V + n log n)</a:t>
            </a:r>
          </a:p>
        </p:txBody>
      </p:sp>
      <p:sp>
        <p:nvSpPr>
          <p:cNvPr id="18" name="O(V+n)"/>
          <p:cNvSpPr txBox="1"/>
          <p:nvPr/>
        </p:nvSpPr>
        <p:spPr>
          <a:xfrm>
            <a:off x="5172075" y="2990850"/>
            <a:ext cx="17430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O(V+n)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9600" y="3305175"/>
            <a:ext cx="6400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候选组维护"/>
          <p:cNvSpPr txBox="1"/>
          <p:nvPr/>
        </p:nvSpPr>
        <p:spPr>
          <a:xfrm>
            <a:off x="704850" y="3390900"/>
            <a:ext cx="15525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候选组维护</a:t>
            </a:r>
          </a:p>
        </p:txBody>
      </p:sp>
      <p:sp>
        <p:nvSpPr>
          <p:cNvPr id="21" name="O(nW log(W+1))"/>
          <p:cNvSpPr txBox="1"/>
          <p:nvPr/>
        </p:nvSpPr>
        <p:spPr>
          <a:xfrm>
            <a:off x="2447925" y="3390900"/>
            <a:ext cx="25336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 log(W+1))</a:t>
            </a:r>
          </a:p>
        </p:txBody>
      </p:sp>
      <p:sp>
        <p:nvSpPr>
          <p:cNvPr id="22" name="O(W)"/>
          <p:cNvSpPr txBox="1"/>
          <p:nvPr/>
        </p:nvSpPr>
        <p:spPr>
          <a:xfrm>
            <a:off x="5172075" y="3390900"/>
            <a:ext cx="17430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O(W)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9600" y="3705224"/>
            <a:ext cx="6400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快速 DP 转移"/>
          <p:cNvSpPr txBox="1"/>
          <p:nvPr/>
        </p:nvSpPr>
        <p:spPr>
          <a:xfrm>
            <a:off x="704850" y="3790949"/>
            <a:ext cx="15525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快速 DP 转移</a:t>
            </a:r>
          </a:p>
        </p:txBody>
      </p:sp>
      <p:sp>
        <p:nvSpPr>
          <p:cNvPr id="25" name="O(nW)"/>
          <p:cNvSpPr txBox="1"/>
          <p:nvPr/>
        </p:nvSpPr>
        <p:spPr>
          <a:xfrm>
            <a:off x="2447925" y="3790949"/>
            <a:ext cx="25336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O(nW)</a:t>
            </a:r>
          </a:p>
        </p:txBody>
      </p:sp>
      <p:sp>
        <p:nvSpPr>
          <p:cNvPr id="26" name="O(n)"/>
          <p:cNvSpPr txBox="1"/>
          <p:nvPr/>
        </p:nvSpPr>
        <p:spPr>
          <a:xfrm>
            <a:off x="5172075" y="3790949"/>
            <a:ext cx="17430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O(n)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09600" y="4105274"/>
            <a:ext cx="6400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细化（固定 cnt）"/>
          <p:cNvSpPr txBox="1"/>
          <p:nvPr/>
        </p:nvSpPr>
        <p:spPr>
          <a:xfrm>
            <a:off x="704850" y="4190999"/>
            <a:ext cx="15525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细化（固定 cnt）</a:t>
            </a:r>
          </a:p>
        </p:txBody>
      </p:sp>
      <p:sp>
        <p:nvSpPr>
          <p:cNvPr id="29" name="O(cnt × n × W)"/>
          <p:cNvSpPr txBox="1"/>
          <p:nvPr/>
        </p:nvSpPr>
        <p:spPr>
          <a:xfrm>
            <a:off x="2447925" y="4190999"/>
            <a:ext cx="25336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O(cnt × n × W)</a:t>
            </a:r>
          </a:p>
        </p:txBody>
      </p:sp>
      <p:sp>
        <p:nvSpPr>
          <p:cNvPr id="30" name="O(cnt×n+nW)"/>
          <p:cNvSpPr txBox="1"/>
          <p:nvPr/>
        </p:nvSpPr>
        <p:spPr>
          <a:xfrm>
            <a:off x="5172075" y="4190999"/>
            <a:ext cx="17430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O(cnt×n+nW)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" y="4505325"/>
            <a:ext cx="6400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后台同步 / 扫描"/>
          <p:cNvSpPr txBox="1"/>
          <p:nvPr/>
        </p:nvSpPr>
        <p:spPr>
          <a:xfrm>
            <a:off x="704850" y="4591050"/>
            <a:ext cx="15525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后台同步 / 扫描</a:t>
            </a:r>
          </a:p>
        </p:txBody>
      </p:sp>
      <p:sp>
        <p:nvSpPr>
          <p:cNvPr id="33" name="O(R log(R+1)+A)"/>
          <p:cNvSpPr txBox="1"/>
          <p:nvPr/>
        </p:nvSpPr>
        <p:spPr>
          <a:xfrm>
            <a:off x="2447925" y="4591050"/>
            <a:ext cx="253365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O(R log(R+1)+A)</a:t>
            </a:r>
          </a:p>
        </p:txBody>
      </p:sp>
      <p:sp>
        <p:nvSpPr>
          <p:cNvPr id="34" name="临时 O(R)"/>
          <p:cNvSpPr txBox="1"/>
          <p:nvPr/>
        </p:nvSpPr>
        <p:spPr>
          <a:xfrm>
            <a:off x="5172075" y="4591050"/>
            <a:ext cx="1743075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1F2937"/>
                </a:solidFill>
                <a:latin typeface="Microsoft YaHei"/>
                <a:ea typeface="Microsoft YaHei"/>
              </a:rPr>
              <a:t>临时 O(R)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609600" y="4905375"/>
            <a:ext cx="6400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策略回调合计"/>
          <p:cNvSpPr txBox="1"/>
          <p:nvPr/>
        </p:nvSpPr>
        <p:spPr>
          <a:xfrm>
            <a:off x="7410449" y="2524125"/>
            <a:ext cx="4171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策略回调合计</a:t>
            </a:r>
          </a:p>
        </p:txBody>
      </p:sp>
      <p:sp>
        <p:nvSpPr>
          <p:cNvPr id="37" name="0.831 → 1.153 s"/>
          <p:cNvSpPr txBox="1"/>
          <p:nvPr/>
        </p:nvSpPr>
        <p:spPr>
          <a:xfrm>
            <a:off x="7410449" y="2781300"/>
            <a:ext cx="41719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0.831 → 1.153 s</a:t>
            </a:r>
          </a:p>
        </p:txBody>
      </p:sp>
      <p:sp>
        <p:nvSpPr>
          <p:cNvPr id="38" name="程序总耗时"/>
          <p:cNvSpPr txBox="1"/>
          <p:nvPr/>
        </p:nvSpPr>
        <p:spPr>
          <a:xfrm>
            <a:off x="7410449" y="3133725"/>
            <a:ext cx="4171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程序总耗时</a:t>
            </a:r>
          </a:p>
        </p:txBody>
      </p:sp>
      <p:sp>
        <p:nvSpPr>
          <p:cNvPr id="39" name="10.969 → 9.393 s"/>
          <p:cNvSpPr txBox="1"/>
          <p:nvPr/>
        </p:nvSpPr>
        <p:spPr>
          <a:xfrm>
            <a:off x="7410449" y="3390900"/>
            <a:ext cx="41719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10.969 → 9.393 s</a:t>
            </a:r>
          </a:p>
        </p:txBody>
      </p:sp>
      <p:sp>
        <p:nvSpPr>
          <p:cNvPr id="40" name="策略堆峰值"/>
          <p:cNvSpPr txBox="1"/>
          <p:nvPr/>
        </p:nvSpPr>
        <p:spPr>
          <a:xfrm>
            <a:off x="7410449" y="3743325"/>
            <a:ext cx="4171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策略堆峰值</a:t>
            </a:r>
          </a:p>
        </p:txBody>
      </p:sp>
      <p:sp>
        <p:nvSpPr>
          <p:cNvPr id="41" name="12.90 → 12.34 MiB"/>
          <p:cNvSpPr txBox="1"/>
          <p:nvPr/>
        </p:nvSpPr>
        <p:spPr>
          <a:xfrm>
            <a:off x="7410449" y="4000500"/>
            <a:ext cx="41719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12.90 → 12.34 MiB</a:t>
            </a:r>
          </a:p>
        </p:txBody>
      </p:sp>
      <p:sp>
        <p:nvSpPr>
          <p:cNvPr id="42" name="进程 RSS 峰值"/>
          <p:cNvSpPr txBox="1"/>
          <p:nvPr/>
        </p:nvSpPr>
        <p:spPr>
          <a:xfrm>
            <a:off x="7410449" y="4352925"/>
            <a:ext cx="41719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25" b="0" lang="zh-CN">
                <a:solidFill>
                  <a:srgbClr val="657184"/>
                </a:solidFill>
                <a:latin typeface="Microsoft YaHei"/>
                <a:ea typeface="Microsoft YaHei"/>
              </a:rPr>
              <a:t>进程 RSS 峰值</a:t>
            </a:r>
          </a:p>
        </p:txBody>
      </p:sp>
      <p:sp>
        <p:nvSpPr>
          <p:cNvPr id="43" name="393.78 → 262.53 MiB"/>
          <p:cNvSpPr txBox="1"/>
          <p:nvPr/>
        </p:nvSpPr>
        <p:spPr>
          <a:xfrm>
            <a:off x="7410449" y="4610100"/>
            <a:ext cx="41719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4756D"/>
                </a:solidFill>
                <a:latin typeface="Microsoft YaHei"/>
                <a:ea typeface="Microsoft YaHei"/>
              </a:rPr>
              <a:t>393.78 → 262.53 MiB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124450"/>
            <a:ext cx="10972800" cy="438150"/>
          </a:xfrm>
          <a:prstGeom prst="rect">
            <a:avLst/>
          </a:prstGeom>
          <a:solidFill>
            <a:srgbClr val="EDF3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程序总耗时下降 14.4%，RSS 峰值下降 33.3%；回调与整体执行分别计量。"/>
          <p:cNvSpPr txBox="1"/>
          <p:nvPr/>
        </p:nvSpPr>
        <p:spPr>
          <a:xfrm>
            <a:off x="781050" y="5229225"/>
            <a:ext cx="106299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程序总耗时下降 14.4%，RSS 峰值下降 33.3%；回调与整体执行分别计量。</a:t>
            </a:r>
          </a:p>
        </p:txBody>
      </p:sp>
      <p:sp>
        <p:nvSpPr>
          <p:cNvPr id="46" name="n：片段数；W：候选窗口；V：iov 数；cnt：候选组数；R / A：在途提升 / 活动传输数。 时间取逐例中位数后求和，内存取峰值；完整复杂度与测量口径见提交文档。"/>
          <p:cNvSpPr txBox="1"/>
          <p:nvPr/>
        </p:nvSpPr>
        <p:spPr>
          <a:xfrm>
            <a:off x="609600" y="5715000"/>
            <a:ext cx="10972800" cy="4095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n：片段数；W：候选窗口；V：iov 数；cnt：候选组数；R / A：在途提升 / 活动传输数。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时间取逐例中位数后求和，内存取峰值；完整复杂度与测量口径见提交文档。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前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前台指标</a:t>
            </a:r>
          </a:p>
        </p:txBody>
      </p:sp>
      <p:sp>
        <p:nvSpPr>
          <p:cNvPr id="3" name="前台：操作数减少 53.85%，调用费减少 66.82%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前台：操作数减少 53.85%，调用费减少 66.82%</a:t>
            </a:r>
          </a:p>
        </p:txBody>
      </p:sp>
      <p:sp>
        <p:nvSpPr>
          <p:cNvPr id="4" name="39 条公开输入；仅统计前台 operation，排除 PROMOTE 和框架命中复制。每组柱形从零起算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条公开输入；仅统计前台 operation，排除 PROMOTE 和框架命中复制。每组柱形从零起算。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6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8" name="读操作数"/>
          <p:cNvSpPr txBox="1"/>
          <p:nvPr/>
        </p:nvSpPr>
        <p:spPr>
          <a:xfrm>
            <a:off x="6096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读操作数</a:t>
            </a:r>
          </a:p>
        </p:txBody>
      </p:sp>
      <p:sp>
        <p:nvSpPr>
          <p:cNvPr id="9" name="官方贪心  177,180 次"/>
          <p:cNvSpPr txBox="1"/>
          <p:nvPr/>
        </p:nvSpPr>
        <p:spPr>
          <a:xfrm>
            <a:off x="6096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177,180 次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本方案  81,768 次"/>
          <p:cNvSpPr txBox="1"/>
          <p:nvPr/>
        </p:nvSpPr>
        <p:spPr>
          <a:xfrm>
            <a:off x="6096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81,768 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3562350"/>
            <a:ext cx="1494557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减少 53.85%"/>
          <p:cNvSpPr txBox="1"/>
          <p:nvPr/>
        </p:nvSpPr>
        <p:spPr>
          <a:xfrm>
            <a:off x="6096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53.85%</a:t>
            </a:r>
          </a:p>
        </p:txBody>
      </p:sp>
      <p:sp>
        <p:nvSpPr>
          <p:cNvPr id="14" name="物理 SSD 读取量"/>
          <p:cNvSpPr txBox="1"/>
          <p:nvPr/>
        </p:nvSpPr>
        <p:spPr>
          <a:xfrm>
            <a:off x="4343400" y="2124075"/>
            <a:ext cx="335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物理 SSD 读取量</a:t>
            </a:r>
          </a:p>
        </p:txBody>
      </p:sp>
      <p:sp>
        <p:nvSpPr>
          <p:cNvPr id="15" name="官方贪心  38.56 GiB"/>
          <p:cNvSpPr txBox="1"/>
          <p:nvPr/>
        </p:nvSpPr>
        <p:spPr>
          <a:xfrm>
            <a:off x="4343400" y="2571750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38.56 GiB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905125"/>
            <a:ext cx="32385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本方案  32.91 GiB"/>
          <p:cNvSpPr txBox="1"/>
          <p:nvPr/>
        </p:nvSpPr>
        <p:spPr>
          <a:xfrm>
            <a:off x="4343400" y="3228975"/>
            <a:ext cx="33528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32.91 GiB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43400" y="3562350"/>
            <a:ext cx="2763835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减少 14.66%"/>
          <p:cNvSpPr txBox="1"/>
          <p:nvPr/>
        </p:nvSpPr>
        <p:spPr>
          <a:xfrm>
            <a:off x="4343400" y="3905249"/>
            <a:ext cx="33528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14.66%</a:t>
            </a:r>
          </a:p>
        </p:txBody>
      </p:sp>
      <p:sp>
        <p:nvSpPr>
          <p:cNvPr id="20" name="CPU + NPU 调用费"/>
          <p:cNvSpPr txBox="1"/>
          <p:nvPr/>
        </p:nvSpPr>
        <p:spPr>
          <a:xfrm>
            <a:off x="8077200" y="2124075"/>
            <a:ext cx="35052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1" lang="zh-CN">
                <a:solidFill>
                  <a:srgbClr val="285EA8"/>
                </a:solidFill>
                <a:latin typeface="Microsoft YaHei"/>
                <a:ea typeface="Microsoft YaHei"/>
              </a:rPr>
              <a:t>CPU + NPU 调用费</a:t>
            </a:r>
          </a:p>
        </p:txBody>
      </p:sp>
      <p:sp>
        <p:nvSpPr>
          <p:cNvPr id="21" name="官方贪心  610,928"/>
          <p:cNvSpPr txBox="1"/>
          <p:nvPr/>
        </p:nvSpPr>
        <p:spPr>
          <a:xfrm>
            <a:off x="8077200" y="2571750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75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610,928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77200" y="2905125"/>
            <a:ext cx="3390900" cy="180975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本方案  202,731"/>
          <p:cNvSpPr txBox="1"/>
          <p:nvPr/>
        </p:nvSpPr>
        <p:spPr>
          <a:xfrm>
            <a:off x="8077200" y="3228975"/>
            <a:ext cx="3505200" cy="2762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650" b="1" lang="zh-CN">
                <a:solidFill>
                  <a:srgbClr val="285EA8"/>
                </a:solidFill>
                <a:latin typeface="Microsoft YaHei"/>
                <a:ea typeface="Microsoft YaHei"/>
              </a:rPr>
              <a:t>本方案  202,731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77200" y="3562350"/>
            <a:ext cx="1125239" cy="180975"/>
          </a:xfrm>
          <a:prstGeom prst="rect">
            <a:avLst/>
          </a:prstGeom>
          <a:solidFill>
            <a:srgbClr val="285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减少 66.82%"/>
          <p:cNvSpPr txBox="1"/>
          <p:nvPr/>
        </p:nvSpPr>
        <p:spPr>
          <a:xfrm>
            <a:off x="8077200" y="3905249"/>
            <a:ext cx="3505200" cy="2952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75" b="1" lang="zh-CN">
                <a:solidFill>
                  <a:srgbClr val="285EA8"/>
                </a:solidFill>
                <a:latin typeface="Microsoft YaHei"/>
                <a:ea typeface="Microsoft YaHei"/>
              </a:rPr>
              <a:t>减少 66.82%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09600" y="4410075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联合分组减少 operation， 少付重复的操作固定费。"/>
          <p:cNvSpPr txBox="1"/>
          <p:nvPr/>
        </p:nvSpPr>
        <p:spPr>
          <a:xfrm>
            <a:off x="6096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联合分组减少 operation，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少付重复的操作固定费。</a:t>
            </a:r>
          </a:p>
        </p:txBody>
      </p:sp>
      <p:sp>
        <p:nvSpPr>
          <p:cNvPr id="28" name="合并重叠请求可共享物理读； 缓存也会改变前台请求集合。"/>
          <p:cNvSpPr txBox="1"/>
          <p:nvPr/>
        </p:nvSpPr>
        <p:spPr>
          <a:xfrm>
            <a:off x="4343400" y="4600575"/>
            <a:ext cx="33528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合并重叠请求可共享物理读；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缓存也会改变前台请求集合。</a:t>
            </a:r>
          </a:p>
        </p:txBody>
      </p:sp>
      <p:sp>
        <p:nvSpPr>
          <p:cNvPr id="29" name="边界与路径一起估价， 减少操作及昂贵路径的调用。"/>
          <p:cNvSpPr txBox="1"/>
          <p:nvPr/>
        </p:nvSpPr>
        <p:spPr>
          <a:xfrm>
            <a:off x="8077200" y="4600575"/>
            <a:ext cx="3505200" cy="600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边界与路径一起估价，</a:t>
            </a: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1F2937"/>
                </a:solidFill>
                <a:latin typeface="Microsoft YaHei"/>
                <a:ea typeface="Microsoft YaHei"/>
              </a:rPr>
              <a:t>减少操作及昂贵路径的调用。</a:t>
            </a:r>
          </a:p>
        </p:txBody>
      </p:sp>
      <p:sp>
        <p:nvSpPr>
          <p:cNvPr id="30" name="整体：自动分 67.1981 → 88.4555 / 90；39 条总 J 下降 36.51%，35 胜 / 4 平 / 0 负。"/>
          <p:cNvSpPr txBox="1"/>
          <p:nvPr/>
        </p:nvSpPr>
        <p:spPr>
          <a:xfrm>
            <a:off x="609600" y="5381625"/>
            <a:ext cx="10972800" cy="3238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 lang="zh-CN">
                <a:solidFill>
                  <a:srgbClr val="285EA8"/>
                </a:solidFill>
                <a:latin typeface="Microsoft YaHei"/>
                <a:ea typeface="Microsoft YaHei"/>
              </a:rPr>
              <a:t>整体：自动分 67.1981 → 88.4555 / 90；39 条总 J 下降 36.51%，35 胜 / 4 平 / 0 负。</a:t>
            </a:r>
          </a:p>
        </p:txBody>
      </p:sp>
      <p:sp>
        <p:nvSpPr>
          <p:cNvPr id="31" name="验证：655 条 × 3 轮合法且一致，173 项检查通过。以上是整套方案对照，不能独立归因给单一模块。"/>
          <p:cNvSpPr txBox="1"/>
          <p:nvPr/>
        </p:nvSpPr>
        <p:spPr>
          <a:xfrm>
            <a:off x="609600" y="5838825"/>
            <a:ext cx="10972800" cy="2667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500" b="0" lang="zh-CN">
                <a:solidFill>
                  <a:srgbClr val="657184"/>
                </a:solidFill>
                <a:latin typeface="Microsoft YaHei"/>
                <a:ea typeface="Microsoft YaHei"/>
              </a:rPr>
              <a:t>验证：655 条 × 3 轮合法且一致，173 项检查通过。以上是整套方案对照，不能独立归因给单一模块。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性能对比 · 后台指标"/>
          <p:cNvSpPr txBox="1"/>
          <p:nvPr/>
        </p:nvSpPr>
        <p:spPr>
          <a:xfrm>
            <a:off x="609600" y="333375"/>
            <a:ext cx="10572750" cy="2381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1" lang="zh-CN">
                <a:solidFill>
                  <a:srgbClr val="285EA8"/>
                </a:solidFill>
                <a:latin typeface="Microsoft YaHei"/>
                <a:ea typeface="Microsoft YaHei"/>
              </a:rPr>
              <a:t>性能对比 · 后台指标</a:t>
            </a:r>
          </a:p>
        </p:txBody>
      </p:sp>
      <p:sp>
        <p:nvSpPr>
          <p:cNvPr id="3" name="后台：总调用费更少，每次命中分摊的投入更低"/>
          <p:cNvSpPr txBox="1"/>
          <p:nvPr/>
        </p:nvSpPr>
        <p:spPr>
          <a:xfrm>
            <a:off x="609600" y="752475"/>
            <a:ext cx="10972800" cy="6096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075" b="1" lang="zh-CN">
                <a:solidFill>
                  <a:srgbClr val="1F2937"/>
                </a:solidFill>
                <a:latin typeface="Microsoft YaHei"/>
                <a:ea typeface="Microsoft YaHei"/>
              </a:rPr>
              <a:t>后台：总调用费更少，每次命中分摊的投入更低</a:t>
            </a:r>
          </a:p>
        </p:txBody>
      </p:sp>
      <p:sp>
        <p:nvSpPr>
          <p:cNvPr id="4" name="39 条公开 Trace，双方均启用缓存；后台调用费 = PROMOTE 调用费 + 命中复制调用费。"/>
          <p:cNvSpPr txBox="1"/>
          <p:nvPr/>
        </p:nvSpPr>
        <p:spPr>
          <a:xfrm>
            <a:off x="609600" y="1428750"/>
            <a:ext cx="10972800" cy="552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0" lang="zh-CN">
                <a:solidFill>
                  <a:srgbClr val="657184"/>
                </a:solidFill>
                <a:latin typeface="Microsoft YaHei"/>
                <a:ea typeface="Microsoft YaHei"/>
              </a:rPr>
              <a:t>39 条公开 Trace，双方均启用缓存；后台调用费 = PROMOTE 调用费 + 命中复制调用费。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09600" y="6286500"/>
            <a:ext cx="10972800" cy="0"/>
          </a:xfrm>
          <a:prstGeom prst="line">
            <a:avLst/>
          </a:prstGeom>
          <a:ln w="12700">
            <a:solidFill>
              <a:srgbClr val="DCE2E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NDS 多路径 IO 调度"/>
          <p:cNvSpPr txBox="1"/>
          <p:nvPr/>
        </p:nvSpPr>
        <p:spPr>
          <a:xfrm>
            <a:off x="609600" y="6438900"/>
            <a:ext cx="8096249" cy="17145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NDS 多路径 IO 调度</a:t>
            </a:r>
          </a:p>
        </p:txBody>
      </p:sp>
      <p:sp>
        <p:nvSpPr>
          <p:cNvPr id="7" name="7"/>
          <p:cNvSpPr txBox="1"/>
          <p:nvPr/>
        </p:nvSpPr>
        <p:spPr>
          <a:xfrm>
            <a:off x="11239500" y="6419850"/>
            <a:ext cx="342900" cy="1905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2000"/>
              </a:lnSpc>
              <a:spcAft>
                <a:spcPts val="300"/>
              </a:spcAft>
            </a:pPr>
            <a:r>
              <a:rPr sz="975" b="0" lang="zh-CN">
                <a:solidFill>
                  <a:srgbClr val="657184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39 条累计后台调用费"/>
          <p:cNvSpPr txBox="1"/>
          <p:nvPr/>
        </p:nvSpPr>
        <p:spPr>
          <a:xfrm>
            <a:off x="80010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39 条累计后台调用费</a:t>
            </a:r>
          </a:p>
        </p:txBody>
      </p:sp>
      <p:sp>
        <p:nvSpPr>
          <p:cNvPr id="10" name="包含未带来命中的提升投入"/>
          <p:cNvSpPr txBox="1"/>
          <p:nvPr/>
        </p:nvSpPr>
        <p:spPr>
          <a:xfrm>
            <a:off x="80010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包含未带来命中的提升投入</a:t>
            </a:r>
          </a:p>
        </p:txBody>
      </p:sp>
      <p:sp>
        <p:nvSpPr>
          <p:cNvPr id="11" name="↓ 94.84%"/>
          <p:cNvSpPr txBox="1"/>
          <p:nvPr/>
        </p:nvSpPr>
        <p:spPr>
          <a:xfrm>
            <a:off x="80010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94.84%</a:t>
            </a:r>
          </a:p>
        </p:txBody>
      </p:sp>
      <p:sp>
        <p:nvSpPr>
          <p:cNvPr id="12" name="官方贪心    804,656"/>
          <p:cNvSpPr txBox="1"/>
          <p:nvPr/>
        </p:nvSpPr>
        <p:spPr>
          <a:xfrm>
            <a:off x="80010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804,656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本方案        41,482"/>
          <p:cNvSpPr txBox="1"/>
          <p:nvPr/>
        </p:nvSpPr>
        <p:spPr>
          <a:xfrm>
            <a:off x="80010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41,482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" y="4648200"/>
            <a:ext cx="25042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3650" y="2085975"/>
            <a:ext cx="5238750" cy="2867025"/>
          </a:xfrm>
          <a:prstGeom prst="rect">
            <a:avLst/>
          </a:prstGeom>
          <a:solidFill>
            <a:srgbClr val="F3F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每次命中分摊的后台调用费"/>
          <p:cNvSpPr txBox="1"/>
          <p:nvPr/>
        </p:nvSpPr>
        <p:spPr>
          <a:xfrm>
            <a:off x="6534150" y="2219325"/>
            <a:ext cx="485775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每次命中分摊的后台调用费</a:t>
            </a:r>
          </a:p>
        </p:txBody>
      </p:sp>
      <p:sp>
        <p:nvSpPr>
          <p:cNvPr id="18" name="总后台调用费 ÷ 命中请求数"/>
          <p:cNvSpPr txBox="1"/>
          <p:nvPr/>
        </p:nvSpPr>
        <p:spPr>
          <a:xfrm>
            <a:off x="6534150" y="2619375"/>
            <a:ext cx="4857750" cy="2190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 lang="zh-CN">
                <a:solidFill>
                  <a:srgbClr val="657184"/>
                </a:solidFill>
                <a:latin typeface="Microsoft YaHei"/>
                <a:ea typeface="Microsoft YaHei"/>
              </a:rPr>
              <a:t>总后台调用费 ÷ 命中请求数</a:t>
            </a:r>
          </a:p>
        </p:txBody>
      </p:sp>
      <p:sp>
        <p:nvSpPr>
          <p:cNvPr id="19" name="↓ 74.95%"/>
          <p:cNvSpPr txBox="1"/>
          <p:nvPr/>
        </p:nvSpPr>
        <p:spPr>
          <a:xfrm>
            <a:off x="6534150" y="2924175"/>
            <a:ext cx="4857750" cy="5334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3600" b="1" lang="zh-CN">
                <a:solidFill>
                  <a:srgbClr val="24756D"/>
                </a:solidFill>
                <a:latin typeface="Microsoft YaHei"/>
                <a:ea typeface="Microsoft YaHei"/>
              </a:rPr>
              <a:t>↓ 74.95%</a:t>
            </a:r>
          </a:p>
        </p:txBody>
      </p:sp>
      <p:sp>
        <p:nvSpPr>
          <p:cNvPr id="20" name="官方贪心    19.71"/>
          <p:cNvSpPr txBox="1"/>
          <p:nvPr/>
        </p:nvSpPr>
        <p:spPr>
          <a:xfrm>
            <a:off x="6534150" y="35242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950" b="0" lang="zh-CN">
                <a:solidFill>
                  <a:srgbClr val="657184"/>
                </a:solidFill>
                <a:latin typeface="Microsoft YaHei"/>
                <a:ea typeface="Microsoft YaHei"/>
              </a:rPr>
              <a:t>官方贪心    19.71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4150" y="3895725"/>
            <a:ext cx="4857750" cy="171450"/>
          </a:xfrm>
          <a:prstGeom prst="rect">
            <a:avLst/>
          </a:prstGeom>
          <a:solidFill>
            <a:srgbClr val="C8D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本方案        4.94"/>
          <p:cNvSpPr txBox="1"/>
          <p:nvPr/>
        </p:nvSpPr>
        <p:spPr>
          <a:xfrm>
            <a:off x="6534150" y="4248150"/>
            <a:ext cx="4857750" cy="304800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本方案        4.94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34150" y="4648200"/>
            <a:ext cx="1216858" cy="171450"/>
          </a:xfrm>
          <a:prstGeom prst="rect">
            <a:avLst/>
          </a:prstGeom>
          <a:solidFill>
            <a:srgbClr val="2475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每次提升的平均命中数：4.63 → 27.92，达到贪心的 6.03 倍。"/>
          <p:cNvSpPr txBox="1"/>
          <p:nvPr/>
        </p:nvSpPr>
        <p:spPr>
          <a:xfrm>
            <a:off x="609600" y="5143500"/>
            <a:ext cx="10972800" cy="3143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2025" b="1" lang="zh-CN">
                <a:solidFill>
                  <a:srgbClr val="24756D"/>
                </a:solidFill>
                <a:latin typeface="Microsoft YaHei"/>
                <a:ea typeface="Microsoft YaHei"/>
              </a:rPr>
              <a:t>每次提升的平均命中数：4.63 → 27.92，达到贪心的 6.03 倍。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5600700"/>
            <a:ext cx="10972800" cy="409575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原因：复用证据筛选对象，净收益与预算限制投入；提升更少，命中更集中。"/>
          <p:cNvSpPr txBox="1"/>
          <p:nvPr/>
        </p:nvSpPr>
        <p:spPr>
          <a:xfrm>
            <a:off x="762000" y="5686425"/>
            <a:ext cx="10668000" cy="25717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725" b="1" lang="zh-CN">
                <a:solidFill>
                  <a:srgbClr val="24756D"/>
                </a:solidFill>
                <a:latin typeface="Microsoft YaHei"/>
                <a:ea typeface="Microsoft YaHei"/>
              </a:rPr>
              <a:t>原因：复用证据筛选对象，净收益与预算限制投入；提升更少，命中更集中。</a:t>
            </a:r>
          </a:p>
        </p:txBody>
      </p:sp>
      <p:sp>
        <p:nvSpPr>
          <p:cNvPr id="27" name="先汇总再相除：提升 8,817 → 301；命中 40,831 → 8,403。单次命中固定调用费仍为 2，降低的是提升投入的摊销。"/>
          <p:cNvSpPr txBox="1"/>
          <p:nvPr/>
        </p:nvSpPr>
        <p:spPr>
          <a:xfrm>
            <a:off x="609600" y="6105525"/>
            <a:ext cx="10972800" cy="161925"/>
          </a:xfrm>
          <a:prstGeom prst="rect">
            <a:avLst/>
          </a:prstGeom>
          <a:noFill/>
          <a:effectLst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125" b="0" lang="zh-CN">
                <a:solidFill>
                  <a:srgbClr val="657184"/>
                </a:solidFill>
                <a:latin typeface="Microsoft YaHei"/>
                <a:ea typeface="Microsoft YaHei"/>
              </a:rPr>
              <a:t>先汇总再相除：提升 8,817 → 301；命中 40,831 → 8,403。单次命中固定调用费仍为 2，降低的是提升投入的摊销。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NDS 多路径 IO 调度方案</dc:title>
  <dc:subject>联合动态规划、代码可视化与缓存准入</dc:subject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>算法设计与验证</cp:category>
</cp:coreProperties>
</file>