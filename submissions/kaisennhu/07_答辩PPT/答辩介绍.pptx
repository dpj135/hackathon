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并的两个直接作用是减少重复调用和共享物理读取；对并发、传输大小、资源占用也有影响，故不能只按调用费决定合并。路径替代是同一个候选边的另一个维度，并非另设一个优化模块。官方贪心按逐iov的固定分支选路、同键第二次未命中后尝试HBM提升；本方案改为联合DP和成本准入。池压力权重0.5是启发式，没有最优性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本页五次点击按执行顺序展开同一输入的代码和数值：1初始化，2联合枚举与组估价，3更新前缀和前驱，4细化 DP，5回溯与官方结果。代码为半开区间伪代码，源码把终点写成j+1。三个源区间[0,512)、[512,1024)、[1024,1536)，目标同卡且分别对齐，不必彼此连续。每条边表示一组片段加一条路径，两阶段均联合选边界和路径。快速DP先以3个片段/3个卡上请求估计qs=qc=3；本例time_cost_per_us=1、池空压力系数为1。读工作1536/(21504×2%×2^20)×10^6=3.40597970145μs；D2D按20×qc MiB/s估计，所以qc=3时复制24.4140625μs；H2D估计7.15255737305μs。三路径调用费分别2、5、12，故表中E是5.40597970145、32.8200422015、22.5585370745。显示值保留3位小数，不应当作实际J。dp[1]=3.135326567、dp[2]=4.270653134；两组的最优累计估价7.40597970145高于整组5.40597970145。细化 DP是同一分组问题增加组数维度：D[h][j]为前j段恰好h组的最低估价，固定cnt后重估带宽，最终看D[cnt][n]。其作用是控制搜索开销，同时缓解组数与并发互相依赖。系统保守空闲、规模及预算允许才运行；qs=active_ssd+cnt，复制并发按快速方案的卡号/类型比例估计，不等于统一取cnt。此例快速方案全DIRECT，细化阶段候选复制qc=1，所以整组AGGREGATE会重算为81.6481672015；不能继续使用快速表内32.820。本例按代码实际尝试顺序cnt=1、3、2，最低E分别5.40597970145、9.40597970145、7.40597970145，页面按组数升序展示。回溯后检验所有NDS请求槽位与两类缓冲池总量，按通过候选中的最低估价选计划，无通过候选则保留快速方案。条件、状态上限和200万预算详见算法文档及复杂度页。这不是精确全Trace最优，DP不规划未来、不决定PROMOTE，也不模拟执行中的队列和流水。最终一个DIRECT传输覆盖三个请求，官方实际Trace时间ceil(3.40597970145)=4μs、CPU=2、NPU=0、J=6；三个分别DIRECT则T=4μs、调用费6、J=10。该例已重新记录所有候选和细化DP终值，输出与原示例逐字节一致，并通过官方validat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Vmax为单个请求最多iov数，L为最终片段与目标iov的有效交集数。快速DP每个起点至多扩展W个片段，每组比较三条路径；维护std::set的所有者集合带log W因子，因此仅这一核心的保守界为O(nW log(W+1))。固定cnt时DP状态至多cnt*n，每状态看至多3W条边；若无采样和预算约束，全枚举cnt=1..n的核心转移上界可达O(n^3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扩展655条策略堆峰值13.06MiB；极端碎片探针1.58GiB，和公开集口径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请求命中率=cache_hits/198542个请求，不使用engine的promote_hit_rate：该字段实际是promote_success/promote_count，只代表成功入池率。命中字节从未进入schedule_decisions的请求长度求和，和官方cache_hits计数交叉核验；它是缓存服务的逻辑字节，不能直接当成节省的物理SSD字节。提升搬运字节3.615GiB→0.305GiB，调用费722994→24676；命中复制仍付费81662→16806。缓存净收益对双方各自前台策略做关闭PROMOTE对照；保留其他参数及前台代码，计入缓存改变资源竞争、命中和后续选路的联动，是完整Trace净效应而非单次命中的价格。baseline关闭/启用总J3686550/3581641，净贡献104909；本方案2344079/2273874，净贡献70205。启用缓存相对关闭缓存：双方均6例正收益；贪心17例负收益，本方案2例负收益，其余持平。不能据绝对贡献较小声称缓存模块独立胜过贪心：更便宜的前台减少了可被缓存替代的成本。总J节省1307767可按官方计费恒等式拆为前台调用费408197、提升调用费698318、命中调用费64856、模拟时间费136396，费用拆分不是独立因果消融。39×双方×开关=156次运行均通过官方validator；单次测确定性成本，不产生新的墙钟速度结论。所有原启用版本输出哈希与已有三轮记录一致。扩展退化和极端碎片1.58GiB边界仍见验证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关键观察与设计依据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3" name="分组边界与路径互相影响，必须放进同一个 DP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分组边界与路径互相影响，必须放进同一个 DP</a:t>
            </a:r>
          </a:p>
        </p:txBody>
      </p:sp>
      <p:sp>
        <p:nvSpPr>
          <p:cNvPr id="4" name="前台选“哪些片段一起搬、走哪条路”；后台另行判断“是否为后续复用建立缓存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前台选“哪些片段一起搬、走哪条路”；后台另行判断“是否为后续复用建立缓存”。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7086600" cy="26384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52650"/>
            <a:ext cx="38100" cy="26384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前台观察 → 联合枚举（分组，路径）"/>
          <p:cNvSpPr txBox="1"/>
          <p:nvPr/>
        </p:nvSpPr>
        <p:spPr>
          <a:xfrm>
            <a:off x="819150" y="2324100"/>
            <a:ext cx="6667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前台观察 → 联合枚举（分组，路径）</a:t>
            </a:r>
          </a:p>
        </p:txBody>
      </p:sp>
      <p:sp>
        <p:nvSpPr>
          <p:cNvPr id="11" name="合并减少操作固定费，也可能减少重叠的物理读取； 但组数变少、块变大，会改变并发、带宽和池占用。"/>
          <p:cNvSpPr txBox="1"/>
          <p:nvPr/>
        </p:nvSpPr>
        <p:spPr>
          <a:xfrm>
            <a:off x="819150" y="2847975"/>
            <a:ext cx="6667500" cy="685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合并减少操作固定费，也可能减少重叠的物理读取；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但组数变少、块变大，会改变并发、带宽和池占用。</a:t>
            </a:r>
          </a:p>
        </p:txBody>
      </p:sp>
      <p:sp>
        <p:nvSpPr>
          <p:cNvPr id="12" name="同一组可走不同路径，调用费和复制资源随之改变。 因此每个合法分组都比较 DIRECT / AGGREGATE / FALLBACK， 由 DP 一起决定边界和路径。"/>
          <p:cNvSpPr txBox="1"/>
          <p:nvPr/>
        </p:nvSpPr>
        <p:spPr>
          <a:xfrm>
            <a:off x="819150" y="3695700"/>
            <a:ext cx="6667500" cy="790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同一组可走不同路径，调用费和复制资源随之改变。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因此每个合法分组都比较 DIRECT / AGGREGATE / FALLBACK，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由 DP 一起决定边界和路径。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799" y="2152650"/>
            <a:ext cx="3657600" cy="2638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799" y="2152650"/>
            <a:ext cx="38100" cy="263842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后台观察 → 有条件地缓存"/>
          <p:cNvSpPr txBox="1"/>
          <p:nvPr/>
        </p:nvSpPr>
        <p:spPr>
          <a:xfrm>
            <a:off x="8134350" y="2324100"/>
            <a:ext cx="3238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后台观察 → 有条件地缓存</a:t>
            </a:r>
          </a:p>
        </p:txBody>
      </p:sp>
      <p:sp>
        <p:nvSpPr>
          <p:cNvPr id="16" name="PROMOTE 先付搬运和调用费， 未来命中仍需 KV → HBM。  只有复用证据有效、预计净收益 为正且历史预算够，才投入。"/>
          <p:cNvSpPr txBox="1"/>
          <p:nvPr/>
        </p:nvSpPr>
        <p:spPr>
          <a:xfrm>
            <a:off x="8134350" y="2857500"/>
            <a:ext cx="3238500" cy="1581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PROMOTE 先付搬运和调用费，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未来命中仍需 KV →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只有复用证据有效、预计净收益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为正且历史预算够，才投入。</a:t>
            </a:r>
          </a:p>
        </p:txBody>
      </p:sp>
      <p:sp>
        <p:nvSpPr>
          <p:cNvPr id="17" name="一组的估价 E = 时间单价 ×（读工作 + 复制工作）× 池压力系数 + 调用费"/>
          <p:cNvSpPr txBox="1"/>
          <p:nvPr/>
        </p:nvSpPr>
        <p:spPr>
          <a:xfrm>
            <a:off x="609600" y="501015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一组的估价 E = 时间单价 ×（读工作 + 复制工作）× 池压力系数 + 调用费</a:t>
            </a:r>
          </a:p>
        </p:txBody>
      </p:sp>
      <p:sp>
        <p:nvSpPr>
          <p:cNvPr id="18" name="读按物理字节、复制按有效字节；工作量由公开性能表估计。DIRECT 系数为 1， 中转为 1 + 0.5 × 对应池已用比例；这是局部估价，不是官方最终 J。"/>
          <p:cNvSpPr txBox="1"/>
          <p:nvPr/>
        </p:nvSpPr>
        <p:spPr>
          <a:xfrm>
            <a:off x="609600" y="5448300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读按物理字节、复制按有效字节；工作量由公开性能表估计。DIRECT 系数为 1，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中转为 1 + 0.5 × 对应池已用比例；这是局部估价，不是官方最终 J。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分块与联合 DP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分块与联合 DP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联合 DP · 代码可视化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前台联合 DP · 代码可视化</a:t>
            </a:r>
          </a:p>
        </p:txBody>
      </p:sp>
      <p:sp>
        <p:nvSpPr>
          <p:cNvPr id="3" name="先用快速 DP 规划，满足条件再用细化 DP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先用快速 DP 规划，满足条件再用细化 DP</a:t>
            </a:r>
          </a:p>
        </p:txBody>
      </p:sp>
      <p:sp>
        <p:nvSpPr>
          <p:cNvPr id="4" name="范围：仅本批未命中请求；每个起点最多向后看 128 片段，过滤同卡、相邻、对齐及资源约束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范围：仅本批未命中请求；每个起点最多向后看 128 片段，过滤同卡、相邻、对齐及资源约束。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grpSp>
        <p:nvGrpSpPr>
          <p:cNvPr id="8" name="步骤1：三个对齐片段与初始状态"/>
          <p:cNvGrpSpPr/>
          <p:nvPr/>
        </p:nvGrpSpPr>
        <p:grpSpPr>
          <a:xfrm>
            <a:off x="609600" y="2009774"/>
            <a:ext cx="10972799" cy="419100"/>
            <a:chOff x="609600" y="2009774"/>
            <a:chExt cx="10972799" cy="419100"/>
          </a:xfrm>
        </p:grpSpPr>
        <p:sp>
          <p:nvSpPr>
            <p:cNvPr id="9" name="同卡、相邻、对齐"/>
            <p:cNvSpPr txBox="1"/>
            <p:nvPr/>
          </p:nvSpPr>
          <p:spPr>
            <a:xfrm>
              <a:off x="609600" y="2076450"/>
              <a:ext cx="17430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同卡、相邻、对齐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438400" y="2009774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0 · 512B"/>
            <p:cNvSpPr txBox="1"/>
            <p:nvPr/>
          </p:nvSpPr>
          <p:spPr>
            <a:xfrm>
              <a:off x="2514600" y="2095499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P0 · 512B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162424" y="2009774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P1 · 512B"/>
            <p:cNvSpPr txBox="1"/>
            <p:nvPr/>
          </p:nvSpPr>
          <p:spPr>
            <a:xfrm>
              <a:off x="4238625" y="2095499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P1 · 512B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886450" y="2009774"/>
              <a:ext cx="1571625" cy="419100"/>
            </a:xfrm>
            <a:prstGeom prst="rect">
              <a:avLst/>
            </a:prstGeom>
            <a:solidFill>
              <a:srgbClr val="EDF3FA"/>
            </a:solidFill>
            <a:ln w="8890">
              <a:solidFill>
                <a:srgbClr val="DCE2E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2 · 512B"/>
            <p:cNvSpPr txBox="1"/>
            <p:nvPr/>
          </p:nvSpPr>
          <p:spPr>
            <a:xfrm>
              <a:off x="5962650" y="2095499"/>
              <a:ext cx="1419225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ctr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P2 · 512B</a:t>
              </a:r>
            </a:p>
          </p:txBody>
        </p:sp>
        <p:sp>
          <p:nvSpPr>
            <p:cNvPr id="16" name="dp[0] = 0，其余初始不可达"/>
            <p:cNvSpPr txBox="1"/>
            <p:nvPr/>
          </p:nvSpPr>
          <p:spPr>
            <a:xfrm>
              <a:off x="7981949" y="2095499"/>
              <a:ext cx="36004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dp[0] = 0，其余初始不可达</a:t>
              </a:r>
            </a:p>
          </p:txBody>
        </p:sp>
      </p:grpSp>
      <p:sp>
        <p:nvSpPr>
          <p:cNvPr id="17" name="dp[j]：前 j 个片段的最低累计估价"/>
          <p:cNvSpPr txBox="1"/>
          <p:nvPr/>
        </p:nvSpPr>
        <p:spPr>
          <a:xfrm>
            <a:off x="609600" y="2581275"/>
            <a:ext cx="49530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dp[j]：前 j 个片段的最低累计估价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52750"/>
            <a:ext cx="4953000" cy="17907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9" name="步骤2：快速阶段枚举合法分组和路径"/>
          <p:cNvGrpSpPr/>
          <p:nvPr/>
        </p:nvGrpSpPr>
        <p:grpSpPr>
          <a:xfrm>
            <a:off x="781050" y="2581275"/>
            <a:ext cx="10801350" cy="1600200"/>
            <a:chOff x="781050" y="2581275"/>
            <a:chExt cx="10801350" cy="1600200"/>
          </a:xfrm>
        </p:grpSpPr>
        <p:sp>
          <p:nvSpPr>
            <p:cNvPr id="20" name="for (合法的 [i,j), path) {   v = dp[i] + estimate(...);"/>
            <p:cNvSpPr txBox="1"/>
            <p:nvPr/>
          </p:nvSpPr>
          <p:spPr>
            <a:xfrm>
              <a:off x="781050" y="3067050"/>
              <a:ext cx="4686300" cy="619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for (合法的 [i,j), path) {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  v = dp[i] + estimate(...);</a:t>
              </a:r>
            </a:p>
          </p:txBody>
        </p:sp>
        <p:sp>
          <p:nvSpPr>
            <p:cNvPr id="21" name="快速阶段：SSD / 复制并发均估为 3，空池"/>
            <p:cNvSpPr txBox="1"/>
            <p:nvPr/>
          </p:nvSpPr>
          <p:spPr>
            <a:xfrm>
              <a:off x="5924550" y="2581275"/>
              <a:ext cx="56578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快速阶段：SSD / 复制并发均估为 3，空池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924550" y="2952750"/>
              <a:ext cx="5657850" cy="3143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路径"/>
            <p:cNvSpPr txBox="1"/>
            <p:nvPr/>
          </p:nvSpPr>
          <p:spPr>
            <a:xfrm>
              <a:off x="6038850" y="3000375"/>
              <a:ext cx="1685925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路径</a:t>
              </a:r>
            </a:p>
          </p:txBody>
        </p:sp>
        <p:sp>
          <p:nvSpPr>
            <p:cNvPr id="24" name="读μs + 复制μs + 调用费 = E"/>
            <p:cNvSpPr txBox="1"/>
            <p:nvPr/>
          </p:nvSpPr>
          <p:spPr>
            <a:xfrm>
              <a:off x="7848600" y="3000375"/>
              <a:ext cx="3609975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读μs + 复制μs + 调用费 = E</a:t>
              </a:r>
            </a:p>
          </p:txBody>
        </p:sp>
        <p:sp>
          <p:nvSpPr>
            <p:cNvPr id="25" name="DIRECT"/>
            <p:cNvSpPr txBox="1"/>
            <p:nvPr/>
          </p:nvSpPr>
          <p:spPr>
            <a:xfrm>
              <a:off x="6038850" y="3343275"/>
              <a:ext cx="1714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DIRECT</a:t>
              </a:r>
            </a:p>
          </p:txBody>
        </p:sp>
        <p:sp>
          <p:nvSpPr>
            <p:cNvPr id="26" name="3.406 + 0 + 2 = 5.406"/>
            <p:cNvSpPr txBox="1"/>
            <p:nvPr/>
          </p:nvSpPr>
          <p:spPr>
            <a:xfrm>
              <a:off x="7848600" y="3343275"/>
              <a:ext cx="3619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3.406 + 0 + 2 = 5.406</a:t>
              </a:r>
            </a:p>
          </p:txBody>
        </p:sp>
        <p:sp>
          <p:nvSpPr>
            <p:cNvPr id="27" name="AGGREGATE"/>
            <p:cNvSpPr txBox="1"/>
            <p:nvPr/>
          </p:nvSpPr>
          <p:spPr>
            <a:xfrm>
              <a:off x="6038850" y="3629025"/>
              <a:ext cx="1714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AGGREGATE</a:t>
              </a:r>
            </a:p>
          </p:txBody>
        </p:sp>
        <p:sp>
          <p:nvSpPr>
            <p:cNvPr id="28" name="3.406 + 24.414 + 5 = 32.820"/>
            <p:cNvSpPr txBox="1"/>
            <p:nvPr/>
          </p:nvSpPr>
          <p:spPr>
            <a:xfrm>
              <a:off x="7848600" y="3629025"/>
              <a:ext cx="3619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3.406 + 24.414 + 5 = 32.820</a:t>
              </a:r>
            </a:p>
          </p:txBody>
        </p:sp>
        <p:sp>
          <p:nvSpPr>
            <p:cNvPr id="29" name="FALLBACK"/>
            <p:cNvSpPr txBox="1"/>
            <p:nvPr/>
          </p:nvSpPr>
          <p:spPr>
            <a:xfrm>
              <a:off x="6038850" y="3914775"/>
              <a:ext cx="1714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FALLBACK</a:t>
              </a:r>
            </a:p>
          </p:txBody>
        </p:sp>
        <p:sp>
          <p:nvSpPr>
            <p:cNvPr id="30" name="3.406 + 7.153 + 12 = 22.559"/>
            <p:cNvSpPr txBox="1"/>
            <p:nvPr/>
          </p:nvSpPr>
          <p:spPr>
            <a:xfrm>
              <a:off x="7848600" y="3914775"/>
              <a:ext cx="3619500" cy="266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3.406 + 7.153 + 12 = 22.559</a:t>
              </a:r>
            </a:p>
          </p:txBody>
        </p:sp>
      </p:grpSp>
      <p:grpSp>
        <p:nvGrpSpPr>
          <p:cNvPr id="31" name="步骤3：更新累计估价并记录边界和路径"/>
          <p:cNvGrpSpPr/>
          <p:nvPr/>
        </p:nvGrpSpPr>
        <p:grpSpPr>
          <a:xfrm>
            <a:off x="781050" y="3648075"/>
            <a:ext cx="10801350" cy="1152525"/>
            <a:chOff x="781050" y="3648075"/>
            <a:chExt cx="10801350" cy="1152525"/>
          </a:xfrm>
        </p:grpSpPr>
        <p:sp>
          <p:nvSpPr>
            <p:cNvPr id="32" name="  if (v &lt; dp[j]) {     dp[j]=v; prev[j]=i; paths[j]=path;   } }"/>
            <p:cNvSpPr txBox="1"/>
            <p:nvPr/>
          </p:nvSpPr>
          <p:spPr>
            <a:xfrm>
              <a:off x="781050" y="3648075"/>
              <a:ext cx="4686300" cy="10287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if (v &lt; dp[j]) {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  dp[j]=v; prev[j]=i; paths[j]=path;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  }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}</a:t>
              </a:r>
            </a:p>
          </p:txBody>
        </p:sp>
        <p:sp>
          <p:nvSpPr>
            <p:cNvPr id="33" name="dp[1]=3.135；dp[2]=4.271；dp[3]=5.406"/>
            <p:cNvSpPr txBox="1"/>
            <p:nvPr/>
          </p:nvSpPr>
          <p:spPr>
            <a:xfrm>
              <a:off x="5924550" y="4286250"/>
              <a:ext cx="56578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dp[1]=3.135；dp[2]=4.271；dp[3]=5.406</a:t>
              </a:r>
            </a:p>
          </p:txBody>
        </p:sp>
        <p:sp>
          <p:nvSpPr>
            <p:cNvPr id="34" name="快速 DP 输出：[P0,P1,P2] → DIRECT，E=5.406。"/>
            <p:cNvSpPr txBox="1"/>
            <p:nvPr/>
          </p:nvSpPr>
          <p:spPr>
            <a:xfrm>
              <a:off x="5924550" y="4572000"/>
              <a:ext cx="565785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快速 DP 输出：[P0,P1,P2] → DIRECT，E=5.406。</a:t>
              </a:r>
            </a:p>
          </p:txBody>
        </p:sp>
      </p:grpSp>
      <p:grpSp>
        <p:nvGrpSpPr>
          <p:cNvPr id="35" name="步骤4：有条件地按细化 DP"/>
          <p:cNvGrpSpPr/>
          <p:nvPr/>
        </p:nvGrpSpPr>
        <p:grpSpPr>
          <a:xfrm>
            <a:off x="609600" y="4943475"/>
            <a:ext cx="10972800" cy="657225"/>
            <a:chOff x="609600" y="4943475"/>
            <a:chExt cx="10972800" cy="657225"/>
          </a:xfrm>
        </p:grpSpPr>
        <p:sp>
          <p:nvSpPr>
            <p:cNvPr id="36" name="Rectangle 35"/>
            <p:cNvSpPr/>
            <p:nvPr/>
          </p:nvSpPr>
          <p:spPr>
            <a:xfrm>
              <a:off x="609600" y="4943475"/>
              <a:ext cx="10972800" cy="6572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细化 DP：空闲且规模、预算允许时，采样候选组数 cnt、重估并发，检查总槽位与池容量。"/>
            <p:cNvSpPr txBox="1"/>
            <p:nvPr/>
          </p:nvSpPr>
          <p:spPr>
            <a:xfrm>
              <a:off x="781050" y="5029200"/>
              <a:ext cx="106299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 DP：空闲且规模、预算允许时，采样候选组数 cnt、重估并发，检查总槽位与池容量。</a:t>
              </a:r>
            </a:p>
          </p:txBody>
        </p:sp>
        <p:sp>
          <p:nvSpPr>
            <p:cNvPr id="38" name="1/2/3 组的最优 E=5.406/7.406/9.406 → 仍输出 1 组 DIRECT；AGG 重估 32.820 → 81.648。"/>
            <p:cNvSpPr txBox="1"/>
            <p:nvPr/>
          </p:nvSpPr>
          <p:spPr>
            <a:xfrm>
              <a:off x="781050" y="5362575"/>
              <a:ext cx="106299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1/2/3 组的最优 E=5.406/7.406/9.406 → 仍输出 1 组 DIRECT；AGG 重估 32.820 → 81.648。</a:t>
              </a:r>
            </a:p>
          </p:txBody>
        </p:sp>
      </p:grpSp>
      <p:grpSp>
        <p:nvGrpSpPr>
          <p:cNvPr id="39" name="步骤5：回溯输出与官方实际成本"/>
          <p:cNvGrpSpPr/>
          <p:nvPr/>
        </p:nvGrpSpPr>
        <p:grpSpPr>
          <a:xfrm>
            <a:off x="609600" y="5810250"/>
            <a:ext cx="10972800" cy="295275"/>
            <a:chOff x="609600" y="5810250"/>
            <a:chExt cx="10972800" cy="295275"/>
          </a:xfrm>
        </p:grpSpPr>
        <p:sp>
          <p:nvSpPr>
            <p:cNvPr id="40" name="最终：1 组 DIRECT 读 1536B；实际 T=4μs（向上取整），调用费=2，J=1×4+2=6。"/>
            <p:cNvSpPr txBox="1"/>
            <p:nvPr/>
          </p:nvSpPr>
          <p:spPr>
            <a:xfrm>
              <a:off x="609600" y="5810250"/>
              <a:ext cx="10972800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最终：1 组 DIRECT 读 1536B；实际 T=4μs（向上取整），调用费=2，J=1×4+2=6。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本次读取完成后，再决定是否为未来复用付费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本次读取完成后，再决定是否为未来复用付费</a:t>
            </a:r>
          </a:p>
        </p:txBody>
      </p:sp>
      <p:sp>
        <p:nvSpPr>
          <p:cNvPr id="4" name="依次检查四道条件；任一未通过就返回 nullopt，本次读取已成功完成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依次检查四道条件；任一未通过就返回 nullopt，本次读取已成功完成。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满池可以替换；提升完成后才能命中。当前不主动延期，低优先级也可能竞争前台资源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满池可以替换；提升完成后才能命中。当前不主动延期，低优先级也可能竞争前台资源。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：估价、前驱、路径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paths：估价、前驱、路径</a:t>
            </a:r>
          </a:p>
        </p:txBody>
      </p:sp>
      <p:sp>
        <p:nvSpPr>
          <p:cNvPr id="24" name="更优时更新；回溯还原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更优时更新；回溯还原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窗口、采样和预算控制搜索，输入输出开销仍随规模增长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用窗口、采样和预算控制搜索，输入输出开销仍随规模增长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阶段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7241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7241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7241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670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快速区间 DP"/>
          <p:cNvSpPr txBox="1"/>
          <p:nvPr/>
        </p:nvSpPr>
        <p:spPr>
          <a:xfrm>
            <a:off x="742950" y="31813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快速区间 DP</a:t>
            </a:r>
          </a:p>
        </p:txBody>
      </p:sp>
      <p:sp>
        <p:nvSpPr>
          <p:cNvPr id="19" name="O(nW log(W+1))：含所有者集合维护"/>
          <p:cNvSpPr txBox="1"/>
          <p:nvPr/>
        </p:nvSpPr>
        <p:spPr>
          <a:xfrm>
            <a:off x="3009900" y="31813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log(W+1))：含所有者集合维护</a:t>
            </a:r>
          </a:p>
        </p:txBody>
      </p:sp>
      <p:sp>
        <p:nvSpPr>
          <p:cNvPr id="20" name="dp / prev / paths 为 O(n)"/>
          <p:cNvSpPr txBox="1"/>
          <p:nvPr/>
        </p:nvSpPr>
        <p:spPr>
          <a:xfrm>
            <a:off x="7343775" y="31813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5242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细化 DP（固定 cnt）"/>
          <p:cNvSpPr txBox="1"/>
          <p:nvPr/>
        </p:nvSpPr>
        <p:spPr>
          <a:xfrm>
            <a:off x="742950" y="36385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3" name="最坏 O(cnt × n × W)"/>
          <p:cNvSpPr txBox="1"/>
          <p:nvPr/>
        </p:nvSpPr>
        <p:spPr>
          <a:xfrm>
            <a:off x="3009900" y="36385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4" name="状态 O(cnt × n)，合法边 O(nW)"/>
          <p:cNvSpPr txBox="1"/>
          <p:nvPr/>
        </p:nvSpPr>
        <p:spPr>
          <a:xfrm>
            <a:off x="7343775" y="36385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814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映射与输出"/>
          <p:cNvSpPr txBox="1"/>
          <p:nvPr/>
        </p:nvSpPr>
        <p:spPr>
          <a:xfrm>
            <a:off x="742950" y="40957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27" name="约 O(n log Vmax + L)"/>
          <p:cNvSpPr txBox="1"/>
          <p:nvPr/>
        </p:nvSpPr>
        <p:spPr>
          <a:xfrm>
            <a:off x="3009900" y="40957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28" name="O(L)，L 为片段与目标 iov 的交集数"/>
          <p:cNvSpPr txBox="1"/>
          <p:nvPr/>
        </p:nvSpPr>
        <p:spPr>
          <a:xfrm>
            <a:off x="7343775" y="40957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4386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后台同步 / 扫描"/>
          <p:cNvSpPr txBox="1"/>
          <p:nvPr/>
        </p:nvSpPr>
        <p:spPr>
          <a:xfrm>
            <a:off x="742950" y="45529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1" name="O(R log(R+1)+A)，另有状态查表"/>
          <p:cNvSpPr txBox="1"/>
          <p:nvPr/>
        </p:nvSpPr>
        <p:spPr>
          <a:xfrm>
            <a:off x="3009900" y="45529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2" name="临时 O(R)，持久 O(H+U+R)"/>
          <p:cNvSpPr txBox="1"/>
          <p:nvPr/>
        </p:nvSpPr>
        <p:spPr>
          <a:xfrm>
            <a:off x="7343775" y="45529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958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细化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细化搜索：单次至多 131072 个存储状态；每批共享 200 万次边估价 / 转移预算。</a:t>
            </a:r>
          </a:p>
        </p:txBody>
      </p:sp>
      <p:sp>
        <p:nvSpPr>
          <p:cNvPr id="35" name="R / A = 在途提升 / 活动传输数；H / U = 历史记录 / 未完成请求数（历史含更新队列）。 预算不覆盖全部预检查、输入与输出开销；输入索引和未完成请求增长时，总内存仍会增长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预算不覆盖全部预检查、输入与输出开销；输入索引和未完成请求增长时，总内存仍会增长。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调度计算多花多少时间，整个程序占用多少资源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调度计算多花多少时间，整个程序占用多少资源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增加 0.322s，约 +38.7%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增加 0.322s，约 +38.7%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联合规划增加了策略计算开销；程序总耗时更短，并不代表调度计算本身更快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联合规划增加了策略计算开销；程序总耗时更短，并不代表调度计算本身更快。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显著减少提升投入，保留正的缓存净收益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后台：显著减少提升投入，保留正的缓存净收益</a:t>
            </a:r>
          </a:p>
        </p:txBody>
      </p:sp>
      <p:sp>
        <p:nvSpPr>
          <p:cNvPr id="4" name="缓存净收益 ΔJ = 各自关闭 PROMOTE 的 J − 启用时的 J；正值表示收益。39 条分别回放后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缓存净收益 ΔJ = 各自关闭 PROMOTE 的 J − 启用时的 J；正值表示收益。39 条分别回放后求和。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提升 CPU + NPU 调用费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提升 CPU + NPU 调用费</a:t>
            </a:r>
          </a:p>
        </p:txBody>
      </p:sp>
      <p:sp>
        <p:nvSpPr>
          <p:cNvPr id="9" name="官方贪心  722,994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722,994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24,676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24,676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10530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投入减少 96.59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投入减少 96.59%</a:t>
            </a:r>
          </a:p>
        </p:txBody>
      </p:sp>
      <p:sp>
        <p:nvSpPr>
          <p:cNvPr id="14" name="真实命中请求数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真实命中请求数</a:t>
            </a:r>
          </a:p>
        </p:txBody>
      </p:sp>
      <p:sp>
        <p:nvSpPr>
          <p:cNvPr id="15" name="官方贪心  40,831 次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40,831 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8,403 次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8,403 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666481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命中次数减少 79.42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命中次数减少 79.42%</a:t>
            </a:r>
          </a:p>
        </p:txBody>
      </p:sp>
      <p:sp>
        <p:nvSpPr>
          <p:cNvPr id="20" name="缓存净收益 ΔJ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缓存净收益 ΔJ</a:t>
            </a:r>
          </a:p>
        </p:txBody>
      </p:sp>
      <p:sp>
        <p:nvSpPr>
          <p:cNvPr id="21" name="官方贪心  +104,909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+104,909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+70,205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+70,205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2269186" cy="18097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仍有净收益，绝对值更小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仍有净收益，绝对值更小</a:t>
            </a:r>
          </a:p>
        </p:txBody>
      </p:sp>
      <p:sp>
        <p:nvSpPr>
          <p:cNvPr id="26" name="提升次数：8,817 → 301；请求命中率：20.57% → 4.23%；命中字节：19.40 → 8.21 GiB。"/>
          <p:cNvSpPr txBox="1"/>
          <p:nvPr/>
        </p:nvSpPr>
        <p:spPr>
          <a:xfrm>
            <a:off x="609600" y="4476750"/>
            <a:ext cx="109728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1F2937"/>
                </a:solidFill>
                <a:latin typeface="Microsoft YaHei"/>
                <a:ea typeface="Microsoft YaHei"/>
              </a:rPr>
              <a:t>提升次数：8,817 → 301；请求命中率：20.57% → 4.23%；命中字节：19.40 → 8.21 GiB。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933950"/>
            <a:ext cx="10972800" cy="7715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原因：前台读取已更便宜，后台控制额外投入；提升调用费节省 69.83 万，命中调用费节省 6.49 万。 本方案没有追求更多命中，缓存净贡献也低于贪心；整体优势来自联合规划与更少的调用投入。"/>
          <p:cNvSpPr txBox="1"/>
          <p:nvPr/>
        </p:nvSpPr>
        <p:spPr>
          <a:xfrm>
            <a:off x="781050" y="5048250"/>
            <a:ext cx="106299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原因：前台读取已更便宜，后台控制额外投入；提升调用费节省 69.83 万，命中调用费节省 6.49 万。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本方案没有追求更多命中，缓存净贡献也低于贪心；整体优势来自联合规划与更少的调用投入。</a:t>
            </a:r>
          </a:p>
        </p:txBody>
      </p:sp>
      <p:sp>
        <p:nvSpPr>
          <p:cNvPr id="29" name="边界：本方案缓存对照仍有 2 例负收益；扩展集 96/292 例较贪心退化，最大 J 增幅 94.27%。"/>
          <p:cNvSpPr txBox="1"/>
          <p:nvPr/>
        </p:nvSpPr>
        <p:spPr>
          <a:xfrm>
            <a:off x="609600" y="585787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边界：本方案缓存对照仍有 2 例负收益；扩展集 96/292 例较贪心退化，最大 J 增幅 94.27%。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