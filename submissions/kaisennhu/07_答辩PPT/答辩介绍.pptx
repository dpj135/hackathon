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png" Extension="png"/>
  <Default ContentType="image/jpeg" Extension="jpeg"/>
  <Default ContentType="image/jpeg" Extension="jpg"/>
  <Default ContentType="video/mp4" Extension="mp4"/>
  <Override ContentType="application/vnd.openxmlformats-officedocument.presentationml.presentation.main+xml" PartName="/ppt/presentation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theme+xml" PartName="/ppt/theme/them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tableStyles+xml" PartName="/ppt/tableStyle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 xmlns:a="http://schemas.openxmlformats.org/drawingml/2006/main">
    <a:defPPr>
      <a:defRPr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>
      <p:cViewPr varScale="1">
        <p:scale>
          <a:sx n="90" d="100"/>
          <a:sy n="90" d="100"/>
        </p:scale>
        <p:origin x="120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 sz="half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idx="11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hdr="0" ftr="0" sldNum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-228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25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50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75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88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Relationship Id="rId3" Type="http://schemas.openxmlformats.org/officeDocument/2006/relationships/image" Target="../media/Presenton_Native_Image_101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resenton_Native_Image_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Presenton Native Image 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0"/>
            <a:ext cx="914400" cy="6858000"/>
          </a:xfrm>
          <a:prstGeom prst="rect">
            <a:avLst/>
          </a:prstGeom>
        </p:spPr>
      </p:pic>
      <p:pic>
        <p:nvPicPr>
          <p:cNvPr id="122" name="Presenton Native Image 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524000" y="0"/>
            <a:ext cx="914400" cy="6858000"/>
          </a:xfrm>
          <a:prstGeom prst="rect">
            <a:avLst/>
          </a:prstGeom>
        </p:spPr>
      </p:pic>
      <p:pic>
        <p:nvPicPr>
          <p:cNvPr id="123" name="Presenton Native Image 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2438400" y="0"/>
            <a:ext cx="914400" cy="6858000"/>
          </a:xfrm>
          <a:prstGeom prst="rect">
            <a:avLst/>
          </a:prstGeom>
        </p:spPr>
      </p:pic>
      <p:pic>
        <p:nvPicPr>
          <p:cNvPr id="124" name="Presenton Native Image 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3352800" y="0"/>
            <a:ext cx="914400" cy="6858000"/>
          </a:xfrm>
          <a:prstGeom prst="rect">
            <a:avLst/>
          </a:prstGeom>
        </p:spPr>
      </p:pic>
      <p:pic>
        <p:nvPicPr>
          <p:cNvPr id="125" name="Presenton Native Image 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267200" y="0"/>
            <a:ext cx="914400" cy="6858000"/>
          </a:xfrm>
          <a:prstGeom prst="rect">
            <a:avLst/>
          </a:prstGeom>
        </p:spPr>
      </p:pic>
      <p:pic>
        <p:nvPicPr>
          <p:cNvPr id="126" name="Presenton Native Image 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181600" y="0"/>
            <a:ext cx="914400" cy="6858000"/>
          </a:xfrm>
          <a:prstGeom prst="rect">
            <a:avLst/>
          </a:prstGeom>
        </p:spPr>
      </p:pic>
      <p:pic>
        <p:nvPicPr>
          <p:cNvPr id="127" name="Presenton Native Image 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0" y="0"/>
            <a:ext cx="914400" cy="6858000"/>
          </a:xfrm>
          <a:prstGeom prst="rect">
            <a:avLst/>
          </a:prstGeom>
        </p:spPr>
      </p:pic>
      <p:pic>
        <p:nvPicPr>
          <p:cNvPr id="128" name="Presenton Native Image 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010400" y="0"/>
            <a:ext cx="914400" cy="6858000"/>
          </a:xfrm>
          <a:prstGeom prst="rect">
            <a:avLst/>
          </a:prstGeom>
        </p:spPr>
      </p:pic>
      <p:pic>
        <p:nvPicPr>
          <p:cNvPr id="129" name="Presenton Native Image 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924800" y="0"/>
            <a:ext cx="914400" cy="6858000"/>
          </a:xfrm>
          <a:prstGeom prst="rect">
            <a:avLst/>
          </a:prstGeom>
        </p:spPr>
      </p:pic>
      <p:pic>
        <p:nvPicPr>
          <p:cNvPr id="130" name="Presenton Native Image 1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8839200" y="0"/>
            <a:ext cx="914400" cy="6858000"/>
          </a:xfrm>
          <a:prstGeom prst="rect">
            <a:avLst/>
          </a:prstGeom>
        </p:spPr>
      </p:pic>
      <p:pic>
        <p:nvPicPr>
          <p:cNvPr id="131" name="Presenton Native Image 1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9753600" y="0"/>
            <a:ext cx="914400" cy="6858000"/>
          </a:xfrm>
          <a:prstGeom prst="rect">
            <a:avLst/>
          </a:prstGeom>
        </p:spPr>
      </p:pic>
      <p:pic>
        <p:nvPicPr>
          <p:cNvPr id="132" name="Presenton Native Image 1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0668000" y="0"/>
            <a:ext cx="914400" cy="6858000"/>
          </a:xfrm>
          <a:prstGeom prst="rect">
            <a:avLst/>
          </a:prstGeom>
        </p:spPr>
      </p:pic>
      <p:sp>
        <p:nvSpPr>
          <p:cNvPr id="373" name="Shape 373"/>
          <p:cNvSpPr/>
          <p:nvPr/>
        </p:nvSpPr>
        <p:spPr>
          <a:xfrm>
            <a:off x="9323784" y="4248150"/>
            <a:ext cx="2430066" cy="22860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0"/>
              </a:lnSpc>
              <a:buNone/>
            </a:pPr>
            <a:r>
              <a:rPr sz="18000" b="1" i="0">
                <a:solidFill>
                  <a:srgbClr val="111111"/>
                </a:solidFill>
                <a:latin typeface="Inter Tight"/>
                <a:ea typeface="Inter Tight"/>
              </a:rPr>
              <a:t>01</a:t>
            </a:r>
            <a:endParaRPr lang="en-US"/>
          </a:p>
        </p:txBody>
      </p:sp>
      <p:sp>
        <p:nvSpPr>
          <p:cNvPr id="374" name="Shape 374"/>
          <p:cNvSpPr/>
          <p:nvPr/>
        </p:nvSpPr>
        <p:spPr>
          <a:xfrm>
            <a:off x="609600" y="314325"/>
            <a:ext cx="10991850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 spc="225">
                <a:solidFill>
                  <a:srgbClr val="E1251B"/>
                </a:solidFill>
                <a:latin typeface="Inter Tight"/>
                <a:ea typeface="Inter Tight"/>
              </a:rPr>
              <a:t>NDS / 7 分钟方案答辩</a:t>
            </a:r>
            <a:endParaRPr lang="en-US"/>
          </a:p>
        </p:txBody>
      </p:sp>
      <p:sp>
        <p:nvSpPr>
          <p:cNvPr id="375" name="Shape 375"/>
          <p:cNvSpPr/>
          <p:nvPr/>
        </p:nvSpPr>
        <p:spPr>
          <a:xfrm>
            <a:off x="609600" y="638175"/>
            <a:ext cx="10991850" cy="4953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900"/>
              </a:lnSpc>
              <a:buNone/>
            </a:pPr>
            <a:r>
              <a:rPr sz="3000" b="1" i="0">
                <a:solidFill>
                  <a:srgbClr val="111111"/>
                </a:solidFill>
                <a:latin typeface="Inter Tight"/>
                <a:ea typeface="Inter Tight"/>
              </a:rPr>
              <a:t>围绕完整 Trace 成本，联合决定分组、路径与缓存</a:t>
            </a:r>
            <a:endParaRPr lang="en-US"/>
          </a:p>
        </p:txBody>
      </p:sp>
      <p:sp>
        <p:nvSpPr>
          <p:cNvPr id="376" name="Shape 376"/>
          <p:cNvSpPr/>
          <p:nvPr/>
        </p:nvSpPr>
        <p:spPr>
          <a:xfrm>
            <a:off x="609600" y="1228725"/>
            <a:ext cx="10991850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111111"/>
                </a:solidFill>
                <a:latin typeface="Inter Tight"/>
                <a:ea typeface="Inter Tight"/>
              </a:rPr>
              <a:t>KaisennHu · 区间动态规划 + 复用感知缓存 · C++17 在线策略</a:t>
            </a:r>
            <a:endParaRPr lang="en-US"/>
          </a:p>
        </p:txBody>
      </p:sp>
      <p:sp>
        <p:nvSpPr>
          <p:cNvPr id="377" name="Shape 377"/>
          <p:cNvSpPr/>
          <p:nvPr/>
        </p:nvSpPr>
        <p:spPr>
          <a:xfrm>
            <a:off x="609600" y="1809750"/>
            <a:ext cx="10991850" cy="795338"/>
          </a:xfrm>
          <a:prstGeom prst="rect">
            <a:avLst/>
          </a:prstGeom>
          <a:solidFill>
            <a:srgbClr val="111111"/>
          </a:solidFill>
        </p:spPr>
        <p:txBody>
          <a:bodyPr anchor="t" wrap="square" tIns="190500" bIns="190500" lIns="247650" rIns="24765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0" i="0">
                <a:solidFill>
                  <a:srgbClr val="F4F2EE"/>
                </a:solidFill>
                <a:latin typeface="Inter Tight"/>
                <a:ea typeface="Inter Tight"/>
              </a:rPr>
              <a:t>J = c_t × T + C_CPU + C_NPU</a:t>
            </a:r>
            <a:endParaRPr lang="en-US"/>
          </a:p>
        </p:txBody>
      </p:sp>
      <p:sp>
        <p:nvSpPr>
          <p:cNvPr id="378" name="Presenton Outline Shape 1"/>
          <p:cNvSpPr/>
          <p:nvPr/>
        </p:nvSpPr>
        <p:spPr>
          <a:xfrm>
            <a:off x="609600" y="2852738"/>
            <a:ext cx="5372100" cy="2273350"/>
          </a:xfrm>
          <a:prstGeom prst="rect">
            <a:avLst/>
          </a:prstGeom>
          <a:noFill/>
          <a:ln w="9525">
            <a:solidFill>
              <a:srgbClr val="101010">
                <a:alpha val="25000"/>
              </a:srgbClr>
            </a:solidFill>
          </a:ln>
        </p:spPr>
        <p:txBody>
          <a:bodyPr/>
          <a:lstStyle/>
          <a:p/>
        </p:txBody>
      </p:sp>
      <p:sp>
        <p:nvSpPr>
          <p:cNvPr id="379" name="Shape 379"/>
          <p:cNvSpPr/>
          <p:nvPr/>
        </p:nvSpPr>
        <p:spPr>
          <a:xfrm>
            <a:off x="857250" y="3100388"/>
            <a:ext cx="4895850" cy="38576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038"/>
              </a:lnSpc>
              <a:buNone/>
            </a:pPr>
            <a:r>
              <a:rPr sz="2025" b="1" i="0">
                <a:solidFill>
                  <a:srgbClr val="111111"/>
                </a:solidFill>
                <a:latin typeface="Inter Tight"/>
                <a:ea typeface="Inter Tight"/>
              </a:rPr>
              <a:t>前台：这次怎样搬</a:t>
            </a:r>
            <a:endParaRPr lang="en-US"/>
          </a:p>
        </p:txBody>
      </p:sp>
      <p:sp>
        <p:nvSpPr>
          <p:cNvPr id="380" name="Shape 380"/>
          <p:cNvSpPr/>
          <p:nvPr/>
        </p:nvSpPr>
        <p:spPr>
          <a:xfrm>
            <a:off x="857250" y="3629025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DIRECT：SSD → 目标 HBM</a:t>
            </a:r>
            <a:endParaRPr lang="en-US"/>
          </a:p>
        </p:txBody>
      </p:sp>
      <p:sp>
        <p:nvSpPr>
          <p:cNvPr id="381" name="Shape 381"/>
          <p:cNvSpPr/>
          <p:nvPr/>
        </p:nvSpPr>
        <p:spPr>
          <a:xfrm>
            <a:off x="857250" y="4093815"/>
            <a:ext cx="4895850" cy="33516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640"/>
              </a:lnSpc>
              <a:buNone/>
            </a:pPr>
            <a:r>
              <a:rPr sz="1650" b="0" i="0">
                <a:solidFill>
                  <a:srgbClr val="111111"/>
                </a:solidFill>
                <a:latin typeface="Inter Tight"/>
                <a:ea typeface="Inter Tight"/>
              </a:rPr>
              <a:t>AGGREGATE：SSD → 临时 HBM → 目标</a:t>
            </a:r>
            <a:endParaRPr lang="en-US"/>
          </a:p>
        </p:txBody>
      </p:sp>
      <p:sp>
        <p:nvSpPr>
          <p:cNvPr id="382" name="Shape 382"/>
          <p:cNvSpPr/>
          <p:nvPr/>
        </p:nvSpPr>
        <p:spPr>
          <a:xfrm>
            <a:off x="857250" y="4543276"/>
            <a:ext cx="4895850" cy="33516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640"/>
              </a:lnSpc>
              <a:buNone/>
            </a:pPr>
            <a:r>
              <a:rPr sz="1650" b="0" i="0">
                <a:solidFill>
                  <a:srgbClr val="111111"/>
                </a:solidFill>
                <a:latin typeface="Inter Tight"/>
                <a:ea typeface="Inter Tight"/>
              </a:rPr>
              <a:t>FALLBACK：SSD → DDR → 目标 HBM</a:t>
            </a:r>
            <a:endParaRPr lang="en-US"/>
          </a:p>
        </p:txBody>
      </p:sp>
      <p:sp>
        <p:nvSpPr>
          <p:cNvPr id="383" name="Presenton Outline Shape 2"/>
          <p:cNvSpPr/>
          <p:nvPr/>
        </p:nvSpPr>
        <p:spPr>
          <a:xfrm>
            <a:off x="6210300" y="2852738"/>
            <a:ext cx="5372100" cy="2273350"/>
          </a:xfrm>
          <a:prstGeom prst="rect">
            <a:avLst/>
          </a:prstGeom>
          <a:noFill/>
          <a:ln w="9525">
            <a:solidFill>
              <a:srgbClr val="101010">
                <a:alpha val="25000"/>
              </a:srgbClr>
            </a:solidFill>
          </a:ln>
        </p:spPr>
        <p:txBody>
          <a:bodyPr/>
          <a:lstStyle/>
          <a:p/>
        </p:txBody>
      </p:sp>
      <p:sp>
        <p:nvSpPr>
          <p:cNvPr id="384" name="Shape 384"/>
          <p:cNvSpPr/>
          <p:nvPr/>
        </p:nvSpPr>
        <p:spPr>
          <a:xfrm>
            <a:off x="6457950" y="3100388"/>
            <a:ext cx="4895850" cy="38576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038"/>
              </a:lnSpc>
              <a:buNone/>
            </a:pPr>
            <a:r>
              <a:rPr sz="2025" b="1" i="0">
                <a:solidFill>
                  <a:srgbClr val="111111"/>
                </a:solidFill>
                <a:latin typeface="Inter Tight"/>
                <a:ea typeface="Inter Tight"/>
              </a:rPr>
              <a:t>后台：下次是否值得缓存</a:t>
            </a:r>
            <a:endParaRPr lang="en-US"/>
          </a:p>
        </p:txBody>
      </p:sp>
      <p:sp>
        <p:nvSpPr>
          <p:cNvPr id="385" name="Shape 385"/>
          <p:cNvSpPr/>
          <p:nvPr/>
        </p:nvSpPr>
        <p:spPr>
          <a:xfrm>
            <a:off x="6457950" y="3629025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请求完成后，可选择 PROMOTE 到 KV 池。</a:t>
            </a:r>
            <a:endParaRPr lang="en-US"/>
          </a:p>
        </p:txBody>
      </p:sp>
      <p:sp>
        <p:nvSpPr>
          <p:cNvPr id="386" name="Shape 386"/>
          <p:cNvSpPr/>
          <p:nvPr/>
        </p:nvSpPr>
        <p:spPr>
          <a:xfrm>
            <a:off x="6457950" y="4150965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提升先付费，命中仍需复制；缓存不保证更省。</a:t>
            </a:r>
            <a:endParaRPr lang="en-US"/>
          </a:p>
        </p:txBody>
      </p:sp>
      <p:sp>
        <p:nvSpPr>
          <p:cNvPr id="387" name="Shape 387"/>
          <p:cNvSpPr/>
          <p:nvPr/>
        </p:nvSpPr>
        <p:spPr>
          <a:xfrm>
            <a:off x="609600" y="5354687"/>
            <a:ext cx="10991850" cy="33516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640"/>
              </a:lnSpc>
              <a:buNone/>
            </a:pPr>
            <a:r>
              <a:rPr sz="1650" b="0" i="0">
                <a:solidFill>
                  <a:srgbClr val="111111"/>
                </a:solidFill>
                <a:latin typeface="Inter Tight"/>
                <a:ea typeface="Inter Tight"/>
              </a:rPr>
              <a:t>我们控制分组、路径、依赖与缓存准入；实际排队、带宽共享和命中由 engine 执行。</a:t>
            </a:r>
            <a:endParaRPr lang="en-US"/>
          </a:p>
        </p:txBody>
      </p:sp>
      <p:sp>
        <p:nvSpPr>
          <p:cNvPr id="388" name="Shape 388"/>
          <p:cNvSpPr/>
          <p:nvPr/>
        </p:nvSpPr>
        <p:spPr>
          <a:xfrm>
            <a:off x="609600" y="6062663"/>
            <a:ext cx="10991850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11111"/>
                </a:solidFill>
                <a:latin typeface="Inter Tight"/>
                <a:ea typeface="Inter Tight"/>
              </a:rPr>
              <a:t>c_t：每微秒成本；T：完整 Trace 历时，含尾部提升；C_CPU / C_NPU：累计调用费。策略内部不调用模拟器。</a:t>
            </a:r>
            <a:endParaRPr lang="en-US"/>
          </a:p>
        </p:txBody>
      </p:sp>
      <p:sp>
        <p:nvSpPr>
          <p:cNvPr id="389" name="Shape 389"/>
          <p:cNvSpPr/>
          <p:nvPr/>
        </p:nvSpPr>
        <p:spPr>
          <a:xfrm>
            <a:off x="0" y="6438900"/>
            <a:ext cx="12192000" cy="419100"/>
          </a:xfrm>
          <a:prstGeom prst="rect">
            <a:avLst/>
          </a:prstGeom>
          <a:solidFill>
            <a:srgbClr val="111111"/>
          </a:solidFill>
        </p:spPr>
        <p:txBody>
          <a:bodyPr/>
          <a:lstStyle/>
          <a:p/>
        </p:txBody>
      </p:sp>
      <p:sp>
        <p:nvSpPr>
          <p:cNvPr id="390" name="Shape 390"/>
          <p:cNvSpPr/>
          <p:nvPr/>
        </p:nvSpPr>
        <p:spPr>
          <a:xfrm>
            <a:off x="609600" y="6548438"/>
            <a:ext cx="1887289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NDS 多路径 IO 调度 / KaisennHu</a:t>
            </a:r>
            <a:endParaRPr lang="en-US"/>
          </a:p>
        </p:txBody>
      </p:sp>
      <p:sp>
        <p:nvSpPr>
          <p:cNvPr id="391" name="Shape 391"/>
          <p:cNvSpPr/>
          <p:nvPr/>
        </p:nvSpPr>
        <p:spPr>
          <a:xfrm>
            <a:off x="11201102" y="6548438"/>
            <a:ext cx="400348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01 / 09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Presenton Native Image 1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0"/>
            <a:ext cx="914400" cy="6858000"/>
          </a:xfrm>
          <a:prstGeom prst="rect">
            <a:avLst/>
          </a:prstGeom>
        </p:spPr>
      </p:pic>
      <p:pic>
        <p:nvPicPr>
          <p:cNvPr id="134" name="Presenton Native Image 1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524000" y="0"/>
            <a:ext cx="914400" cy="6858000"/>
          </a:xfrm>
          <a:prstGeom prst="rect">
            <a:avLst/>
          </a:prstGeom>
        </p:spPr>
      </p:pic>
      <p:pic>
        <p:nvPicPr>
          <p:cNvPr id="135" name="Presenton Native Image 1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2438400" y="0"/>
            <a:ext cx="914400" cy="6858000"/>
          </a:xfrm>
          <a:prstGeom prst="rect">
            <a:avLst/>
          </a:prstGeom>
        </p:spPr>
      </p:pic>
      <p:pic>
        <p:nvPicPr>
          <p:cNvPr id="136" name="Presenton Native Image 1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3352800" y="0"/>
            <a:ext cx="914400" cy="6858000"/>
          </a:xfrm>
          <a:prstGeom prst="rect">
            <a:avLst/>
          </a:prstGeom>
        </p:spPr>
      </p:pic>
      <p:pic>
        <p:nvPicPr>
          <p:cNvPr id="137" name="Presenton Native Image 1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267200" y="0"/>
            <a:ext cx="914400" cy="6858000"/>
          </a:xfrm>
          <a:prstGeom prst="rect">
            <a:avLst/>
          </a:prstGeom>
        </p:spPr>
      </p:pic>
      <p:pic>
        <p:nvPicPr>
          <p:cNvPr id="138" name="Presenton Native Image 1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181600" y="0"/>
            <a:ext cx="914400" cy="6858000"/>
          </a:xfrm>
          <a:prstGeom prst="rect">
            <a:avLst/>
          </a:prstGeom>
        </p:spPr>
      </p:pic>
      <p:pic>
        <p:nvPicPr>
          <p:cNvPr id="139" name="Presenton Native Image 1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0" y="0"/>
            <a:ext cx="914400" cy="6858000"/>
          </a:xfrm>
          <a:prstGeom prst="rect">
            <a:avLst/>
          </a:prstGeom>
        </p:spPr>
      </p:pic>
      <p:pic>
        <p:nvPicPr>
          <p:cNvPr id="140" name="Presenton Native Image 2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010400" y="0"/>
            <a:ext cx="914400" cy="6858000"/>
          </a:xfrm>
          <a:prstGeom prst="rect">
            <a:avLst/>
          </a:prstGeom>
        </p:spPr>
      </p:pic>
      <p:pic>
        <p:nvPicPr>
          <p:cNvPr id="141" name="Presenton Native Image 2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924800" y="0"/>
            <a:ext cx="914400" cy="6858000"/>
          </a:xfrm>
          <a:prstGeom prst="rect">
            <a:avLst/>
          </a:prstGeom>
        </p:spPr>
      </p:pic>
      <p:pic>
        <p:nvPicPr>
          <p:cNvPr id="142" name="Presenton Native Image 2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8839200" y="0"/>
            <a:ext cx="914400" cy="6858000"/>
          </a:xfrm>
          <a:prstGeom prst="rect">
            <a:avLst/>
          </a:prstGeom>
        </p:spPr>
      </p:pic>
      <p:pic>
        <p:nvPicPr>
          <p:cNvPr id="143" name="Presenton Native Image 2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9753600" y="0"/>
            <a:ext cx="914400" cy="6858000"/>
          </a:xfrm>
          <a:prstGeom prst="rect">
            <a:avLst/>
          </a:prstGeom>
        </p:spPr>
      </p:pic>
      <p:pic>
        <p:nvPicPr>
          <p:cNvPr id="144" name="Presenton Native Image 2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0668000" y="0"/>
            <a:ext cx="914400" cy="6858000"/>
          </a:xfrm>
          <a:prstGeom prst="rect">
            <a:avLst/>
          </a:prstGeom>
        </p:spPr>
      </p:pic>
      <p:sp>
        <p:nvSpPr>
          <p:cNvPr id="392" name="Shape 392"/>
          <p:cNvSpPr/>
          <p:nvPr/>
        </p:nvSpPr>
        <p:spPr>
          <a:xfrm>
            <a:off x="8871645" y="4248150"/>
            <a:ext cx="2882205" cy="22860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0"/>
              </a:lnSpc>
              <a:buNone/>
            </a:pPr>
            <a:r>
              <a:rPr sz="18000" b="1" i="0">
                <a:solidFill>
                  <a:srgbClr val="111111"/>
                </a:solidFill>
                <a:latin typeface="Inter Tight"/>
                <a:ea typeface="Inter Tight"/>
              </a:rPr>
              <a:t>02</a:t>
            </a:r>
            <a:endParaRPr lang="en-US"/>
          </a:p>
        </p:txBody>
      </p:sp>
      <p:sp>
        <p:nvSpPr>
          <p:cNvPr id="393" name="Shape 393"/>
          <p:cNvSpPr/>
          <p:nvPr/>
        </p:nvSpPr>
        <p:spPr>
          <a:xfrm>
            <a:off x="609600" y="314325"/>
            <a:ext cx="10991850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 spc="225">
                <a:solidFill>
                  <a:srgbClr val="E1251B"/>
                </a:solidFill>
                <a:latin typeface="Inter Tight"/>
                <a:ea typeface="Inter Tight"/>
              </a:rPr>
              <a:t>01 / 关键观察 → 设计理由</a:t>
            </a:r>
            <a:endParaRPr lang="en-US"/>
          </a:p>
        </p:txBody>
      </p:sp>
      <p:sp>
        <p:nvSpPr>
          <p:cNvPr id="394" name="Shape 394"/>
          <p:cNvSpPr/>
          <p:nvPr/>
        </p:nvSpPr>
        <p:spPr>
          <a:xfrm>
            <a:off x="609600" y="638175"/>
            <a:ext cx="10991850" cy="4953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900"/>
              </a:lnSpc>
              <a:buNone/>
            </a:pPr>
            <a:r>
              <a:rPr sz="3000" b="1" i="0">
                <a:solidFill>
                  <a:srgbClr val="111111"/>
                </a:solidFill>
                <a:latin typeface="Inter Tight"/>
                <a:ea typeface="Inter Tight"/>
              </a:rPr>
              <a:t>三个观察，把优化从“固定规则”变成“联合决策”</a:t>
            </a:r>
            <a:endParaRPr lang="en-US"/>
          </a:p>
        </p:txBody>
      </p:sp>
      <p:sp>
        <p:nvSpPr>
          <p:cNvPr id="395" name="Shape 395"/>
          <p:cNvSpPr/>
          <p:nvPr/>
        </p:nvSpPr>
        <p:spPr>
          <a:xfrm>
            <a:off x="609600" y="1228725"/>
            <a:ext cx="10991850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111111"/>
                </a:solidFill>
                <a:latin typeface="Inter Tight"/>
                <a:ea typeface="Inter Tight"/>
              </a:rPr>
              <a:t>这些观察来自公开 engine 规则与可复现案例，构成本方案相对贪心的设计依据。</a:t>
            </a:r>
            <a:endParaRPr lang="en-US"/>
          </a:p>
        </p:txBody>
      </p:sp>
      <p:pic>
        <p:nvPicPr>
          <p:cNvPr id="145" name="Presenton Native Image 25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1809750"/>
            <a:ext cx="10972800" cy="3251895"/>
          </a:xfrm>
          <a:prstGeom prst="rect">
            <a:avLst/>
          </a:prstGeom>
        </p:spPr>
      </p:pic>
      <p:sp>
        <p:nvSpPr>
          <p:cNvPr id="396" name="Shape 396"/>
          <p:cNvSpPr/>
          <p:nvPr/>
        </p:nvSpPr>
        <p:spPr>
          <a:xfrm>
            <a:off x="609600" y="5318820"/>
            <a:ext cx="10991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可复现反例：三个相邻 512B 合并后 J：10 → 6；三个目标不对齐的 4KiB 合并后 J：48 → 98。</a:t>
            </a:r>
            <a:endParaRPr lang="en-US"/>
          </a:p>
        </p:txBody>
      </p:sp>
      <p:sp>
        <p:nvSpPr>
          <p:cNvPr id="397" name="Shape 397"/>
          <p:cNvSpPr/>
          <p:nvPr/>
        </p:nvSpPr>
        <p:spPr>
          <a:xfrm>
            <a:off x="609600" y="6062663"/>
            <a:ext cx="10991850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11111"/>
                </a:solidFill>
                <a:latin typeface="Inter Tight"/>
                <a:ea typeface="Inter Tight"/>
              </a:rPr>
              <a:t>两组教学输入的结果由官方回放得到，不参与策略内部决策；不宣称全局最优或学术首创。</a:t>
            </a:r>
            <a:endParaRPr lang="en-US"/>
          </a:p>
        </p:txBody>
      </p:sp>
      <p:sp>
        <p:nvSpPr>
          <p:cNvPr id="398" name="Shape 398"/>
          <p:cNvSpPr/>
          <p:nvPr/>
        </p:nvSpPr>
        <p:spPr>
          <a:xfrm>
            <a:off x="0" y="6438900"/>
            <a:ext cx="12192000" cy="419100"/>
          </a:xfrm>
          <a:prstGeom prst="rect">
            <a:avLst/>
          </a:prstGeom>
          <a:solidFill>
            <a:srgbClr val="111111"/>
          </a:solidFill>
        </p:spPr>
        <p:txBody>
          <a:bodyPr/>
          <a:lstStyle/>
          <a:p/>
        </p:txBody>
      </p:sp>
      <p:sp>
        <p:nvSpPr>
          <p:cNvPr id="399" name="Shape 399"/>
          <p:cNvSpPr/>
          <p:nvPr/>
        </p:nvSpPr>
        <p:spPr>
          <a:xfrm>
            <a:off x="609600" y="6548438"/>
            <a:ext cx="1887289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NDS 多路径 IO 调度 / KaisennHu</a:t>
            </a:r>
            <a:endParaRPr lang="en-US"/>
          </a:p>
        </p:txBody>
      </p:sp>
      <p:sp>
        <p:nvSpPr>
          <p:cNvPr id="400" name="Shape 400"/>
          <p:cNvSpPr/>
          <p:nvPr/>
        </p:nvSpPr>
        <p:spPr>
          <a:xfrm>
            <a:off x="11174016" y="6548438"/>
            <a:ext cx="427434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02 / 09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Presenton Native Image 2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0"/>
            <a:ext cx="914400" cy="6858000"/>
          </a:xfrm>
          <a:prstGeom prst="rect">
            <a:avLst/>
          </a:prstGeom>
        </p:spPr>
      </p:pic>
      <p:pic>
        <p:nvPicPr>
          <p:cNvPr id="147" name="Presenton Native Image 2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524000" y="0"/>
            <a:ext cx="914400" cy="6858000"/>
          </a:xfrm>
          <a:prstGeom prst="rect">
            <a:avLst/>
          </a:prstGeom>
        </p:spPr>
      </p:pic>
      <p:pic>
        <p:nvPicPr>
          <p:cNvPr id="148" name="Presenton Native Image 2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2438400" y="0"/>
            <a:ext cx="914400" cy="6858000"/>
          </a:xfrm>
          <a:prstGeom prst="rect">
            <a:avLst/>
          </a:prstGeom>
        </p:spPr>
      </p:pic>
      <p:pic>
        <p:nvPicPr>
          <p:cNvPr id="149" name="Presenton Native Image 2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3352800" y="0"/>
            <a:ext cx="914400" cy="6858000"/>
          </a:xfrm>
          <a:prstGeom prst="rect">
            <a:avLst/>
          </a:prstGeom>
        </p:spPr>
      </p:pic>
      <p:pic>
        <p:nvPicPr>
          <p:cNvPr id="150" name="Presenton Native Image 3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267200" y="0"/>
            <a:ext cx="914400" cy="6858000"/>
          </a:xfrm>
          <a:prstGeom prst="rect">
            <a:avLst/>
          </a:prstGeom>
        </p:spPr>
      </p:pic>
      <p:pic>
        <p:nvPicPr>
          <p:cNvPr id="151" name="Presenton Native Image 3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181600" y="0"/>
            <a:ext cx="914400" cy="6858000"/>
          </a:xfrm>
          <a:prstGeom prst="rect">
            <a:avLst/>
          </a:prstGeom>
        </p:spPr>
      </p:pic>
      <p:pic>
        <p:nvPicPr>
          <p:cNvPr id="152" name="Presenton Native Image 3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0" y="0"/>
            <a:ext cx="914400" cy="6858000"/>
          </a:xfrm>
          <a:prstGeom prst="rect">
            <a:avLst/>
          </a:prstGeom>
        </p:spPr>
      </p:pic>
      <p:pic>
        <p:nvPicPr>
          <p:cNvPr id="153" name="Presenton Native Image 3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010400" y="0"/>
            <a:ext cx="914400" cy="6858000"/>
          </a:xfrm>
          <a:prstGeom prst="rect">
            <a:avLst/>
          </a:prstGeom>
        </p:spPr>
      </p:pic>
      <p:pic>
        <p:nvPicPr>
          <p:cNvPr id="154" name="Presenton Native Image 3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924800" y="0"/>
            <a:ext cx="914400" cy="6858000"/>
          </a:xfrm>
          <a:prstGeom prst="rect">
            <a:avLst/>
          </a:prstGeom>
        </p:spPr>
      </p:pic>
      <p:pic>
        <p:nvPicPr>
          <p:cNvPr id="155" name="Presenton Native Image 3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8839200" y="0"/>
            <a:ext cx="914400" cy="6858000"/>
          </a:xfrm>
          <a:prstGeom prst="rect">
            <a:avLst/>
          </a:prstGeom>
        </p:spPr>
      </p:pic>
      <p:pic>
        <p:nvPicPr>
          <p:cNvPr id="156" name="Presenton Native Image 3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9753600" y="0"/>
            <a:ext cx="914400" cy="6858000"/>
          </a:xfrm>
          <a:prstGeom prst="rect">
            <a:avLst/>
          </a:prstGeom>
        </p:spPr>
      </p:pic>
      <p:pic>
        <p:nvPicPr>
          <p:cNvPr id="157" name="Presenton Native Image 3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0668000" y="0"/>
            <a:ext cx="914400" cy="6858000"/>
          </a:xfrm>
          <a:prstGeom prst="rect">
            <a:avLst/>
          </a:prstGeom>
        </p:spPr>
      </p:pic>
      <p:sp>
        <p:nvSpPr>
          <p:cNvPr id="401" name="Shape 401"/>
          <p:cNvSpPr/>
          <p:nvPr/>
        </p:nvSpPr>
        <p:spPr>
          <a:xfrm>
            <a:off x="8803630" y="4248150"/>
            <a:ext cx="2950220" cy="22860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0"/>
              </a:lnSpc>
              <a:buNone/>
            </a:pPr>
            <a:r>
              <a:rPr sz="18000" b="1" i="0">
                <a:solidFill>
                  <a:srgbClr val="111111"/>
                </a:solidFill>
                <a:latin typeface="Inter Tight"/>
                <a:ea typeface="Inter Tight"/>
              </a:rPr>
              <a:t>03</a:t>
            </a:r>
            <a:endParaRPr lang="en-US"/>
          </a:p>
        </p:txBody>
      </p:sp>
      <p:sp>
        <p:nvSpPr>
          <p:cNvPr id="402" name="Shape 402"/>
          <p:cNvSpPr/>
          <p:nvPr/>
        </p:nvSpPr>
        <p:spPr>
          <a:xfrm>
            <a:off x="609600" y="314325"/>
            <a:ext cx="10991850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 spc="225">
                <a:solidFill>
                  <a:srgbClr val="E1251B"/>
                </a:solidFill>
                <a:latin typeface="Inter Tight"/>
                <a:ea typeface="Inter Tight"/>
              </a:rPr>
              <a:t>02 / 总体流程</a:t>
            </a:r>
            <a:endParaRPr lang="en-US"/>
          </a:p>
        </p:txBody>
      </p:sp>
      <p:sp>
        <p:nvSpPr>
          <p:cNvPr id="403" name="Shape 403"/>
          <p:cNvSpPr/>
          <p:nvPr/>
        </p:nvSpPr>
        <p:spPr>
          <a:xfrm>
            <a:off x="609600" y="638175"/>
            <a:ext cx="10991850" cy="4953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900"/>
              </a:lnSpc>
              <a:buNone/>
            </a:pPr>
            <a:r>
              <a:rPr sz="3000" b="1" i="0">
                <a:solidFill>
                  <a:srgbClr val="111111"/>
                </a:solidFill>
                <a:latin typeface="Inter Tight"/>
                <a:ea typeface="Inter Tight"/>
              </a:rPr>
              <a:t>两个回调：先完成当前读取，再决定是否投资未来</a:t>
            </a:r>
            <a:endParaRPr lang="en-US"/>
          </a:p>
        </p:txBody>
      </p:sp>
      <p:sp>
        <p:nvSpPr>
          <p:cNvPr id="404" name="Shape 404"/>
          <p:cNvSpPr/>
          <p:nvPr/>
        </p:nvSpPr>
        <p:spPr>
          <a:xfrm>
            <a:off x="609600" y="1228725"/>
            <a:ext cx="10991850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111111"/>
                </a:solidFill>
                <a:latin typeface="Inter Tight"/>
                <a:ea typeface="Inter Tight"/>
              </a:rPr>
              <a:t>on_submit 只接收未命中请求；on_iocb_complete 处理完成通知。</a:t>
            </a:r>
            <a:endParaRPr lang="en-US"/>
          </a:p>
        </p:txBody>
      </p:sp>
      <p:sp>
        <p:nvSpPr>
          <p:cNvPr id="405" name="Presenton Outline Shape 3"/>
          <p:cNvSpPr/>
          <p:nvPr/>
        </p:nvSpPr>
        <p:spPr>
          <a:xfrm>
            <a:off x="609600" y="1809750"/>
            <a:ext cx="5372100" cy="3347889"/>
          </a:xfrm>
          <a:prstGeom prst="rect">
            <a:avLst/>
          </a:prstGeom>
          <a:noFill/>
          <a:ln w="9525">
            <a:solidFill>
              <a:srgbClr val="101010">
                <a:alpha val="25000"/>
              </a:srgbClr>
            </a:solidFill>
          </a:ln>
        </p:spPr>
        <p:txBody>
          <a:bodyPr/>
          <a:lstStyle/>
          <a:p/>
        </p:txBody>
      </p:sp>
      <p:sp>
        <p:nvSpPr>
          <p:cNvPr id="406" name="Shape 406"/>
          <p:cNvSpPr/>
          <p:nvPr/>
        </p:nvSpPr>
        <p:spPr>
          <a:xfrm>
            <a:off x="857250" y="2057400"/>
            <a:ext cx="4895850" cy="38576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038"/>
              </a:lnSpc>
              <a:buNone/>
            </a:pPr>
            <a:r>
              <a:rPr sz="2025" b="1" i="0">
                <a:solidFill>
                  <a:srgbClr val="111111"/>
                </a:solidFill>
                <a:latin typeface="Inter Tight"/>
                <a:ea typeface="Inter Tight"/>
              </a:rPr>
              <a:t>前台：请求到达</a:t>
            </a:r>
            <a:endParaRPr lang="en-US"/>
          </a:p>
        </p:txBody>
      </p:sp>
      <p:sp>
        <p:nvSpPr>
          <p:cNvPr id="407" name="Shape 407"/>
          <p:cNvSpPr/>
          <p:nvPr/>
        </p:nvSpPr>
        <p:spPr>
          <a:xfrm>
            <a:off x="857250" y="2586038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1. iov 索引 → 定位每个字节的目标。</a:t>
            </a:r>
            <a:endParaRPr lang="en-US"/>
          </a:p>
        </p:txBody>
      </p:sp>
      <p:sp>
        <p:nvSpPr>
          <p:cNvPr id="408" name="Shape 408"/>
          <p:cNvSpPr/>
          <p:nvPr/>
        </p:nvSpPr>
        <p:spPr>
          <a:xfrm>
            <a:off x="857250" y="3079403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2. 合法分块 → 形成可规划片段。</a:t>
            </a:r>
            <a:endParaRPr lang="en-US"/>
          </a:p>
        </p:txBody>
      </p:sp>
      <p:sp>
        <p:nvSpPr>
          <p:cNvPr id="409" name="Shape 409"/>
          <p:cNvSpPr/>
          <p:nvPr/>
        </p:nvSpPr>
        <p:spPr>
          <a:xfrm>
            <a:off x="857250" y="3572768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3. 区间 DP → 联合选分组与路径。</a:t>
            </a:r>
            <a:endParaRPr lang="en-US"/>
          </a:p>
        </p:txBody>
      </p:sp>
      <p:sp>
        <p:nvSpPr>
          <p:cNvPr id="410" name="Shape 410"/>
          <p:cNvSpPr/>
          <p:nvPr/>
        </p:nvSpPr>
        <p:spPr>
          <a:xfrm>
            <a:off x="857250" y="4066133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4. 条件允许时 → 计数 DP 比较组数。</a:t>
            </a:r>
            <a:endParaRPr lang="en-US"/>
          </a:p>
        </p:txBody>
      </p:sp>
      <p:sp>
        <p:nvSpPr>
          <p:cNvPr id="411" name="Shape 411"/>
          <p:cNvSpPr/>
          <p:nvPr/>
        </p:nvSpPr>
        <p:spPr>
          <a:xfrm>
            <a:off x="857250" y="4559498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5. 提交传输依赖 → 保存本次成本 Work。</a:t>
            </a:r>
            <a:endParaRPr lang="en-US"/>
          </a:p>
        </p:txBody>
      </p:sp>
      <p:sp>
        <p:nvSpPr>
          <p:cNvPr id="412" name="Presenton Outline Shape 4"/>
          <p:cNvSpPr/>
          <p:nvPr/>
        </p:nvSpPr>
        <p:spPr>
          <a:xfrm>
            <a:off x="6210300" y="1809750"/>
            <a:ext cx="5372100" cy="3347889"/>
          </a:xfrm>
          <a:prstGeom prst="rect">
            <a:avLst/>
          </a:prstGeom>
          <a:noFill/>
          <a:ln w="9525">
            <a:solidFill>
              <a:srgbClr val="101010">
                <a:alpha val="25000"/>
              </a:srgbClr>
            </a:solidFill>
          </a:ln>
        </p:spPr>
        <p:txBody>
          <a:bodyPr/>
          <a:lstStyle/>
          <a:p/>
        </p:txBody>
      </p:sp>
      <p:sp>
        <p:nvSpPr>
          <p:cNvPr id="413" name="Shape 413"/>
          <p:cNvSpPr/>
          <p:nvPr/>
        </p:nvSpPr>
        <p:spPr>
          <a:xfrm>
            <a:off x="6457950" y="2057400"/>
            <a:ext cx="4895850" cy="38576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038"/>
              </a:lnSpc>
              <a:buNone/>
            </a:pPr>
            <a:r>
              <a:rPr sz="2025" b="1" i="0">
                <a:solidFill>
                  <a:srgbClr val="111111"/>
                </a:solidFill>
                <a:latin typeface="Inter Tight"/>
                <a:ea typeface="Inter Tight"/>
              </a:rPr>
              <a:t>后台：请求完成</a:t>
            </a:r>
            <a:endParaRPr lang="en-US"/>
          </a:p>
        </p:txBody>
      </p:sp>
      <p:sp>
        <p:nvSpPr>
          <p:cNvPr id="414" name="Shape 414"/>
          <p:cNvSpPr/>
          <p:nvPr/>
        </p:nvSpPr>
        <p:spPr>
          <a:xfrm>
            <a:off x="6457950" y="2586038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1. 区分命中与前台完成。</a:t>
            </a:r>
            <a:endParaRPr lang="en-US"/>
          </a:p>
        </p:txBody>
      </p:sp>
      <p:sp>
        <p:nvSpPr>
          <p:cNvPr id="415" name="Shape 415"/>
          <p:cNvSpPr/>
          <p:nvPr/>
        </p:nvSpPr>
        <p:spPr>
          <a:xfrm>
            <a:off x="6457950" y="3079403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2. 检查复用、新鲜度与重复提升。</a:t>
            </a:r>
            <a:endParaRPr lang="en-US"/>
          </a:p>
        </p:txBody>
      </p:sp>
      <p:sp>
        <p:nvSpPr>
          <p:cNvPr id="416" name="Shape 416"/>
          <p:cNvSpPr/>
          <p:nvPr/>
        </p:nvSpPr>
        <p:spPr>
          <a:xfrm>
            <a:off x="6457950" y="3572768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3. 比较来源、净收益和投入预算。</a:t>
            </a:r>
            <a:endParaRPr lang="en-US"/>
          </a:p>
        </p:txBody>
      </p:sp>
      <p:sp>
        <p:nvSpPr>
          <p:cNvPr id="417" name="Shape 417"/>
          <p:cNvSpPr/>
          <p:nvPr/>
        </p:nvSpPr>
        <p:spPr>
          <a:xfrm>
            <a:off x="6457950" y="4066133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4. 返回一条 PROMOTE，或不提升。</a:t>
            </a:r>
            <a:endParaRPr lang="en-US"/>
          </a:p>
        </p:txBody>
      </p:sp>
      <p:sp>
        <p:nvSpPr>
          <p:cNvPr id="418" name="Shape 418"/>
          <p:cNvSpPr/>
          <p:nvPr/>
        </p:nvSpPr>
        <p:spPr>
          <a:xfrm>
            <a:off x="609600" y="5376714"/>
            <a:ext cx="10991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engine 执行计划并触发下一轮回调；validator 在程序外独立回放。</a:t>
            </a:r>
            <a:endParaRPr lang="en-US"/>
          </a:p>
        </p:txBody>
      </p:sp>
      <p:sp>
        <p:nvSpPr>
          <p:cNvPr id="419" name="Shape 419"/>
          <p:cNvSpPr/>
          <p:nvPr/>
        </p:nvSpPr>
        <p:spPr>
          <a:xfrm>
            <a:off x="609600" y="6062663"/>
            <a:ext cx="10991850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11111"/>
                </a:solidFill>
                <a:latin typeface="Inter Tight"/>
                <a:ea typeface="Inter Tight"/>
              </a:rPr>
              <a:t>只使用已到达请求、公开状态和费用/性能表；没有内部 Trace 试算或按测试名称选策略。</a:t>
            </a:r>
            <a:endParaRPr lang="en-US"/>
          </a:p>
        </p:txBody>
      </p:sp>
      <p:sp>
        <p:nvSpPr>
          <p:cNvPr id="420" name="Shape 420"/>
          <p:cNvSpPr/>
          <p:nvPr/>
        </p:nvSpPr>
        <p:spPr>
          <a:xfrm>
            <a:off x="0" y="6438900"/>
            <a:ext cx="12192000" cy="419100"/>
          </a:xfrm>
          <a:prstGeom prst="rect">
            <a:avLst/>
          </a:prstGeom>
          <a:solidFill>
            <a:srgbClr val="111111"/>
          </a:solidFill>
        </p:spPr>
        <p:txBody>
          <a:bodyPr/>
          <a:lstStyle/>
          <a:p/>
        </p:txBody>
      </p:sp>
      <p:sp>
        <p:nvSpPr>
          <p:cNvPr id="421" name="Shape 421"/>
          <p:cNvSpPr/>
          <p:nvPr/>
        </p:nvSpPr>
        <p:spPr>
          <a:xfrm>
            <a:off x="609600" y="6548438"/>
            <a:ext cx="1887289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NDS 多路径 IO 调度 / KaisennHu</a:t>
            </a:r>
            <a:endParaRPr lang="en-US"/>
          </a:p>
        </p:txBody>
      </p:sp>
      <p:sp>
        <p:nvSpPr>
          <p:cNvPr id="422" name="Shape 422"/>
          <p:cNvSpPr/>
          <p:nvPr/>
        </p:nvSpPr>
        <p:spPr>
          <a:xfrm>
            <a:off x="11169848" y="6548438"/>
            <a:ext cx="431602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03 / 09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Presenton Native Image 3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0"/>
            <a:ext cx="914400" cy="6858000"/>
          </a:xfrm>
          <a:prstGeom prst="rect">
            <a:avLst/>
          </a:prstGeom>
        </p:spPr>
      </p:pic>
      <p:pic>
        <p:nvPicPr>
          <p:cNvPr id="159" name="Presenton Native Image 3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524000" y="0"/>
            <a:ext cx="914400" cy="6858000"/>
          </a:xfrm>
          <a:prstGeom prst="rect">
            <a:avLst/>
          </a:prstGeom>
        </p:spPr>
      </p:pic>
      <p:pic>
        <p:nvPicPr>
          <p:cNvPr id="160" name="Presenton Native Image 4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2438400" y="0"/>
            <a:ext cx="914400" cy="6858000"/>
          </a:xfrm>
          <a:prstGeom prst="rect">
            <a:avLst/>
          </a:prstGeom>
        </p:spPr>
      </p:pic>
      <p:pic>
        <p:nvPicPr>
          <p:cNvPr id="161" name="Presenton Native Image 4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3352800" y="0"/>
            <a:ext cx="914400" cy="6858000"/>
          </a:xfrm>
          <a:prstGeom prst="rect">
            <a:avLst/>
          </a:prstGeom>
        </p:spPr>
      </p:pic>
      <p:pic>
        <p:nvPicPr>
          <p:cNvPr id="162" name="Presenton Native Image 4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267200" y="0"/>
            <a:ext cx="914400" cy="6858000"/>
          </a:xfrm>
          <a:prstGeom prst="rect">
            <a:avLst/>
          </a:prstGeom>
        </p:spPr>
      </p:pic>
      <p:pic>
        <p:nvPicPr>
          <p:cNvPr id="163" name="Presenton Native Image 4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181600" y="0"/>
            <a:ext cx="914400" cy="6858000"/>
          </a:xfrm>
          <a:prstGeom prst="rect">
            <a:avLst/>
          </a:prstGeom>
        </p:spPr>
      </p:pic>
      <p:pic>
        <p:nvPicPr>
          <p:cNvPr id="164" name="Presenton Native Image 4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0" y="0"/>
            <a:ext cx="914400" cy="6858000"/>
          </a:xfrm>
          <a:prstGeom prst="rect">
            <a:avLst/>
          </a:prstGeom>
        </p:spPr>
      </p:pic>
      <p:pic>
        <p:nvPicPr>
          <p:cNvPr id="165" name="Presenton Native Image 4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010400" y="0"/>
            <a:ext cx="914400" cy="6858000"/>
          </a:xfrm>
          <a:prstGeom prst="rect">
            <a:avLst/>
          </a:prstGeom>
        </p:spPr>
      </p:pic>
      <p:pic>
        <p:nvPicPr>
          <p:cNvPr id="166" name="Presenton Native Image 4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924800" y="0"/>
            <a:ext cx="914400" cy="6858000"/>
          </a:xfrm>
          <a:prstGeom prst="rect">
            <a:avLst/>
          </a:prstGeom>
        </p:spPr>
      </p:pic>
      <p:pic>
        <p:nvPicPr>
          <p:cNvPr id="167" name="Presenton Native Image 4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8839200" y="0"/>
            <a:ext cx="914400" cy="6858000"/>
          </a:xfrm>
          <a:prstGeom prst="rect">
            <a:avLst/>
          </a:prstGeom>
        </p:spPr>
      </p:pic>
      <p:pic>
        <p:nvPicPr>
          <p:cNvPr id="168" name="Presenton Native Image 4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9753600" y="0"/>
            <a:ext cx="914400" cy="6858000"/>
          </a:xfrm>
          <a:prstGeom prst="rect">
            <a:avLst/>
          </a:prstGeom>
        </p:spPr>
      </p:pic>
      <p:pic>
        <p:nvPicPr>
          <p:cNvPr id="169" name="Presenton Native Image 4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0668000" y="0"/>
            <a:ext cx="914400" cy="6858000"/>
          </a:xfrm>
          <a:prstGeom prst="rect">
            <a:avLst/>
          </a:prstGeom>
        </p:spPr>
      </p:pic>
      <p:sp>
        <p:nvSpPr>
          <p:cNvPr id="423" name="Shape 423"/>
          <p:cNvSpPr/>
          <p:nvPr/>
        </p:nvSpPr>
        <p:spPr>
          <a:xfrm>
            <a:off x="8762256" y="4248150"/>
            <a:ext cx="2991594" cy="22860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0"/>
              </a:lnSpc>
              <a:buNone/>
            </a:pPr>
            <a:r>
              <a:rPr sz="18000" b="1" i="0">
                <a:solidFill>
                  <a:srgbClr val="111111"/>
                </a:solidFill>
                <a:latin typeface="Inter Tight"/>
                <a:ea typeface="Inter Tight"/>
              </a:rPr>
              <a:t>04</a:t>
            </a:r>
            <a:endParaRPr lang="en-US"/>
          </a:p>
        </p:txBody>
      </p:sp>
      <p:sp>
        <p:nvSpPr>
          <p:cNvPr id="424" name="Shape 424"/>
          <p:cNvSpPr/>
          <p:nvPr/>
        </p:nvSpPr>
        <p:spPr>
          <a:xfrm>
            <a:off x="609600" y="314325"/>
            <a:ext cx="10991850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 spc="225">
                <a:solidFill>
                  <a:srgbClr val="E1251B"/>
                </a:solidFill>
                <a:latin typeface="Inter Tight"/>
                <a:ea typeface="Inter Tight"/>
              </a:rPr>
              <a:t>03 / 前台第一步：整理与分块</a:t>
            </a:r>
            <a:endParaRPr lang="en-US"/>
          </a:p>
        </p:txBody>
      </p:sp>
      <p:sp>
        <p:nvSpPr>
          <p:cNvPr id="425" name="Shape 425"/>
          <p:cNvSpPr/>
          <p:nvPr/>
        </p:nvSpPr>
        <p:spPr>
          <a:xfrm>
            <a:off x="609600" y="638175"/>
            <a:ext cx="10991850" cy="4953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900"/>
              </a:lnSpc>
              <a:buNone/>
            </a:pPr>
            <a:r>
              <a:rPr sz="3000" b="1" i="0">
                <a:solidFill>
                  <a:srgbClr val="111111"/>
                </a:solidFill>
                <a:latin typeface="Inter Tight"/>
                <a:ea typeface="Inter Tight"/>
              </a:rPr>
              <a:t>先保证每一段都能合法搬运，再交给 DP 组合</a:t>
            </a:r>
            <a:endParaRPr lang="en-US"/>
          </a:p>
        </p:txBody>
      </p:sp>
      <p:sp>
        <p:nvSpPr>
          <p:cNvPr id="426" name="Shape 426"/>
          <p:cNvSpPr/>
          <p:nvPr/>
        </p:nvSpPr>
        <p:spPr>
          <a:xfrm>
            <a:off x="609600" y="1228725"/>
            <a:ext cx="10991850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111111"/>
                </a:solidFill>
                <a:latin typeface="Inter Tight"/>
                <a:ea typeface="Inter Tight"/>
              </a:rPr>
              <a:t>示例：SSD 从 100B 起读 3MiB，目标基址对齐；HBM 与 DDR 临时池均为 1MiB。</a:t>
            </a:r>
            <a:endParaRPr lang="en-US"/>
          </a:p>
        </p:txBody>
      </p:sp>
      <p:pic>
        <p:nvPicPr>
          <p:cNvPr id="170" name="Presenton Native Image 50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1809750"/>
            <a:ext cx="10972800" cy="2299097"/>
          </a:xfrm>
          <a:prstGeom prst="rect">
            <a:avLst/>
          </a:prstGeom>
        </p:spPr>
      </p:pic>
      <p:sp>
        <p:nvSpPr>
          <p:cNvPr id="427" name="Shape 427"/>
          <p:cNvSpPr/>
          <p:nvPr/>
        </p:nvSpPr>
        <p:spPr>
          <a:xfrm>
            <a:off x="609600" y="4366022"/>
            <a:ext cx="10991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IovIndex 保存目标累计偏移，二分定位目标；Piece 保存请求内偏移与长度，分块可跨多个 iov。</a:t>
            </a:r>
            <a:endParaRPr lang="en-US"/>
          </a:p>
        </p:txBody>
      </p:sp>
      <p:sp>
        <p:nvSpPr>
          <p:cNvPr id="428" name="Shape 428"/>
          <p:cNvSpPr/>
          <p:nvPr/>
        </p:nvSpPr>
        <p:spPr>
          <a:xfrm>
            <a:off x="609600" y="4878437"/>
            <a:ext cx="10991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四段仍覆盖原始 3MiB；物理补读不写入目标。当前计划选择 A / F / F / A，J = 500。</a:t>
            </a:r>
            <a:endParaRPr lang="en-US"/>
          </a:p>
        </p:txBody>
      </p:sp>
      <p:sp>
        <p:nvSpPr>
          <p:cNvPr id="429" name="Shape 429"/>
          <p:cNvSpPr/>
          <p:nvPr/>
        </p:nvSpPr>
        <p:spPr>
          <a:xfrm>
            <a:off x="609600" y="6062663"/>
            <a:ext cx="10991850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11111"/>
                </a:solidFill>
                <a:latin typeface="Inter Tight"/>
                <a:ea typeface="Inter Tight"/>
              </a:rPr>
              <a:t>A：AGGREGATE；F：FALLBACK。SSD 物理命令须 512B 对齐；2MiB 块上限是策略启发式，不是题目限制。</a:t>
            </a:r>
            <a:endParaRPr lang="en-US"/>
          </a:p>
        </p:txBody>
      </p:sp>
      <p:sp>
        <p:nvSpPr>
          <p:cNvPr id="430" name="Shape 430"/>
          <p:cNvSpPr/>
          <p:nvPr/>
        </p:nvSpPr>
        <p:spPr>
          <a:xfrm>
            <a:off x="0" y="6438900"/>
            <a:ext cx="12192000" cy="419100"/>
          </a:xfrm>
          <a:prstGeom prst="rect">
            <a:avLst/>
          </a:prstGeom>
          <a:solidFill>
            <a:srgbClr val="111111"/>
          </a:solidFill>
        </p:spPr>
        <p:txBody>
          <a:bodyPr/>
          <a:lstStyle/>
          <a:p/>
        </p:txBody>
      </p:sp>
      <p:sp>
        <p:nvSpPr>
          <p:cNvPr id="431" name="Shape 431"/>
          <p:cNvSpPr/>
          <p:nvPr/>
        </p:nvSpPr>
        <p:spPr>
          <a:xfrm>
            <a:off x="609600" y="6548438"/>
            <a:ext cx="1887289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NDS 多路径 IO 调度 / KaisennHu</a:t>
            </a:r>
            <a:endParaRPr lang="en-US"/>
          </a:p>
        </p:txBody>
      </p:sp>
      <p:sp>
        <p:nvSpPr>
          <p:cNvPr id="432" name="Shape 432"/>
          <p:cNvSpPr/>
          <p:nvPr/>
        </p:nvSpPr>
        <p:spPr>
          <a:xfrm>
            <a:off x="11169253" y="6548438"/>
            <a:ext cx="432197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04 / 09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Presenton Native Image 5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0"/>
            <a:ext cx="914400" cy="6858000"/>
          </a:xfrm>
          <a:prstGeom prst="rect">
            <a:avLst/>
          </a:prstGeom>
        </p:spPr>
      </p:pic>
      <p:pic>
        <p:nvPicPr>
          <p:cNvPr id="172" name="Presenton Native Image 5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524000" y="0"/>
            <a:ext cx="914400" cy="6858000"/>
          </a:xfrm>
          <a:prstGeom prst="rect">
            <a:avLst/>
          </a:prstGeom>
        </p:spPr>
      </p:pic>
      <p:pic>
        <p:nvPicPr>
          <p:cNvPr id="173" name="Presenton Native Image 5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2438400" y="0"/>
            <a:ext cx="914400" cy="6858000"/>
          </a:xfrm>
          <a:prstGeom prst="rect">
            <a:avLst/>
          </a:prstGeom>
        </p:spPr>
      </p:pic>
      <p:pic>
        <p:nvPicPr>
          <p:cNvPr id="174" name="Presenton Native Image 5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3352800" y="0"/>
            <a:ext cx="914400" cy="6858000"/>
          </a:xfrm>
          <a:prstGeom prst="rect">
            <a:avLst/>
          </a:prstGeom>
        </p:spPr>
      </p:pic>
      <p:pic>
        <p:nvPicPr>
          <p:cNvPr id="175" name="Presenton Native Image 5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267200" y="0"/>
            <a:ext cx="914400" cy="6858000"/>
          </a:xfrm>
          <a:prstGeom prst="rect">
            <a:avLst/>
          </a:prstGeom>
        </p:spPr>
      </p:pic>
      <p:pic>
        <p:nvPicPr>
          <p:cNvPr id="176" name="Presenton Native Image 5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181600" y="0"/>
            <a:ext cx="914400" cy="6858000"/>
          </a:xfrm>
          <a:prstGeom prst="rect">
            <a:avLst/>
          </a:prstGeom>
        </p:spPr>
      </p:pic>
      <p:pic>
        <p:nvPicPr>
          <p:cNvPr id="177" name="Presenton Native Image 5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0" y="0"/>
            <a:ext cx="914400" cy="6858000"/>
          </a:xfrm>
          <a:prstGeom prst="rect">
            <a:avLst/>
          </a:prstGeom>
        </p:spPr>
      </p:pic>
      <p:pic>
        <p:nvPicPr>
          <p:cNvPr id="178" name="Presenton Native Image 5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010400" y="0"/>
            <a:ext cx="914400" cy="6858000"/>
          </a:xfrm>
          <a:prstGeom prst="rect">
            <a:avLst/>
          </a:prstGeom>
        </p:spPr>
      </p:pic>
      <p:pic>
        <p:nvPicPr>
          <p:cNvPr id="179" name="Presenton Native Image 5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924800" y="0"/>
            <a:ext cx="914400" cy="6858000"/>
          </a:xfrm>
          <a:prstGeom prst="rect">
            <a:avLst/>
          </a:prstGeom>
        </p:spPr>
      </p:pic>
      <p:pic>
        <p:nvPicPr>
          <p:cNvPr id="180" name="Presenton Native Image 6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8839200" y="0"/>
            <a:ext cx="914400" cy="6858000"/>
          </a:xfrm>
          <a:prstGeom prst="rect">
            <a:avLst/>
          </a:prstGeom>
        </p:spPr>
      </p:pic>
      <p:pic>
        <p:nvPicPr>
          <p:cNvPr id="181" name="Presenton Native Image 6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9753600" y="0"/>
            <a:ext cx="914400" cy="6858000"/>
          </a:xfrm>
          <a:prstGeom prst="rect">
            <a:avLst/>
          </a:prstGeom>
        </p:spPr>
      </p:pic>
      <p:pic>
        <p:nvPicPr>
          <p:cNvPr id="182" name="Presenton Native Image 6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0668000" y="0"/>
            <a:ext cx="914400" cy="6858000"/>
          </a:xfrm>
          <a:prstGeom prst="rect">
            <a:avLst/>
          </a:prstGeom>
        </p:spPr>
      </p:pic>
      <p:sp>
        <p:nvSpPr>
          <p:cNvPr id="433" name="Shape 433"/>
          <p:cNvSpPr/>
          <p:nvPr/>
        </p:nvSpPr>
        <p:spPr>
          <a:xfrm>
            <a:off x="8833693" y="4248150"/>
            <a:ext cx="2920157" cy="22860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0"/>
              </a:lnSpc>
              <a:buNone/>
            </a:pPr>
            <a:r>
              <a:rPr sz="18000" b="1" i="0">
                <a:solidFill>
                  <a:srgbClr val="111111"/>
                </a:solidFill>
                <a:latin typeface="Inter Tight"/>
                <a:ea typeface="Inter Tight"/>
              </a:rPr>
              <a:t>05</a:t>
            </a:r>
            <a:endParaRPr lang="en-US"/>
          </a:p>
        </p:txBody>
      </p:sp>
      <p:sp>
        <p:nvSpPr>
          <p:cNvPr id="434" name="Shape 434"/>
          <p:cNvSpPr/>
          <p:nvPr/>
        </p:nvSpPr>
        <p:spPr>
          <a:xfrm>
            <a:off x="609600" y="314325"/>
            <a:ext cx="10991850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 spc="225">
                <a:solidFill>
                  <a:srgbClr val="E1251B"/>
                </a:solidFill>
                <a:latin typeface="Inter Tight"/>
                <a:ea typeface="Inter Tight"/>
              </a:rPr>
              <a:t>04 / 前台核心：联合优化分组与路径</a:t>
            </a:r>
            <a:endParaRPr lang="en-US"/>
          </a:p>
        </p:txBody>
      </p:sp>
      <p:sp>
        <p:nvSpPr>
          <p:cNvPr id="435" name="Shape 435"/>
          <p:cNvSpPr/>
          <p:nvPr/>
        </p:nvSpPr>
        <p:spPr>
          <a:xfrm>
            <a:off x="609600" y="638175"/>
            <a:ext cx="10991850" cy="4953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900"/>
              </a:lnSpc>
              <a:buNone/>
            </a:pPr>
            <a:r>
              <a:rPr sz="3000" b="1" i="0">
                <a:solidFill>
                  <a:srgbClr val="111111"/>
                </a:solidFill>
                <a:latin typeface="Inter Tight"/>
                <a:ea typeface="Inter Tight"/>
              </a:rPr>
              <a:t>区间 DP 负责组合，计数 DP 修正并发估价</a:t>
            </a:r>
            <a:endParaRPr lang="en-US"/>
          </a:p>
        </p:txBody>
      </p:sp>
      <p:sp>
        <p:nvSpPr>
          <p:cNvPr id="436" name="Shape 436"/>
          <p:cNvSpPr/>
          <p:nvPr/>
        </p:nvSpPr>
        <p:spPr>
          <a:xfrm>
            <a:off x="609600" y="1228725"/>
            <a:ext cx="10991850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111111"/>
                </a:solidFill>
                <a:latin typeface="Inter Tight"/>
                <a:ea typeface="Inter Tight"/>
              </a:rPr>
              <a:t>dp[j] 表示前 j 个片段的最低累计估价；i 是最后一组的起点。</a:t>
            </a:r>
            <a:endParaRPr lang="en-US"/>
          </a:p>
        </p:txBody>
      </p:sp>
      <p:sp>
        <p:nvSpPr>
          <p:cNvPr id="437" name="Shape 437"/>
          <p:cNvSpPr/>
          <p:nvPr/>
        </p:nvSpPr>
        <p:spPr>
          <a:xfrm>
            <a:off x="609600" y="1809750"/>
            <a:ext cx="10991850" cy="795338"/>
          </a:xfrm>
          <a:prstGeom prst="rect">
            <a:avLst/>
          </a:prstGeom>
          <a:solidFill>
            <a:srgbClr val="111111"/>
          </a:solidFill>
        </p:spPr>
        <p:txBody>
          <a:bodyPr anchor="t" wrap="square" tIns="190500" bIns="190500" lIns="247650" rIns="24765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0" i="0">
                <a:solidFill>
                  <a:srgbClr val="F4F2EE"/>
                </a:solidFill>
                <a:latin typeface="Inter Tight"/>
                <a:ea typeface="Inter Tight"/>
              </a:rPr>
              <a:t>dp[j] = min { dp[i] + E([i, j), 路径) }</a:t>
            </a:r>
            <a:endParaRPr lang="en-US"/>
          </a:p>
        </p:txBody>
      </p:sp>
      <p:sp>
        <p:nvSpPr>
          <p:cNvPr id="438" name="Shape 438"/>
          <p:cNvSpPr/>
          <p:nvPr/>
        </p:nvSpPr>
        <p:spPr>
          <a:xfrm>
            <a:off x="609600" y="2805113"/>
            <a:ext cx="10991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E = c_t ×（SSD 工作时间 + 复制工作时间）× 池拥挤惩罚 + 调用费</a:t>
            </a:r>
            <a:endParaRPr lang="en-US"/>
          </a:p>
        </p:txBody>
      </p:sp>
      <p:sp>
        <p:nvSpPr>
          <p:cNvPr id="439" name="Presenton Outline Shape 5"/>
          <p:cNvSpPr/>
          <p:nvPr/>
        </p:nvSpPr>
        <p:spPr>
          <a:xfrm>
            <a:off x="609600" y="3374678"/>
            <a:ext cx="5372100" cy="2497931"/>
          </a:xfrm>
          <a:prstGeom prst="rect">
            <a:avLst/>
          </a:prstGeom>
          <a:noFill/>
          <a:ln w="9525">
            <a:solidFill>
              <a:srgbClr val="101010">
                <a:alpha val="25000"/>
              </a:srgbClr>
            </a:solidFill>
          </a:ln>
        </p:spPr>
        <p:txBody>
          <a:bodyPr/>
          <a:lstStyle/>
          <a:p/>
        </p:txBody>
      </p:sp>
      <p:sp>
        <p:nvSpPr>
          <p:cNvPr id="440" name="Shape 440"/>
          <p:cNvSpPr/>
          <p:nvPr/>
        </p:nvSpPr>
        <p:spPr>
          <a:xfrm>
            <a:off x="857250" y="3622328"/>
            <a:ext cx="4895850" cy="38576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038"/>
              </a:lnSpc>
              <a:buNone/>
            </a:pPr>
            <a:r>
              <a:rPr sz="2025" b="1" i="0">
                <a:solidFill>
                  <a:srgbClr val="111111"/>
                </a:solidFill>
                <a:latin typeface="Inter Tight"/>
                <a:ea typeface="Inter Tight"/>
              </a:rPr>
              <a:t>先保证合法，再比较估价</a:t>
            </a:r>
            <a:endParaRPr lang="en-US"/>
          </a:p>
        </p:txBody>
      </p:sp>
      <p:sp>
        <p:nvSpPr>
          <p:cNvPr id="441" name="Shape 441"/>
          <p:cNvSpPr/>
          <p:nvPr/>
        </p:nvSpPr>
        <p:spPr>
          <a:xfrm>
            <a:off x="857250" y="4150965"/>
            <a:ext cx="4895850" cy="33516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640"/>
              </a:lnSpc>
              <a:buNone/>
            </a:pPr>
            <a:r>
              <a:rPr sz="1650" b="0" i="0">
                <a:solidFill>
                  <a:srgbClr val="111111"/>
                </a:solidFill>
                <a:latin typeface="Inter Tight"/>
                <a:ea typeface="Inter Tight"/>
              </a:rPr>
              <a:t>按同卡、SSD 可连接、对齐、池容量与槽位过滤。</a:t>
            </a:r>
            <a:endParaRPr lang="en-US"/>
          </a:p>
        </p:txBody>
      </p:sp>
      <p:sp>
        <p:nvSpPr>
          <p:cNvPr id="442" name="Shape 442"/>
          <p:cNvSpPr/>
          <p:nvPr/>
        </p:nvSpPr>
        <p:spPr>
          <a:xfrm>
            <a:off x="857250" y="4619476"/>
            <a:ext cx="4895850" cy="33516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640"/>
              </a:lnSpc>
              <a:buNone/>
            </a:pPr>
            <a:r>
              <a:rPr sz="1650" b="0" i="0">
                <a:solidFill>
                  <a:srgbClr val="111111"/>
                </a:solidFill>
                <a:latin typeface="Inter Tight"/>
                <a:ea typeface="Inter Tight"/>
              </a:rPr>
              <a:t>DIRECT 少复制；A/F 使用不同的缓冲与复制资源。</a:t>
            </a:r>
            <a:endParaRPr lang="en-US"/>
          </a:p>
        </p:txBody>
      </p:sp>
      <p:sp>
        <p:nvSpPr>
          <p:cNvPr id="443" name="Presenton Outline Shape 6"/>
          <p:cNvSpPr/>
          <p:nvPr/>
        </p:nvSpPr>
        <p:spPr>
          <a:xfrm>
            <a:off x="6210300" y="3374678"/>
            <a:ext cx="5372100" cy="2497931"/>
          </a:xfrm>
          <a:prstGeom prst="rect">
            <a:avLst/>
          </a:prstGeom>
          <a:noFill/>
          <a:ln w="9525">
            <a:solidFill>
              <a:srgbClr val="101010">
                <a:alpha val="25000"/>
              </a:srgbClr>
            </a:solidFill>
          </a:ln>
        </p:spPr>
        <p:txBody>
          <a:bodyPr/>
          <a:lstStyle/>
          <a:p/>
        </p:txBody>
      </p:sp>
      <p:sp>
        <p:nvSpPr>
          <p:cNvPr id="444" name="Shape 444"/>
          <p:cNvSpPr/>
          <p:nvPr/>
        </p:nvSpPr>
        <p:spPr>
          <a:xfrm>
            <a:off x="6457950" y="3622328"/>
            <a:ext cx="4895850" cy="38576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038"/>
              </a:lnSpc>
              <a:buNone/>
            </a:pPr>
            <a:r>
              <a:rPr sz="2025" b="1" i="0">
                <a:solidFill>
                  <a:srgbClr val="111111"/>
                </a:solidFill>
                <a:latin typeface="Inter Tight"/>
                <a:ea typeface="Inter Tight"/>
              </a:rPr>
              <a:t>空闲且预算允许，再搜索 cnt</a:t>
            </a:r>
            <a:endParaRPr lang="en-US"/>
          </a:p>
        </p:txBody>
      </p:sp>
      <p:sp>
        <p:nvSpPr>
          <p:cNvPr id="445" name="Shape 445"/>
          <p:cNvSpPr/>
          <p:nvPr/>
        </p:nvSpPr>
        <p:spPr>
          <a:xfrm>
            <a:off x="6457950" y="4150965"/>
            <a:ext cx="4895850" cy="67032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640"/>
              </a:lnSpc>
              <a:buNone/>
            </a:pPr>
            <a:r>
              <a:rPr sz="1650" b="0" i="0">
                <a:solidFill>
                  <a:srgbClr val="111111"/>
                </a:solidFill>
                <a:latin typeface="Inter Tight"/>
                <a:ea typeface="Inter Tight"/>
              </a:rPr>
              <a:t>cnt：最终组数；SSD 与每卡复制分别估计并发，回溯后检查同时启动。</a:t>
            </a:r>
            <a:endParaRPr lang="en-US"/>
          </a:p>
        </p:txBody>
      </p:sp>
      <p:sp>
        <p:nvSpPr>
          <p:cNvPr id="446" name="Shape 446"/>
          <p:cNvSpPr/>
          <p:nvPr/>
        </p:nvSpPr>
        <p:spPr>
          <a:xfrm>
            <a:off x="6457950" y="4954637"/>
            <a:ext cx="4895850" cy="670322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640"/>
              </a:lnSpc>
              <a:buNone/>
            </a:pPr>
            <a:r>
              <a:rPr sz="1650" b="0" i="0">
                <a:solidFill>
                  <a:srgbClr val="111111"/>
                </a:solidFill>
                <a:latin typeface="Inter Tight"/>
                <a:ea typeface="Inter Tight"/>
              </a:rPr>
              <a:t>采样组数；最多 200 万次边估价/转移。超预算保留快速候选。</a:t>
            </a:r>
            <a:endParaRPr lang="en-US"/>
          </a:p>
        </p:txBody>
      </p:sp>
      <p:sp>
        <p:nvSpPr>
          <p:cNvPr id="447" name="Shape 447"/>
          <p:cNvSpPr/>
          <p:nvPr/>
        </p:nvSpPr>
        <p:spPr>
          <a:xfrm>
            <a:off x="609600" y="6062663"/>
            <a:ext cx="10991850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11111"/>
                </a:solidFill>
                <a:latin typeface="Inter Tight"/>
                <a:ea typeface="Inter Tight"/>
              </a:rPr>
              <a:t>一维区间候选最多 B×128；固定 cnt 的计数 DP 最坏 O(cnt·B·128)。估价不追踪完整队列与流水，不等于最终 J。</a:t>
            </a:r>
            <a:endParaRPr lang="en-US"/>
          </a:p>
        </p:txBody>
      </p:sp>
      <p:sp>
        <p:nvSpPr>
          <p:cNvPr id="448" name="Shape 448"/>
          <p:cNvSpPr/>
          <p:nvPr/>
        </p:nvSpPr>
        <p:spPr>
          <a:xfrm>
            <a:off x="0" y="6438900"/>
            <a:ext cx="12192000" cy="419100"/>
          </a:xfrm>
          <a:prstGeom prst="rect">
            <a:avLst/>
          </a:prstGeom>
          <a:solidFill>
            <a:srgbClr val="111111"/>
          </a:solidFill>
        </p:spPr>
        <p:txBody>
          <a:bodyPr/>
          <a:lstStyle/>
          <a:p/>
        </p:txBody>
      </p:sp>
      <p:sp>
        <p:nvSpPr>
          <p:cNvPr id="449" name="Shape 449"/>
          <p:cNvSpPr/>
          <p:nvPr/>
        </p:nvSpPr>
        <p:spPr>
          <a:xfrm>
            <a:off x="609600" y="6548438"/>
            <a:ext cx="1887289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NDS 多路径 IO 调度 / KaisennHu</a:t>
            </a:r>
            <a:endParaRPr lang="en-US"/>
          </a:p>
        </p:txBody>
      </p:sp>
      <p:sp>
        <p:nvSpPr>
          <p:cNvPr id="450" name="Shape 450"/>
          <p:cNvSpPr/>
          <p:nvPr/>
        </p:nvSpPr>
        <p:spPr>
          <a:xfrm>
            <a:off x="11174462" y="6548438"/>
            <a:ext cx="426988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05 / 09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Presenton Native Image 6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0"/>
            <a:ext cx="914400" cy="6858000"/>
          </a:xfrm>
          <a:prstGeom prst="rect">
            <a:avLst/>
          </a:prstGeom>
        </p:spPr>
      </p:pic>
      <p:pic>
        <p:nvPicPr>
          <p:cNvPr id="184" name="Presenton Native Image 6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524000" y="0"/>
            <a:ext cx="914400" cy="6858000"/>
          </a:xfrm>
          <a:prstGeom prst="rect">
            <a:avLst/>
          </a:prstGeom>
        </p:spPr>
      </p:pic>
      <p:pic>
        <p:nvPicPr>
          <p:cNvPr id="185" name="Presenton Native Image 6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2438400" y="0"/>
            <a:ext cx="914400" cy="6858000"/>
          </a:xfrm>
          <a:prstGeom prst="rect">
            <a:avLst/>
          </a:prstGeom>
        </p:spPr>
      </p:pic>
      <p:pic>
        <p:nvPicPr>
          <p:cNvPr id="186" name="Presenton Native Image 6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3352800" y="0"/>
            <a:ext cx="914400" cy="6858000"/>
          </a:xfrm>
          <a:prstGeom prst="rect">
            <a:avLst/>
          </a:prstGeom>
        </p:spPr>
      </p:pic>
      <p:pic>
        <p:nvPicPr>
          <p:cNvPr id="187" name="Presenton Native Image 6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267200" y="0"/>
            <a:ext cx="914400" cy="6858000"/>
          </a:xfrm>
          <a:prstGeom prst="rect">
            <a:avLst/>
          </a:prstGeom>
        </p:spPr>
      </p:pic>
      <p:pic>
        <p:nvPicPr>
          <p:cNvPr id="188" name="Presenton Native Image 6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181600" y="0"/>
            <a:ext cx="914400" cy="6858000"/>
          </a:xfrm>
          <a:prstGeom prst="rect">
            <a:avLst/>
          </a:prstGeom>
        </p:spPr>
      </p:pic>
      <p:pic>
        <p:nvPicPr>
          <p:cNvPr id="189" name="Presenton Native Image 6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0" y="0"/>
            <a:ext cx="914400" cy="6858000"/>
          </a:xfrm>
          <a:prstGeom prst="rect">
            <a:avLst/>
          </a:prstGeom>
        </p:spPr>
      </p:pic>
      <p:pic>
        <p:nvPicPr>
          <p:cNvPr id="190" name="Presenton Native Image 7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010400" y="0"/>
            <a:ext cx="914400" cy="6858000"/>
          </a:xfrm>
          <a:prstGeom prst="rect">
            <a:avLst/>
          </a:prstGeom>
        </p:spPr>
      </p:pic>
      <p:pic>
        <p:nvPicPr>
          <p:cNvPr id="191" name="Presenton Native Image 7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924800" y="0"/>
            <a:ext cx="914400" cy="6858000"/>
          </a:xfrm>
          <a:prstGeom prst="rect">
            <a:avLst/>
          </a:prstGeom>
        </p:spPr>
      </p:pic>
      <p:pic>
        <p:nvPicPr>
          <p:cNvPr id="192" name="Presenton Native Image 7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8839200" y="0"/>
            <a:ext cx="914400" cy="6858000"/>
          </a:xfrm>
          <a:prstGeom prst="rect">
            <a:avLst/>
          </a:prstGeom>
        </p:spPr>
      </p:pic>
      <p:pic>
        <p:nvPicPr>
          <p:cNvPr id="193" name="Presenton Native Image 7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9753600" y="0"/>
            <a:ext cx="914400" cy="6858000"/>
          </a:xfrm>
          <a:prstGeom prst="rect">
            <a:avLst/>
          </a:prstGeom>
        </p:spPr>
      </p:pic>
      <p:pic>
        <p:nvPicPr>
          <p:cNvPr id="194" name="Presenton Native Image 7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0668000" y="0"/>
            <a:ext cx="914400" cy="6858000"/>
          </a:xfrm>
          <a:prstGeom prst="rect">
            <a:avLst/>
          </a:prstGeom>
        </p:spPr>
      </p:pic>
      <p:sp>
        <p:nvSpPr>
          <p:cNvPr id="451" name="Shape 451"/>
          <p:cNvSpPr/>
          <p:nvPr/>
        </p:nvSpPr>
        <p:spPr>
          <a:xfrm>
            <a:off x="8796933" y="4248150"/>
            <a:ext cx="2956917" cy="22860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0"/>
              </a:lnSpc>
              <a:buNone/>
            </a:pPr>
            <a:r>
              <a:rPr sz="18000" b="1" i="0">
                <a:solidFill>
                  <a:srgbClr val="111111"/>
                </a:solidFill>
                <a:latin typeface="Inter Tight"/>
                <a:ea typeface="Inter Tight"/>
              </a:rPr>
              <a:t>06</a:t>
            </a:r>
            <a:endParaRPr lang="en-US"/>
          </a:p>
        </p:txBody>
      </p:sp>
      <p:sp>
        <p:nvSpPr>
          <p:cNvPr id="452" name="Shape 452"/>
          <p:cNvSpPr/>
          <p:nvPr/>
        </p:nvSpPr>
        <p:spPr>
          <a:xfrm>
            <a:off x="609600" y="314325"/>
            <a:ext cx="10991850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 spc="225">
                <a:solidFill>
                  <a:srgbClr val="E1251B"/>
                </a:solidFill>
                <a:latin typeface="Inter Tight"/>
                <a:ea typeface="Inter Tight"/>
              </a:rPr>
              <a:t>05 / 后台核心：把 PROMOTE 当作一次投入</a:t>
            </a:r>
            <a:endParaRPr lang="en-US"/>
          </a:p>
        </p:txBody>
      </p:sp>
      <p:sp>
        <p:nvSpPr>
          <p:cNvPr id="453" name="Shape 453"/>
          <p:cNvSpPr/>
          <p:nvPr/>
        </p:nvSpPr>
        <p:spPr>
          <a:xfrm>
            <a:off x="609600" y="638175"/>
            <a:ext cx="10991850" cy="4953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900"/>
              </a:lnSpc>
              <a:buNone/>
            </a:pPr>
            <a:r>
              <a:rPr sz="3000" b="1" i="0">
                <a:solidFill>
                  <a:srgbClr val="111111"/>
                </a:solidFill>
                <a:latin typeface="Inter Tight"/>
                <a:ea typeface="Inter Tight"/>
              </a:rPr>
              <a:t>有复用、有净收益、预算够，才提升</a:t>
            </a:r>
            <a:endParaRPr lang="en-US"/>
          </a:p>
        </p:txBody>
      </p:sp>
      <p:sp>
        <p:nvSpPr>
          <p:cNvPr id="454" name="Shape 454"/>
          <p:cNvSpPr/>
          <p:nvPr/>
        </p:nvSpPr>
        <p:spPr>
          <a:xfrm>
            <a:off x="609600" y="1228725"/>
            <a:ext cx="10991850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111111"/>
                </a:solidFill>
                <a:latin typeface="Inter Tight"/>
                <a:ea typeface="Inter Tight"/>
              </a:rPr>
              <a:t>本次读取已经完成；不提升不影响本次成功。</a:t>
            </a:r>
            <a:endParaRPr lang="en-US"/>
          </a:p>
        </p:txBody>
      </p:sp>
      <p:pic>
        <p:nvPicPr>
          <p:cNvPr id="195" name="Presenton Native Image 75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1809750"/>
            <a:ext cx="10972800" cy="2804666"/>
          </a:xfrm>
          <a:prstGeom prst="rect">
            <a:avLst/>
          </a:prstGeom>
        </p:spPr>
      </p:pic>
      <p:sp>
        <p:nvSpPr>
          <p:cNvPr id="455" name="Shape 455"/>
          <p:cNvSpPr/>
          <p:nvPr/>
        </p:nvSpPr>
        <p:spPr>
          <a:xfrm>
            <a:off x="609600" y="4852541"/>
            <a:ext cx="10991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当前实现通过后允许立即开始，不主动延期；低优先级提升仍会与前台竞争资源。</a:t>
            </a:r>
            <a:endParaRPr lang="en-US"/>
          </a:p>
        </p:txBody>
      </p:sp>
      <p:sp>
        <p:nvSpPr>
          <p:cNvPr id="456" name="Shape 456"/>
          <p:cNvSpPr/>
          <p:nvPr/>
        </p:nvSpPr>
        <p:spPr>
          <a:xfrm>
            <a:off x="609600" y="6062663"/>
            <a:ext cx="10991850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11111"/>
                </a:solidFill>
                <a:latin typeface="Inter Tight"/>
                <a:ea typeface="Inter Tight"/>
              </a:rPr>
              <a:t>gap：平滑复用间隔；age：距最近需求的时间；Q：已观察读取支出形成的预算。TTL 边界严格小于。</a:t>
            </a:r>
            <a:endParaRPr lang="en-US"/>
          </a:p>
        </p:txBody>
      </p:sp>
      <p:sp>
        <p:nvSpPr>
          <p:cNvPr id="457" name="Shape 457"/>
          <p:cNvSpPr/>
          <p:nvPr/>
        </p:nvSpPr>
        <p:spPr>
          <a:xfrm>
            <a:off x="0" y="6438900"/>
            <a:ext cx="12192000" cy="419100"/>
          </a:xfrm>
          <a:prstGeom prst="rect">
            <a:avLst/>
          </a:prstGeom>
          <a:solidFill>
            <a:srgbClr val="111111"/>
          </a:solidFill>
        </p:spPr>
        <p:txBody>
          <a:bodyPr/>
          <a:lstStyle/>
          <a:p/>
        </p:txBody>
      </p:sp>
      <p:sp>
        <p:nvSpPr>
          <p:cNvPr id="458" name="Shape 458"/>
          <p:cNvSpPr/>
          <p:nvPr/>
        </p:nvSpPr>
        <p:spPr>
          <a:xfrm>
            <a:off x="609600" y="6548438"/>
            <a:ext cx="1887289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NDS 多路径 IO 调度 / KaisennHu</a:t>
            </a:r>
            <a:endParaRPr lang="en-US"/>
          </a:p>
        </p:txBody>
      </p:sp>
      <p:sp>
        <p:nvSpPr>
          <p:cNvPr id="459" name="Shape 459"/>
          <p:cNvSpPr/>
          <p:nvPr/>
        </p:nvSpPr>
        <p:spPr>
          <a:xfrm>
            <a:off x="11172825" y="6548438"/>
            <a:ext cx="42862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06 / 09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Presenton Native Image 7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0"/>
            <a:ext cx="914400" cy="6858000"/>
          </a:xfrm>
          <a:prstGeom prst="rect">
            <a:avLst/>
          </a:prstGeom>
        </p:spPr>
      </p:pic>
      <p:pic>
        <p:nvPicPr>
          <p:cNvPr id="197" name="Presenton Native Image 7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524000" y="0"/>
            <a:ext cx="914400" cy="6858000"/>
          </a:xfrm>
          <a:prstGeom prst="rect">
            <a:avLst/>
          </a:prstGeom>
        </p:spPr>
      </p:pic>
      <p:pic>
        <p:nvPicPr>
          <p:cNvPr id="198" name="Presenton Native Image 7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2438400" y="0"/>
            <a:ext cx="914400" cy="6858000"/>
          </a:xfrm>
          <a:prstGeom prst="rect">
            <a:avLst/>
          </a:prstGeom>
        </p:spPr>
      </p:pic>
      <p:pic>
        <p:nvPicPr>
          <p:cNvPr id="199" name="Presenton Native Image 7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3352800" y="0"/>
            <a:ext cx="914400" cy="6858000"/>
          </a:xfrm>
          <a:prstGeom prst="rect">
            <a:avLst/>
          </a:prstGeom>
        </p:spPr>
      </p:pic>
      <p:pic>
        <p:nvPicPr>
          <p:cNvPr id="200" name="Presenton Native Image 8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267200" y="0"/>
            <a:ext cx="914400" cy="6858000"/>
          </a:xfrm>
          <a:prstGeom prst="rect">
            <a:avLst/>
          </a:prstGeom>
        </p:spPr>
      </p:pic>
      <p:pic>
        <p:nvPicPr>
          <p:cNvPr id="201" name="Presenton Native Image 8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181600" y="0"/>
            <a:ext cx="914400" cy="6858000"/>
          </a:xfrm>
          <a:prstGeom prst="rect">
            <a:avLst/>
          </a:prstGeom>
        </p:spPr>
      </p:pic>
      <p:pic>
        <p:nvPicPr>
          <p:cNvPr id="202" name="Presenton Native Image 8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0" y="0"/>
            <a:ext cx="914400" cy="6858000"/>
          </a:xfrm>
          <a:prstGeom prst="rect">
            <a:avLst/>
          </a:prstGeom>
        </p:spPr>
      </p:pic>
      <p:pic>
        <p:nvPicPr>
          <p:cNvPr id="203" name="Presenton Native Image 8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010400" y="0"/>
            <a:ext cx="914400" cy="6858000"/>
          </a:xfrm>
          <a:prstGeom prst="rect">
            <a:avLst/>
          </a:prstGeom>
        </p:spPr>
      </p:pic>
      <p:pic>
        <p:nvPicPr>
          <p:cNvPr id="204" name="Presenton Native Image 8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924800" y="0"/>
            <a:ext cx="914400" cy="6858000"/>
          </a:xfrm>
          <a:prstGeom prst="rect">
            <a:avLst/>
          </a:prstGeom>
        </p:spPr>
      </p:pic>
      <p:pic>
        <p:nvPicPr>
          <p:cNvPr id="205" name="Presenton Native Image 8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8839200" y="0"/>
            <a:ext cx="914400" cy="6858000"/>
          </a:xfrm>
          <a:prstGeom prst="rect">
            <a:avLst/>
          </a:prstGeom>
        </p:spPr>
      </p:pic>
      <p:pic>
        <p:nvPicPr>
          <p:cNvPr id="206" name="Presenton Native Image 8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9753600" y="0"/>
            <a:ext cx="914400" cy="6858000"/>
          </a:xfrm>
          <a:prstGeom prst="rect">
            <a:avLst/>
          </a:prstGeom>
        </p:spPr>
      </p:pic>
      <p:pic>
        <p:nvPicPr>
          <p:cNvPr id="207" name="Presenton Native Image 8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0668000" y="0"/>
            <a:ext cx="914400" cy="6858000"/>
          </a:xfrm>
          <a:prstGeom prst="rect">
            <a:avLst/>
          </a:prstGeom>
        </p:spPr>
      </p:pic>
      <p:sp>
        <p:nvSpPr>
          <p:cNvPr id="460" name="Shape 460"/>
          <p:cNvSpPr/>
          <p:nvPr/>
        </p:nvSpPr>
        <p:spPr>
          <a:xfrm>
            <a:off x="9021217" y="4248150"/>
            <a:ext cx="2732633" cy="22860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0"/>
              </a:lnSpc>
              <a:buNone/>
            </a:pPr>
            <a:r>
              <a:rPr sz="18000" b="1" i="0">
                <a:solidFill>
                  <a:srgbClr val="111111"/>
                </a:solidFill>
                <a:latin typeface="Inter Tight"/>
                <a:ea typeface="Inter Tight"/>
              </a:rPr>
              <a:t>07</a:t>
            </a:r>
            <a:endParaRPr lang="en-US"/>
          </a:p>
        </p:txBody>
      </p:sp>
      <p:sp>
        <p:nvSpPr>
          <p:cNvPr id="461" name="Shape 461"/>
          <p:cNvSpPr/>
          <p:nvPr/>
        </p:nvSpPr>
        <p:spPr>
          <a:xfrm>
            <a:off x="609600" y="314325"/>
            <a:ext cx="10991850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 spc="225">
                <a:solidFill>
                  <a:srgbClr val="E1251B"/>
                </a:solidFill>
                <a:latin typeface="Inter Tight"/>
                <a:ea typeface="Inter Tight"/>
              </a:rPr>
              <a:t>06 / 重要数据结构</a:t>
            </a:r>
            <a:endParaRPr lang="en-US"/>
          </a:p>
        </p:txBody>
      </p:sp>
      <p:sp>
        <p:nvSpPr>
          <p:cNvPr id="462" name="Shape 462"/>
          <p:cNvSpPr/>
          <p:nvPr/>
        </p:nvSpPr>
        <p:spPr>
          <a:xfrm>
            <a:off x="609600" y="638175"/>
            <a:ext cx="10991850" cy="4953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900"/>
              </a:lnSpc>
              <a:buNone/>
            </a:pPr>
            <a:r>
              <a:rPr sz="3000" b="1" i="0">
                <a:solidFill>
                  <a:srgbClr val="111111"/>
                </a:solidFill>
                <a:latin typeface="Inter Tight"/>
                <a:ea typeface="Inter Tight"/>
              </a:rPr>
              <a:t>用三个层次串起“字节映射、执行计划、复用历史”</a:t>
            </a:r>
            <a:endParaRPr lang="en-US"/>
          </a:p>
        </p:txBody>
      </p:sp>
      <p:sp>
        <p:nvSpPr>
          <p:cNvPr id="463" name="Shape 463"/>
          <p:cNvSpPr/>
          <p:nvPr/>
        </p:nvSpPr>
        <p:spPr>
          <a:xfrm>
            <a:off x="609600" y="1228725"/>
            <a:ext cx="10991850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111111"/>
                </a:solidFill>
                <a:latin typeface="Inter Tight"/>
                <a:ea typeface="Inter Tight"/>
              </a:rPr>
              <a:t>唯一策略文件 solution.cpp；数据结构沿两个回调建立、使用和回收。</a:t>
            </a:r>
            <a:endParaRPr lang="en-US"/>
          </a:p>
        </p:txBody>
      </p:sp>
      <p:pic>
        <p:nvPicPr>
          <p:cNvPr id="208" name="Presenton Native Image 88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1809750"/>
            <a:ext cx="10972800" cy="3365599"/>
          </a:xfrm>
          <a:prstGeom prst="rect">
            <a:avLst/>
          </a:prstGeom>
        </p:spPr>
      </p:pic>
      <p:sp>
        <p:nvSpPr>
          <p:cNvPr id="464" name="Shape 464"/>
          <p:cNvSpPr/>
          <p:nvPr/>
        </p:nvSpPr>
        <p:spPr>
          <a:xfrm>
            <a:off x="609600" y="5403949"/>
            <a:ext cx="10991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缓存键 = 卡号 + SSD 起点 + 完整长度；不同卡不共用一个缓存键。</a:t>
            </a:r>
            <a:endParaRPr lang="en-US"/>
          </a:p>
        </p:txBody>
      </p:sp>
      <p:sp>
        <p:nvSpPr>
          <p:cNvPr id="465" name="Shape 465"/>
          <p:cNvSpPr/>
          <p:nvPr/>
        </p:nvSpPr>
        <p:spPr>
          <a:xfrm>
            <a:off x="609600" y="6062663"/>
            <a:ext cx="10991850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11111"/>
                </a:solidFill>
                <a:latin typeface="Inter Tight"/>
                <a:ea typeface="Inter Tight"/>
              </a:rPr>
              <a:t>R / D / C：最终选中计划分摊到请求的 SSD 工作、复制工作与调用费。索引、参数预取和搜索预算控制开销。</a:t>
            </a:r>
            <a:endParaRPr lang="en-US"/>
          </a:p>
        </p:txBody>
      </p:sp>
      <p:sp>
        <p:nvSpPr>
          <p:cNvPr id="466" name="Shape 466"/>
          <p:cNvSpPr/>
          <p:nvPr/>
        </p:nvSpPr>
        <p:spPr>
          <a:xfrm>
            <a:off x="0" y="6438900"/>
            <a:ext cx="12192000" cy="419100"/>
          </a:xfrm>
          <a:prstGeom prst="rect">
            <a:avLst/>
          </a:prstGeom>
          <a:solidFill>
            <a:srgbClr val="111111"/>
          </a:solidFill>
        </p:spPr>
        <p:txBody>
          <a:bodyPr/>
          <a:lstStyle/>
          <a:p/>
        </p:txBody>
      </p:sp>
      <p:sp>
        <p:nvSpPr>
          <p:cNvPr id="467" name="Shape 467"/>
          <p:cNvSpPr/>
          <p:nvPr/>
        </p:nvSpPr>
        <p:spPr>
          <a:xfrm>
            <a:off x="609600" y="6548438"/>
            <a:ext cx="1887289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NDS 多路径 IO 调度 / KaisennHu</a:t>
            </a:r>
            <a:endParaRPr lang="en-US"/>
          </a:p>
        </p:txBody>
      </p:sp>
      <p:sp>
        <p:nvSpPr>
          <p:cNvPr id="468" name="Shape 468"/>
          <p:cNvSpPr/>
          <p:nvPr/>
        </p:nvSpPr>
        <p:spPr>
          <a:xfrm>
            <a:off x="11182350" y="6548438"/>
            <a:ext cx="419100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07 / 09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Presenton Native Image 8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0"/>
            <a:ext cx="914400" cy="6858000"/>
          </a:xfrm>
          <a:prstGeom prst="rect">
            <a:avLst/>
          </a:prstGeom>
        </p:spPr>
      </p:pic>
      <p:pic>
        <p:nvPicPr>
          <p:cNvPr id="210" name="Presenton Native Image 9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524000" y="0"/>
            <a:ext cx="914400" cy="6858000"/>
          </a:xfrm>
          <a:prstGeom prst="rect">
            <a:avLst/>
          </a:prstGeom>
        </p:spPr>
      </p:pic>
      <p:pic>
        <p:nvPicPr>
          <p:cNvPr id="211" name="Presenton Native Image 9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2438400" y="0"/>
            <a:ext cx="914400" cy="6858000"/>
          </a:xfrm>
          <a:prstGeom prst="rect">
            <a:avLst/>
          </a:prstGeom>
        </p:spPr>
      </p:pic>
      <p:pic>
        <p:nvPicPr>
          <p:cNvPr id="212" name="Presenton Native Image 9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3352800" y="0"/>
            <a:ext cx="914400" cy="6858000"/>
          </a:xfrm>
          <a:prstGeom prst="rect">
            <a:avLst/>
          </a:prstGeom>
        </p:spPr>
      </p:pic>
      <p:pic>
        <p:nvPicPr>
          <p:cNvPr id="213" name="Presenton Native Image 9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267200" y="0"/>
            <a:ext cx="914400" cy="6858000"/>
          </a:xfrm>
          <a:prstGeom prst="rect">
            <a:avLst/>
          </a:prstGeom>
        </p:spPr>
      </p:pic>
      <p:pic>
        <p:nvPicPr>
          <p:cNvPr id="214" name="Presenton Native Image 9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181600" y="0"/>
            <a:ext cx="914400" cy="6858000"/>
          </a:xfrm>
          <a:prstGeom prst="rect">
            <a:avLst/>
          </a:prstGeom>
        </p:spPr>
      </p:pic>
      <p:pic>
        <p:nvPicPr>
          <p:cNvPr id="215" name="Presenton Native Image 9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0" y="0"/>
            <a:ext cx="914400" cy="6858000"/>
          </a:xfrm>
          <a:prstGeom prst="rect">
            <a:avLst/>
          </a:prstGeom>
        </p:spPr>
      </p:pic>
      <p:pic>
        <p:nvPicPr>
          <p:cNvPr id="216" name="Presenton Native Image 9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010400" y="0"/>
            <a:ext cx="914400" cy="6858000"/>
          </a:xfrm>
          <a:prstGeom prst="rect">
            <a:avLst/>
          </a:prstGeom>
        </p:spPr>
      </p:pic>
      <p:pic>
        <p:nvPicPr>
          <p:cNvPr id="217" name="Presenton Native Image 9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924800" y="0"/>
            <a:ext cx="914400" cy="6858000"/>
          </a:xfrm>
          <a:prstGeom prst="rect">
            <a:avLst/>
          </a:prstGeom>
        </p:spPr>
      </p:pic>
      <p:pic>
        <p:nvPicPr>
          <p:cNvPr id="218" name="Presenton Native Image 9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8839200" y="0"/>
            <a:ext cx="914400" cy="6858000"/>
          </a:xfrm>
          <a:prstGeom prst="rect">
            <a:avLst/>
          </a:prstGeom>
        </p:spPr>
      </p:pic>
      <p:pic>
        <p:nvPicPr>
          <p:cNvPr id="219" name="Presenton Native Image 9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9753600" y="0"/>
            <a:ext cx="914400" cy="6858000"/>
          </a:xfrm>
          <a:prstGeom prst="rect">
            <a:avLst/>
          </a:prstGeom>
        </p:spPr>
      </p:pic>
      <p:pic>
        <p:nvPicPr>
          <p:cNvPr id="220" name="Presenton Native Image 10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0668000" y="0"/>
            <a:ext cx="914400" cy="6858000"/>
          </a:xfrm>
          <a:prstGeom prst="rect">
            <a:avLst/>
          </a:prstGeom>
        </p:spPr>
      </p:pic>
      <p:sp>
        <p:nvSpPr>
          <p:cNvPr id="469" name="Shape 469"/>
          <p:cNvSpPr/>
          <p:nvPr/>
        </p:nvSpPr>
        <p:spPr>
          <a:xfrm>
            <a:off x="8793510" y="4248150"/>
            <a:ext cx="2960340" cy="22860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0"/>
              </a:lnSpc>
              <a:buNone/>
            </a:pPr>
            <a:r>
              <a:rPr sz="18000" b="1" i="0">
                <a:solidFill>
                  <a:srgbClr val="111111"/>
                </a:solidFill>
                <a:latin typeface="Inter Tight"/>
                <a:ea typeface="Inter Tight"/>
              </a:rPr>
              <a:t>08</a:t>
            </a:r>
            <a:endParaRPr lang="en-US"/>
          </a:p>
        </p:txBody>
      </p:sp>
      <p:sp>
        <p:nvSpPr>
          <p:cNvPr id="470" name="Shape 470"/>
          <p:cNvSpPr/>
          <p:nvPr/>
        </p:nvSpPr>
        <p:spPr>
          <a:xfrm>
            <a:off x="609600" y="314325"/>
            <a:ext cx="10991850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 spc="225">
                <a:solidFill>
                  <a:srgbClr val="E1251B"/>
                </a:solidFill>
                <a:latin typeface="Inter Tight"/>
                <a:ea typeface="Inter Tight"/>
              </a:rPr>
              <a:t>07 / 性能结果与原因</a:t>
            </a:r>
            <a:endParaRPr lang="en-US"/>
          </a:p>
        </p:txBody>
      </p:sp>
      <p:sp>
        <p:nvSpPr>
          <p:cNvPr id="471" name="Shape 471"/>
          <p:cNvSpPr/>
          <p:nvPr/>
        </p:nvSpPr>
        <p:spPr>
          <a:xfrm>
            <a:off x="609600" y="638175"/>
            <a:ext cx="10991850" cy="4953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900"/>
              </a:lnSpc>
              <a:buNone/>
            </a:pPr>
            <a:r>
              <a:rPr sz="3000" b="1" i="0">
                <a:solidFill>
                  <a:srgbClr val="111111"/>
                </a:solidFill>
                <a:latin typeface="Inter Tight"/>
                <a:ea typeface="Inter Tight"/>
              </a:rPr>
              <a:t>公开集自动分 88.4555 / 90，比官方贪心高 21.2574 分</a:t>
            </a:r>
            <a:endParaRPr lang="en-US"/>
          </a:p>
        </p:txBody>
      </p:sp>
      <p:sp>
        <p:nvSpPr>
          <p:cNvPr id="472" name="Shape 472"/>
          <p:cNvSpPr/>
          <p:nvPr/>
        </p:nvSpPr>
        <p:spPr>
          <a:xfrm>
            <a:off x="609600" y="1228725"/>
            <a:ext cx="10991850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111111"/>
                </a:solidFill>
                <a:latin typeface="Inter Tight"/>
                <a:ea typeface="Inter Tight"/>
              </a:rPr>
              <a:t>同一官方 engine / validator / 评分器；公开 39 条：35 优、4 平、0 差。</a:t>
            </a:r>
            <a:endParaRPr lang="en-US"/>
          </a:p>
        </p:txBody>
      </p:sp>
      <p:pic>
        <p:nvPicPr>
          <p:cNvPr id="221" name="Presenton Native Image 101" descr=""/>
          <p:cNvPicPr/>
          <p:nvPr/>
        </p:nvPicPr>
        <p:blipFill>
          <a:blip r:embed="rId3" cstate="none"/>
          <a:stretch>
            <a:fillRect/>
          </a:stretch>
        </p:blipFill>
        <p:spPr>
          <a:xfrm>
            <a:off x="609600" y="1809750"/>
            <a:ext cx="10972800" cy="2243733"/>
          </a:xfrm>
          <a:prstGeom prst="rect">
            <a:avLst/>
          </a:prstGeom>
        </p:spPr>
      </p:pic>
      <p:sp>
        <p:nvSpPr>
          <p:cNvPr id="473" name="Shape 473"/>
          <p:cNvSpPr/>
          <p:nvPr/>
        </p:nvSpPr>
        <p:spPr>
          <a:xfrm>
            <a:off x="609600" y="4263033"/>
            <a:ext cx="10991850" cy="33516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640"/>
              </a:lnSpc>
              <a:buNone/>
            </a:pPr>
            <a:r>
              <a:rPr sz="1650" b="0" i="0">
                <a:solidFill>
                  <a:srgbClr val="111111"/>
                </a:solidFill>
                <a:latin typeface="Inter Tight"/>
                <a:ea typeface="Inter Tight"/>
              </a:rPr>
              <a:t>收益来自联合规划和有条件的缓存投入；上表是成本分解，不是模块独立消融。</a:t>
            </a:r>
            <a:endParaRPr lang="en-US"/>
          </a:p>
        </p:txBody>
      </p:sp>
      <p:sp>
        <p:nvSpPr>
          <p:cNvPr id="474" name="Shape 474"/>
          <p:cNvSpPr/>
          <p:nvPr/>
        </p:nvSpPr>
        <p:spPr>
          <a:xfrm>
            <a:off x="609600" y="4741069"/>
            <a:ext cx="10991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计算代价：39 条回调时间合计 0.831s → 1.153s；本方案策略堆峰值 12.34MiB。</a:t>
            </a:r>
            <a:endParaRPr lang="en-US"/>
          </a:p>
        </p:txBody>
      </p:sp>
      <p:sp>
        <p:nvSpPr>
          <p:cNvPr id="475" name="Shape 475"/>
          <p:cNvSpPr/>
          <p:nvPr/>
        </p:nvSpPr>
        <p:spPr>
          <a:xfrm>
            <a:off x="609600" y="6062663"/>
            <a:ext cx="10991850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11111"/>
                </a:solidFill>
                <a:latin typeface="Inter Tight"/>
                <a:ea typeface="Inter Tight"/>
              </a:rPr>
              <a:t>CPU 8，g++ 13.3 / -O2，各预热 1 次、测 3 次；回调时间为逐例中位数之和。J 不是本机运行时间；另 10 分为文档评分。</a:t>
            </a:r>
            <a:endParaRPr lang="en-US"/>
          </a:p>
        </p:txBody>
      </p:sp>
      <p:sp>
        <p:nvSpPr>
          <p:cNvPr id="476" name="Shape 476"/>
          <p:cNvSpPr/>
          <p:nvPr/>
        </p:nvSpPr>
        <p:spPr>
          <a:xfrm>
            <a:off x="0" y="6438900"/>
            <a:ext cx="12192000" cy="419100"/>
          </a:xfrm>
          <a:prstGeom prst="rect">
            <a:avLst/>
          </a:prstGeom>
          <a:solidFill>
            <a:srgbClr val="111111"/>
          </a:solidFill>
        </p:spPr>
        <p:txBody>
          <a:bodyPr/>
          <a:lstStyle/>
          <a:p/>
        </p:txBody>
      </p:sp>
      <p:sp>
        <p:nvSpPr>
          <p:cNvPr id="477" name="Shape 477"/>
          <p:cNvSpPr/>
          <p:nvPr/>
        </p:nvSpPr>
        <p:spPr>
          <a:xfrm>
            <a:off x="609600" y="6548438"/>
            <a:ext cx="1887289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NDS 多路径 IO 调度 / KaisennHu</a:t>
            </a:r>
            <a:endParaRPr lang="en-US"/>
          </a:p>
        </p:txBody>
      </p:sp>
      <p:sp>
        <p:nvSpPr>
          <p:cNvPr id="478" name="Shape 478"/>
          <p:cNvSpPr/>
          <p:nvPr/>
        </p:nvSpPr>
        <p:spPr>
          <a:xfrm>
            <a:off x="11172974" y="6548438"/>
            <a:ext cx="428476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08 / 09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resenton Native Image 10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" y="0"/>
            <a:ext cx="914400" cy="6858000"/>
          </a:xfrm>
          <a:prstGeom prst="rect">
            <a:avLst/>
          </a:prstGeom>
        </p:spPr>
      </p:pic>
      <p:pic>
        <p:nvPicPr>
          <p:cNvPr id="223" name="Presenton Native Image 10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524000" y="0"/>
            <a:ext cx="914400" cy="6858000"/>
          </a:xfrm>
          <a:prstGeom prst="rect">
            <a:avLst/>
          </a:prstGeom>
        </p:spPr>
      </p:pic>
      <p:pic>
        <p:nvPicPr>
          <p:cNvPr id="224" name="Presenton Native Image 104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2438400" y="0"/>
            <a:ext cx="914400" cy="6858000"/>
          </a:xfrm>
          <a:prstGeom prst="rect">
            <a:avLst/>
          </a:prstGeom>
        </p:spPr>
      </p:pic>
      <p:pic>
        <p:nvPicPr>
          <p:cNvPr id="225" name="Presenton Native Image 105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3352800" y="0"/>
            <a:ext cx="914400" cy="6858000"/>
          </a:xfrm>
          <a:prstGeom prst="rect">
            <a:avLst/>
          </a:prstGeom>
        </p:spPr>
      </p:pic>
      <p:pic>
        <p:nvPicPr>
          <p:cNvPr id="226" name="Presenton Native Image 106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4267200" y="0"/>
            <a:ext cx="914400" cy="6858000"/>
          </a:xfrm>
          <a:prstGeom prst="rect">
            <a:avLst/>
          </a:prstGeom>
        </p:spPr>
      </p:pic>
      <p:pic>
        <p:nvPicPr>
          <p:cNvPr id="227" name="Presenton Native Image 107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5181600" y="0"/>
            <a:ext cx="914400" cy="6858000"/>
          </a:xfrm>
          <a:prstGeom prst="rect">
            <a:avLst/>
          </a:prstGeom>
        </p:spPr>
      </p:pic>
      <p:pic>
        <p:nvPicPr>
          <p:cNvPr id="228" name="Presenton Native Image 108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6096000" y="0"/>
            <a:ext cx="914400" cy="6858000"/>
          </a:xfrm>
          <a:prstGeom prst="rect">
            <a:avLst/>
          </a:prstGeom>
        </p:spPr>
      </p:pic>
      <p:pic>
        <p:nvPicPr>
          <p:cNvPr id="229" name="Presenton Native Image 109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010400" y="0"/>
            <a:ext cx="914400" cy="6858000"/>
          </a:xfrm>
          <a:prstGeom prst="rect">
            <a:avLst/>
          </a:prstGeom>
        </p:spPr>
      </p:pic>
      <p:pic>
        <p:nvPicPr>
          <p:cNvPr id="230" name="Presenton Native Image 110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7924800" y="0"/>
            <a:ext cx="914400" cy="6858000"/>
          </a:xfrm>
          <a:prstGeom prst="rect">
            <a:avLst/>
          </a:prstGeom>
        </p:spPr>
      </p:pic>
      <p:pic>
        <p:nvPicPr>
          <p:cNvPr id="231" name="Presenton Native Image 111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8839200" y="0"/>
            <a:ext cx="914400" cy="6858000"/>
          </a:xfrm>
          <a:prstGeom prst="rect">
            <a:avLst/>
          </a:prstGeom>
        </p:spPr>
      </p:pic>
      <p:pic>
        <p:nvPicPr>
          <p:cNvPr id="232" name="Presenton Native Image 112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9753600" y="0"/>
            <a:ext cx="914400" cy="6858000"/>
          </a:xfrm>
          <a:prstGeom prst="rect">
            <a:avLst/>
          </a:prstGeom>
        </p:spPr>
      </p:pic>
      <p:pic>
        <p:nvPicPr>
          <p:cNvPr id="233" name="Presenton Native Image 113" descr=""/>
          <p:cNvPicPr/>
          <p:nvPr/>
        </p:nvPicPr>
        <p:blipFill>
          <a:blip r:embed="rId2" cstate="none"/>
          <a:stretch>
            <a:fillRect/>
          </a:stretch>
        </p:blipFill>
        <p:spPr>
          <a:xfrm>
            <a:off x="10668000" y="0"/>
            <a:ext cx="914400" cy="6858000"/>
          </a:xfrm>
          <a:prstGeom prst="rect">
            <a:avLst/>
          </a:prstGeom>
        </p:spPr>
      </p:pic>
      <p:sp>
        <p:nvSpPr>
          <p:cNvPr id="479" name="Shape 479"/>
          <p:cNvSpPr/>
          <p:nvPr/>
        </p:nvSpPr>
        <p:spPr>
          <a:xfrm>
            <a:off x="8796933" y="4248150"/>
            <a:ext cx="2956917" cy="22860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0"/>
              </a:lnSpc>
              <a:buNone/>
            </a:pPr>
            <a:r>
              <a:rPr sz="18000" b="1" i="0">
                <a:solidFill>
                  <a:srgbClr val="111111"/>
                </a:solidFill>
                <a:latin typeface="Inter Tight"/>
                <a:ea typeface="Inter Tight"/>
              </a:rPr>
              <a:t>09</a:t>
            </a:r>
            <a:endParaRPr lang="en-US"/>
          </a:p>
        </p:txBody>
      </p:sp>
      <p:sp>
        <p:nvSpPr>
          <p:cNvPr id="480" name="Shape 480"/>
          <p:cNvSpPr/>
          <p:nvPr/>
        </p:nvSpPr>
        <p:spPr>
          <a:xfrm>
            <a:off x="609600" y="314325"/>
            <a:ext cx="10991850" cy="2286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sz="1200" b="1" i="0" spc="225">
                <a:solidFill>
                  <a:srgbClr val="E1251B"/>
                </a:solidFill>
                <a:latin typeface="Inter Tight"/>
                <a:ea typeface="Inter Tight"/>
              </a:rPr>
              <a:t>08 / 结论、边界与交付</a:t>
            </a:r>
            <a:endParaRPr lang="en-US"/>
          </a:p>
        </p:txBody>
      </p:sp>
      <p:sp>
        <p:nvSpPr>
          <p:cNvPr id="481" name="Shape 481"/>
          <p:cNvSpPr/>
          <p:nvPr/>
        </p:nvSpPr>
        <p:spPr>
          <a:xfrm>
            <a:off x="609600" y="638175"/>
            <a:ext cx="10991850" cy="49530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900"/>
              </a:lnSpc>
              <a:buNone/>
            </a:pPr>
            <a:r>
              <a:rPr sz="3000" b="1" i="0">
                <a:solidFill>
                  <a:srgbClr val="111111"/>
                </a:solidFill>
                <a:latin typeface="Inter Tight"/>
                <a:ea typeface="Inter Tight"/>
              </a:rPr>
              <a:t>联合决策带来收益，同时保留可检验的适用边界</a:t>
            </a:r>
            <a:endParaRPr lang="en-US"/>
          </a:p>
        </p:txBody>
      </p:sp>
      <p:sp>
        <p:nvSpPr>
          <p:cNvPr id="482" name="Shape 482"/>
          <p:cNvSpPr/>
          <p:nvPr/>
        </p:nvSpPr>
        <p:spPr>
          <a:xfrm>
            <a:off x="609600" y="1228725"/>
            <a:ext cx="10991850" cy="28575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sz="1500" b="0" i="0">
                <a:solidFill>
                  <a:srgbClr val="111111"/>
                </a:solidFill>
                <a:latin typeface="Inter Tight"/>
                <a:ea typeface="Inter Tight"/>
              </a:rPr>
              <a:t>交付基于最新主线；不把潜在改进写成已经实现的能力。</a:t>
            </a:r>
            <a:endParaRPr lang="en-US"/>
          </a:p>
        </p:txBody>
      </p:sp>
      <p:sp>
        <p:nvSpPr>
          <p:cNvPr id="483" name="Presenton Outline Shape 7"/>
          <p:cNvSpPr/>
          <p:nvPr/>
        </p:nvSpPr>
        <p:spPr>
          <a:xfrm>
            <a:off x="609600" y="1809750"/>
            <a:ext cx="5372100" cy="2597348"/>
          </a:xfrm>
          <a:prstGeom prst="rect">
            <a:avLst/>
          </a:prstGeom>
          <a:noFill/>
          <a:ln w="9525">
            <a:solidFill>
              <a:srgbClr val="101010">
                <a:alpha val="25000"/>
              </a:srgbClr>
            </a:solidFill>
          </a:ln>
        </p:spPr>
        <p:txBody>
          <a:bodyPr/>
          <a:lstStyle/>
          <a:p/>
        </p:txBody>
      </p:sp>
      <p:sp>
        <p:nvSpPr>
          <p:cNvPr id="484" name="Shape 484"/>
          <p:cNvSpPr/>
          <p:nvPr/>
        </p:nvSpPr>
        <p:spPr>
          <a:xfrm>
            <a:off x="857250" y="2057400"/>
            <a:ext cx="4895850" cy="38576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038"/>
              </a:lnSpc>
              <a:buNone/>
            </a:pPr>
            <a:r>
              <a:rPr sz="2025" b="1" i="0">
                <a:solidFill>
                  <a:srgbClr val="111111"/>
                </a:solidFill>
                <a:latin typeface="Inter Tight"/>
                <a:ea typeface="Inter Tight"/>
              </a:rPr>
              <a:t>证据完整</a:t>
            </a:r>
            <a:endParaRPr lang="en-US"/>
          </a:p>
        </p:txBody>
      </p:sp>
      <p:sp>
        <p:nvSpPr>
          <p:cNvPr id="485" name="Shape 485"/>
          <p:cNvSpPr/>
          <p:nvPr/>
        </p:nvSpPr>
        <p:spPr>
          <a:xfrm>
            <a:off x="857250" y="2586038"/>
            <a:ext cx="4895850" cy="35049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655 条 × 3 次回放，全部合法且重复输出一致。</a:t>
            </a:r>
            <a:endParaRPr lang="en-US"/>
          </a:p>
        </p:txBody>
      </p:sp>
      <p:sp>
        <p:nvSpPr>
          <p:cNvPr id="486" name="Shape 486"/>
          <p:cNvSpPr/>
          <p:nvPr/>
        </p:nvSpPr>
        <p:spPr>
          <a:xfrm>
            <a:off x="857250" y="3107978"/>
            <a:ext cx="4895850" cy="70098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173 项专项检查；两类 10 万请求及三类高 iov 探针通过。</a:t>
            </a:r>
            <a:endParaRPr lang="en-US"/>
          </a:p>
        </p:txBody>
      </p:sp>
      <p:sp>
        <p:nvSpPr>
          <p:cNvPr id="487" name="Presenton Outline Shape 8"/>
          <p:cNvSpPr/>
          <p:nvPr/>
        </p:nvSpPr>
        <p:spPr>
          <a:xfrm>
            <a:off x="6210300" y="1809750"/>
            <a:ext cx="5372100" cy="2597348"/>
          </a:xfrm>
          <a:prstGeom prst="rect">
            <a:avLst/>
          </a:prstGeom>
          <a:noFill/>
          <a:ln w="9525">
            <a:solidFill>
              <a:srgbClr val="101010">
                <a:alpha val="25000"/>
              </a:srgbClr>
            </a:solidFill>
          </a:ln>
        </p:spPr>
        <p:txBody>
          <a:bodyPr/>
          <a:lstStyle/>
          <a:p/>
        </p:txBody>
      </p:sp>
      <p:sp>
        <p:nvSpPr>
          <p:cNvPr id="488" name="Shape 488"/>
          <p:cNvSpPr/>
          <p:nvPr/>
        </p:nvSpPr>
        <p:spPr>
          <a:xfrm>
            <a:off x="6457950" y="2057400"/>
            <a:ext cx="4895850" cy="38576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3038"/>
              </a:lnSpc>
              <a:buNone/>
            </a:pPr>
            <a:r>
              <a:rPr sz="2025" b="1" i="0">
                <a:solidFill>
                  <a:srgbClr val="111111"/>
                </a:solidFill>
                <a:latin typeface="Inter Tight"/>
                <a:ea typeface="Inter Tight"/>
              </a:rPr>
              <a:t>局限明确</a:t>
            </a:r>
            <a:endParaRPr lang="en-US"/>
          </a:p>
        </p:txBody>
      </p:sp>
      <p:sp>
        <p:nvSpPr>
          <p:cNvPr id="489" name="Shape 489"/>
          <p:cNvSpPr/>
          <p:nvPr/>
        </p:nvSpPr>
        <p:spPr>
          <a:xfrm>
            <a:off x="6457950" y="2586038"/>
            <a:ext cx="4895850" cy="70098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扩展 292 条有 96 条退化，最大 +94.27%；静态并发与固定块长仍会选错。</a:t>
            </a:r>
            <a:endParaRPr lang="en-US"/>
          </a:p>
        </p:txBody>
      </p:sp>
      <p:sp>
        <p:nvSpPr>
          <p:cNvPr id="490" name="Shape 490"/>
          <p:cNvSpPr/>
          <p:nvPr/>
        </p:nvSpPr>
        <p:spPr>
          <a:xfrm>
            <a:off x="6457950" y="3458468"/>
            <a:ext cx="4895850" cy="700980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760"/>
              </a:lnSpc>
              <a:buNone/>
            </a:pPr>
            <a:r>
              <a:rPr sz="1725" b="0" i="0">
                <a:solidFill>
                  <a:srgbClr val="111111"/>
                </a:solidFill>
                <a:latin typeface="Inter Tight"/>
                <a:ea typeface="Inter Tight"/>
              </a:rPr>
              <a:t>极端碎片输入策略堆约 1.58GiB；不宣称任意规模、所有负载都更优。</a:t>
            </a:r>
            <a:endParaRPr lang="en-US"/>
          </a:p>
        </p:txBody>
      </p:sp>
      <p:sp>
        <p:nvSpPr>
          <p:cNvPr id="491" name="Shape 491"/>
          <p:cNvSpPr/>
          <p:nvPr/>
        </p:nvSpPr>
        <p:spPr>
          <a:xfrm>
            <a:off x="609600" y="4654748"/>
            <a:ext cx="10991850" cy="335161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2640"/>
              </a:lnSpc>
              <a:buNone/>
            </a:pPr>
            <a:r>
              <a:rPr sz="1650" b="0" i="0">
                <a:solidFill>
                  <a:srgbClr val="111111"/>
                </a:solidFill>
                <a:latin typeface="Inter Tight"/>
                <a:ea typeface="Inter Tight"/>
              </a:rPr>
              <a:t>提交顺序：①源码 ②可执行程序 ③输入输出说明 ④算法与复杂度 ⑤测试复现 ⑥性能资源报告 ⑦PPT。</a:t>
            </a:r>
            <a:endParaRPr lang="en-US"/>
          </a:p>
        </p:txBody>
      </p:sp>
      <p:sp>
        <p:nvSpPr>
          <p:cNvPr id="492" name="Shape 492"/>
          <p:cNvSpPr/>
          <p:nvPr/>
        </p:nvSpPr>
        <p:spPr>
          <a:xfrm>
            <a:off x="609600" y="4989909"/>
            <a:ext cx="10991850" cy="795338"/>
          </a:xfrm>
          <a:prstGeom prst="rect">
            <a:avLst/>
          </a:prstGeom>
          <a:solidFill>
            <a:srgbClr val="111111"/>
          </a:solidFill>
        </p:spPr>
        <p:txBody>
          <a:bodyPr anchor="t" wrap="square" tIns="190500" bIns="190500" lIns="247650" rIns="247650">
            <a:normAutofit/>
          </a:bodyPr>
          <a:lstStyle/>
          <a:p>
            <a:pPr algn="l">
              <a:lnSpc>
                <a:spcPts val="3263"/>
              </a:lnSpc>
              <a:buNone/>
            </a:pPr>
            <a:r>
              <a:rPr sz="2175" b="0" i="0">
                <a:solidFill>
                  <a:srgbClr val="F4F2EE"/>
                </a:solidFill>
                <a:latin typeface="Inter Tight"/>
                <a:ea typeface="Inter Tight"/>
              </a:rPr>
              <a:t>复现入口：python3 run.py quick / score / runtime / demo</a:t>
            </a:r>
            <a:endParaRPr lang="en-US"/>
          </a:p>
        </p:txBody>
      </p:sp>
      <p:sp>
        <p:nvSpPr>
          <p:cNvPr id="493" name="Shape 493"/>
          <p:cNvSpPr/>
          <p:nvPr/>
        </p:nvSpPr>
        <p:spPr>
          <a:xfrm>
            <a:off x="609600" y="6062663"/>
            <a:ext cx="10991850" cy="214313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688"/>
              </a:lnSpc>
              <a:buNone/>
            </a:pPr>
            <a:r>
              <a:rPr sz="1125" b="0" i="0">
                <a:solidFill>
                  <a:srgbClr val="111111"/>
                </a:solidFill>
                <a:latin typeface="Inter Tight"/>
                <a:ea typeface="Inter Tight"/>
              </a:rPr>
              <a:t>核心贡献：让分组、路径与缓存投入围绕同一个 J 决策，并用可复现结果交代收益和代价。</a:t>
            </a:r>
            <a:endParaRPr lang="en-US"/>
          </a:p>
        </p:txBody>
      </p:sp>
      <p:sp>
        <p:nvSpPr>
          <p:cNvPr id="494" name="Shape 494"/>
          <p:cNvSpPr/>
          <p:nvPr/>
        </p:nvSpPr>
        <p:spPr>
          <a:xfrm>
            <a:off x="0" y="6438900"/>
            <a:ext cx="12192000" cy="419100"/>
          </a:xfrm>
          <a:prstGeom prst="rect">
            <a:avLst/>
          </a:prstGeom>
          <a:solidFill>
            <a:srgbClr val="111111"/>
          </a:solidFill>
        </p:spPr>
        <p:txBody>
          <a:bodyPr/>
          <a:lstStyle/>
          <a:p/>
        </p:txBody>
      </p:sp>
      <p:sp>
        <p:nvSpPr>
          <p:cNvPr id="495" name="Shape 495"/>
          <p:cNvSpPr/>
          <p:nvPr/>
        </p:nvSpPr>
        <p:spPr>
          <a:xfrm>
            <a:off x="609600" y="6548438"/>
            <a:ext cx="1887289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NDS 多路径 IO 调度 / KaisennHu</a:t>
            </a:r>
            <a:endParaRPr lang="en-US"/>
          </a:p>
        </p:txBody>
      </p:sp>
      <p:sp>
        <p:nvSpPr>
          <p:cNvPr id="496" name="Shape 496"/>
          <p:cNvSpPr/>
          <p:nvPr/>
        </p:nvSpPr>
        <p:spPr>
          <a:xfrm>
            <a:off x="11172825" y="6548438"/>
            <a:ext cx="428625" cy="200025"/>
          </a:xfrm>
          <a:prstGeom prst="rect">
            <a:avLst/>
          </a:prstGeom>
          <a:noFill/>
        </p:spPr>
        <p:txBody>
          <a:bodyPr anchor="t" wrap="square" tIns="0" bIns="0" lIns="0" rIns="0">
            <a:normAutofit/>
          </a:bodyPr>
          <a:lstStyle/>
          <a:p>
            <a:pPr algn="l">
              <a:lnSpc>
                <a:spcPts val="1575"/>
              </a:lnSpc>
              <a:buNone/>
            </a:pPr>
            <a:r>
              <a:rPr sz="1050" b="0" i="0">
                <a:solidFill>
                  <a:srgbClr val="F4F2EE"/>
                </a:solidFill>
                <a:latin typeface="Inter Tight"/>
                <a:ea typeface="Inter Tight"/>
              </a:rPr>
              <a:t>09 / 09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mitype="http://purl.org/dcmitype/" xmlns:dcterms="http://purl.org/dc/terms/" xmlns:xsi="http://www.w3.org/2001/XMLSchema-instance">
  <dc:title>NDS多路径IO调度方案·七分钟答辩</dc:title>
  <dc:subject>Generated by Presenton export-core</dc:subject>
  <dc:creator>Presenton</dc:creator>
  <cp:lastModifiedBy>Presenton</cp:lastModifiedBy>
  <dcterms:created xsi:type="dcterms:W3CDTF">2026-10-30T17:21:01.227Z</dcterms:created>
  <dcterms:modified xsi:type="dcterms:W3CDTF">2026-10-30T17:21:01.227Z</dcterms:modified>
</cp:coreProperties>
</file>