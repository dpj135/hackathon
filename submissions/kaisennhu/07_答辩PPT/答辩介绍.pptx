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风花雪月战队。选题：24.NDS多路径IO分配、聚合与缓存提升算法。队员：刁鹏杰、胡海川、杜杰贵。介绍前台联合动态规划、后台缓存准入、代码实现及验证结果。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CPU/NPU成本是题目规定的调用费，不是本机CPU运行时间。Trace历时包含已经提交的尾部PROMOTE。目标卡由请求给定，策略不能自行改卡。命中也需要从KV池搬到目标HBM。所有J来自外部官方engine，策略不调用模拟器。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讲事实观察，再讲设计选择。观察1只回答怎样合并：合并可能减少操作固定费，重叠请求还可共享物理读取，但组数和块大小会改变SSD并发、性能桶、缓冲占用，因此不能认为越合并越好。观察2只回答怎样选路：同一组数据在满足对齐、槽位和池容量条件时可能有多条合法路径；DIRECT没有中转复制，AGGREGATE和FALLBACK使用不同临时池、复制类型和调用结构。并非任意组都能走三条路径，低费用也不等于整条Trace更优。前两个观察共同推出一个设计：把分组边界与路径放在同一候选转移中，由联合DP选择，而不是先固定合并再按规则选路；两阶段实现见后续DP页。观察3回答是否值得缓存：PROMOTE先付搬运和调用费，成功入池后才可能被后续同键请求复用；缓存命中仍需KV到目标HBM的复制。复用不足、证据过时或资源竞争可能使投入无法回收，所以后台按复用证据、正的预计净收益、历史预算及容量压力准入；它不是预测必回本的保证。前台节省本次读取成本，后台限制为未来复用支付的额外成本，两者都服务于降低完整Trace的J。组估价E=时间单价×(读工作+复制工作)×池压力系数+调用费；读按物理字节、复制按有效字节，来自公开性能表。DIRECT系数1，中转为1+0.5×对应池已用比例。该启发式只用于估价，不是官方最终J公式。具体阈值与公式留到算法页和设计文档，本页不以公式覆盖观察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程序的实际调用关系。load_trace/create_policy/Simulator::run/write_json_file在官方player入口；自定义策略在solution.cpp中实现两个回调。build_decision和solve_count是on_submit内的局部lambda。engine先查缓存，只将未命中交给on_submit；命中仍有完成回调，可通过缺少arrivals_登记辨认。在线策略不重放Trace；外部nds_validate用于完成后的合法性验证。源码定位：on_submit约319行、build_decision约376行、solve_count约511行、operation约261行、plan_work约220行、on_iocb_complete约647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区分三层概念。合法操作候选是“某段连续片段合为一组，走某条路径”；一份完整方案是若干操作覆盖本批全部片段。快速DP枚举许多候选操作，但最终只回溯输出一份完整基础方案，不输出多份完整方案。每个dp[j]也只保留一个最低估价前驱；并列时保留先遇到的选择。细化阶段从基础方案获得组数seed以及卡号/复制类型的组数比例，再从前面枚举的同一合法操作集合中重新求解。多个完整候选来自对多个总组数cnt分别求解；每个cnt只回溯一个最低估价方案，回溯后进行总槽位与池容量检查，不保留该cnt的次优方案。最终提交的仍是一份计划。快速更新dp[j]=min_i,path(dp[i]+E(i,j,path))，状态只表示前缀j，最终组数由回溯决定。细化更新D[h][j]=min_i,path(D[h-1][i]+E_cnt(i,j,path))；每固定一个cnt，边权用对应并发重算，取D[cnt][n]回溯。两阶段都联合选分组边界和路径，并非先分组后选路。先快速的目的是取得估价依据和可用方案；单独假设cnt不能推知各卡的复制类型分布。例如基础4组、某卡AGGREGATE占1组，尝试cnt=8时该卡D2D新增并发估为2。当前细化依赖这项统计和基础组数采样；直接细化需要另行设计复制估价和超限处理。快速SSD估价并发max(1,active_ssd+n)，复制为max(1,active_copy+per_card_requests)；细化SSD为max(1,active_ssd+cnt)，因入口保守空闲，active_ssd为0。复制为active_copy+max(1,ceil(cnt*seed_copy_groups/seed))，按卡号与D2D/H2D类型分别估计，估价内再应用对应性能表及并发限制；DIRECT不计入复制组数。cnt不是整个执行期不变的真实并发，E用于排序，实际J由官方完整Trace回放计算。每批先运行快速DP。细化仅在无活动传输、queued_iocbs、promote_inflight、foreground_iocb_inflight及旧未完成到达登记时尝试；≤1024请求、≤2048 iov、≤16384片段，快速方案≤2048操作。合法边上限262144；每cnt状态≤131072，估价/转移共享200万工作预算。预检查、可达性过滤、采样及回溯资源检查按代码执行；预算不足的cnt不求解。有合格细化方案则选细化候选中的最低估价者，没有则保留快速方案；不是把快速E与细化E直接比较。n≤24时尝试所有cnt，否则采样性能桶边界、几何序列及尺寸拐点，并局部细化；采样包含基础方案组数，但该cnt重新求出的方案可能与基础方案不同。三个同卡相邻对齐512B片段：快速阶段qs=qc=3，整组D/A/F E=5.406/32.820/22.559，输出一个DIRECT组。细化时全DIRECT基础方案使复制qc=1，AGGREGATE整组E重算为81.648；每cnt的最佳D[cnt][3]在1/2/3组时为5.406/7.406/9.406，均由DIRECT取得。代码尝试顺序1、3、2，最终仍选一个DIRECT。实际读工作3.4059797微秒，Trace时间向上取整4微秒，调用费2，J=6；分别读时调用费6、J=10。前台最多考察起点后128片段，不处理未来请求或PROMOTE。五次点击对应快速输出、细化候选、入口范围、最终选择、数值示例；放映展示已核验的执行过程，不调用模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道条件与末尾数值例子各一次点击。缓存键按卡号、SSD起点、完整长度。命中通过缺少arrivals_登记辨认；已准入且无新的真实miss也不重复提升。复用还有字节距离不能超过池容量的检查。频率0&lt;gap&lt;TTL；新鲜度age&lt;TTL且age≤max(1微秒,gap+2jitter)，1微秒下限与TTL严格小于关系均按代码保留。gain扣除命中H2D费用，并按本卡份额、是否能被到达空隙吸收调整时间项。提升投入包含80固定费、来源传输和调用费，选较便宜来源。教学例取R=30、D=10、H=12、C=12、a=1、时间权重w=0、c_t=1，所以gain=10；每次可记预算52，第二次104不够112.5、第三次156足够。已有及在途占用计入需替换字节。这是算式假设不是实测Trace。credit是投入节制，不等于预测未来必命中的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vIndex、Piece和DP是当前批规划结构。Work在on_submit最终选定后，按组内各请求的有效字节分摊读、复制工作与调用费，并带上本卡有效字节占比card_share；完成时消费。History跨请求维护。promotions_记录在途提升状态，pending_keys_用于查重。这里不是把候选试算都记账，只记录真实提交计划。缓存同键可以复制到这张卡的另一个目标地址。大输入的索引、Work、返回JSON等仍可能增长，细化搜索预算不代表总内存恒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max为单个请求最多iov数，L为最终片段与目标iov的有效交集数。候选组枚举与快速DP状态更新在同一段循环中交织执行，这里按开销来源分列，并非代码先枚举完整候选表再做快速DP。每个起点至多扩展W个片段，每组比较三条路径，每条边的DP更新为常数时间，因此快速DP核心转移为O(nW)。候选组每扩展一个片段，要把请求编号插入std::set owners；集合大小最多min(W,请求数)，单次插入最坏O(log(W+1))，故候选维护为O(nW log(W+1))。两项相加，含集合维护的枚举和快速规划为O(nW log(W+1))，不是DP转移本身有额外一层循环。W固定128时，这两项都随n线性增长，排序O(n log n)另计；按卡状态map查询另计。固定cnt时DP状态至多cnt*n，每状态看至多3W条边；若无采样和预算约束，全枚举cnt=1..n的核心转移上界可达O(n^3 W)。实现使用采样，单次状态上限131072、合法边上限262144，估价和转移每批共享2000000预算。状态/边预检查以及回溯后的所有者和缓冲检查另计。复制估价按卡维护映射，也有集合访问成本。后台若有R个在途提升和A个活动传输，同步约O(R log(R+1))，还扫描A项、查history和未完成请求map；不逐次扫描全部缓存。history_queue最多131072条更新记录，未完成Work及输入输出不受这一常数限制。这里按模块分析，没有把整个策略概括为O(nW)。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专门回答调度算法开销，不把优化后的模拟J当成本机加速。所有数字来自主线验证报告和资源开销CSV。回调覆盖两个策略函数，正式策略本身没有计时器，测试使用外层计时器。逐例三轮取中位数后求和得到1.153s与0.831s；进程总时间同时包含框架执行、数据结构和JSON输入输出，故回调更慢而总程序更快并不矛盾。峰值取所有公开例正式轮的最大值，策略堆与RSS是不同范围。预热、编译和独立validator另计；共享主机噪声与硬件会影响实测值。不从总程序时间独立推断某一算法模块加速。本页统一使用39条公开输入的统计口径，逐例记录见资源开销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张柱形图各自使用同一零点和比例，不能横向比较不同量纲的柱长。39条全Trace合计，前台指schedule_decisions内全部operation，排除promotion_decisions及框架自动命中H2D。两方案收到的未命中请求集合不同，这是完整方案比较，不是相同miss集合的模块消融。前台物理读分别41400624128B和35332572160B；GiB为2^30B。调用费按engine逐操作公式重算，和提升费、命中费相加严格等于官方CPU+NPU总费。DIRECT/AGGREGATE/FALLBACK操作分别105767/65366/6047→69417/12045/306。物理读合并与缓存有交互，不把14.66%单独归因给DP。总J为3581641→2273874，下降36.51%；自动分采用官方权重，所以总J百分比与评分不是一个口径。最小read_direct_high例中物理读均10MiB、CPU费40960→320、J64212→1483，可直接解释调用减少。39条启用策略的输出哈希与既有报告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两张主图都是正常启用缓存的两套完整方案直接比较，同组39条公开Trace，各自从零起算、组内共享同一比例，费用越低越好；不混入关闭缓存的消融。后台总调用费=提升CPU/NPU费+框架命中H2D调用费：贪心722994+81662=804656，本方案24676+16806=41482，下降94.8447535%。该值不含前台调用费，也不含模拟搬运时间费，不称为整个后台J。平均每次命中的调用费=整条Trace汇总后台调用费/真实命中请求数；804656/40831=19.7069873，本方案41482/8403=4.93657027，下降74.9501525%。这是把所有提升投入（含最终没有命中的提升）和命中调用费摊到总命中数上的比值，包含准入选择的效果，不是单次命中固有单价。官方单次命中调用收费两者均为2，算法没有降低这一收费。每次提升的平均命中数=40831/8817=4.63094与8403/301=27.91694，后者6.02835倍。两项均为完整Trace的汇总效率，不代表单个对象必命中27.92次，不是同尺寸、同缓存内容的受控模块对照。请求总数相同198542，命中率20.57%→4.23%；提升次数与命中数均在页脚公开。选更少的缓存对象、保留更集中复用，是对总计数的解释，不声称每道门槛的独立因果贡献。high_mixed可直接核验：贪心3566次提升、提升调用费292412、命中0；本方案均0。全Trace J530416→174066还有前台变化，不能全算缓存收益。提升调用费单项下降96.59%，提升搬运字节3881057800→327938527，下降91.55%。完整方案在39条公开Trace上35胜4平0负。逐例结果与复现方法见验证报告。所有数据由已提交CSV聚合，算法与原始性能记录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000125"/>
            <a:ext cx="628650" cy="47625"/>
          </a:xfrm>
          <a:prstGeom prst="rect">
            <a:avLst/>
          </a:prstGeom>
          <a:solidFill>
            <a:srgbClr val="28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风花雪月战队"/>
          <p:cNvSpPr txBox="1"/>
          <p:nvPr/>
        </p:nvSpPr>
        <p:spPr>
          <a:xfrm>
            <a:off x="762000" y="1333500"/>
            <a:ext cx="1047750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50" b="1" lang="zh-CN">
                <a:solidFill>
                  <a:srgbClr val="285EA8"/>
                </a:solidFill>
                <a:latin typeface="Microsoft YaHei"/>
                <a:ea typeface="Microsoft YaHei"/>
              </a:rPr>
              <a:t>风花雪月战队</a:t>
            </a:r>
          </a:p>
        </p:txBody>
      </p:sp>
      <p:sp>
        <p:nvSpPr>
          <p:cNvPr id="4" name="24.NDS多路径IO分配、 聚合与缓存提升算法"/>
          <p:cNvSpPr txBox="1"/>
          <p:nvPr/>
        </p:nvSpPr>
        <p:spPr>
          <a:xfrm>
            <a:off x="762000" y="2505075"/>
            <a:ext cx="10572750" cy="15716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900" b="1" lang="zh-CN">
                <a:solidFill>
                  <a:srgbClr val="1F2937"/>
                </a:solidFill>
                <a:latin typeface="Microsoft YaHei"/>
                <a:ea typeface="Microsoft YaHei"/>
              </a:rPr>
              <a:t>24.NDS多路径IO分配、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900" b="1" lang="zh-CN">
                <a:solidFill>
                  <a:srgbClr val="1F2937"/>
                </a:solidFill>
                <a:latin typeface="Microsoft YaHei"/>
                <a:ea typeface="Microsoft YaHei"/>
              </a:rPr>
              <a:t>聚合与缓存提升算法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2000" y="4581525"/>
            <a:ext cx="106680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队员：刁鹏杰   胡海川   杜杰贵"/>
          <p:cNvSpPr txBox="1"/>
          <p:nvPr/>
        </p:nvSpPr>
        <p:spPr>
          <a:xfrm>
            <a:off x="762000" y="5076825"/>
            <a:ext cx="10477500" cy="4286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50" b="0" lang="zh-CN">
                <a:solidFill>
                  <a:srgbClr val="1F2937"/>
                </a:solidFill>
                <a:latin typeface="Microsoft YaHei"/>
                <a:ea typeface="Microsoft YaHei"/>
              </a:rPr>
              <a:t>队员：刁鹏杰   胡海川   杜杰贵</a:t>
            </a:r>
          </a:p>
        </p:txBody>
      </p:sp>
      <p:sp>
        <p:nvSpPr>
          <p:cNvPr id="7" name="调度策略 · 核心实现 · 性能验证"/>
          <p:cNvSpPr txBox="1"/>
          <p:nvPr/>
        </p:nvSpPr>
        <p:spPr>
          <a:xfrm>
            <a:off x="762000" y="5810250"/>
            <a:ext cx="104775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调度策略 · 核心实现 · 性能验证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目标与调度边界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目标与调度边界</a:t>
            </a:r>
          </a:p>
        </p:txBody>
      </p:sp>
      <p:sp>
        <p:nvSpPr>
          <p:cNvPr id="3" name="一次完整 Trace：正确搬完数据，并降低总成本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一次完整 Trace：正确搬完数据，并降低总成本</a:t>
            </a:r>
          </a:p>
        </p:txBody>
      </p:sp>
      <p:sp>
        <p:nvSpPr>
          <p:cNvPr id="4" name="Trace 是按时刻到达的一串读取批次；算法在线处理，只使用已见请求和当前状态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Trace 是按时刻到达的一串读取批次；算法在线处理，只使用已见请求和当前状态。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1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52650"/>
            <a:ext cx="10972800" cy="914400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J = 每微秒成本 × Trace 历时 + CPU 调用费 + NPU 调用费"/>
          <p:cNvSpPr txBox="1"/>
          <p:nvPr/>
        </p:nvSpPr>
        <p:spPr>
          <a:xfrm>
            <a:off x="838200" y="2352675"/>
            <a:ext cx="10477500" cy="4381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50" b="1" lang="zh-CN">
                <a:solidFill>
                  <a:srgbClr val="285EA8"/>
                </a:solidFill>
                <a:latin typeface="Microsoft YaHei"/>
                <a:ea typeface="Microsoft YaHei"/>
              </a:rPr>
              <a:t>J = 每微秒成本 × Trace 历时 + CPU 调用费 + NPU 调用费</a:t>
            </a:r>
          </a:p>
        </p:txBody>
      </p:sp>
      <p:sp>
        <p:nvSpPr>
          <p:cNvPr id="10" name="三条前台路径，写入请求指定的目标 HBM"/>
          <p:cNvSpPr txBox="1"/>
          <p:nvPr/>
        </p:nvSpPr>
        <p:spPr>
          <a:xfrm>
            <a:off x="609600" y="3371850"/>
            <a:ext cx="7524749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1F2937"/>
                </a:solidFill>
                <a:latin typeface="Microsoft YaHei"/>
                <a:ea typeface="Microsoft YaHei"/>
              </a:rPr>
              <a:t>三条前台路径，写入请求指定的目标 HBM</a:t>
            </a:r>
          </a:p>
        </p:txBody>
      </p:sp>
      <p:sp>
        <p:nvSpPr>
          <p:cNvPr id="11" name="DIRECT"/>
          <p:cNvSpPr txBox="1"/>
          <p:nvPr/>
        </p:nvSpPr>
        <p:spPr>
          <a:xfrm>
            <a:off x="609600" y="3971925"/>
            <a:ext cx="1762125" cy="3333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DIRECT</a:t>
            </a:r>
          </a:p>
        </p:txBody>
      </p:sp>
      <p:sp>
        <p:nvSpPr>
          <p:cNvPr id="12" name="SSD  →  目标 HBM"/>
          <p:cNvSpPr txBox="1"/>
          <p:nvPr/>
        </p:nvSpPr>
        <p:spPr>
          <a:xfrm>
            <a:off x="2409825" y="3971925"/>
            <a:ext cx="5810250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0" lang="zh-CN">
                <a:solidFill>
                  <a:srgbClr val="1F2937"/>
                </a:solidFill>
                <a:latin typeface="Microsoft YaHei"/>
                <a:ea typeface="Microsoft YaHei"/>
              </a:rPr>
              <a:t>SSD  →  目标 HBM</a:t>
            </a:r>
          </a:p>
        </p:txBody>
      </p:sp>
      <p:sp>
        <p:nvSpPr>
          <p:cNvPr id="13" name="AGGREGATE"/>
          <p:cNvSpPr txBox="1"/>
          <p:nvPr/>
        </p:nvSpPr>
        <p:spPr>
          <a:xfrm>
            <a:off x="609600" y="4562475"/>
            <a:ext cx="1762125" cy="3333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AGGREGATE</a:t>
            </a:r>
          </a:p>
        </p:txBody>
      </p:sp>
      <p:sp>
        <p:nvSpPr>
          <p:cNvPr id="14" name="SSD  →  临时 HBM  →  目标 HBM"/>
          <p:cNvSpPr txBox="1"/>
          <p:nvPr/>
        </p:nvSpPr>
        <p:spPr>
          <a:xfrm>
            <a:off x="2409825" y="4562475"/>
            <a:ext cx="5810250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0" lang="zh-CN">
                <a:solidFill>
                  <a:srgbClr val="1F2937"/>
                </a:solidFill>
                <a:latin typeface="Microsoft YaHei"/>
                <a:ea typeface="Microsoft YaHei"/>
              </a:rPr>
              <a:t>SSD  →  临时 HBM  →  目标 HBM</a:t>
            </a:r>
          </a:p>
        </p:txBody>
      </p:sp>
      <p:sp>
        <p:nvSpPr>
          <p:cNvPr id="15" name="FALLBACK"/>
          <p:cNvSpPr txBox="1"/>
          <p:nvPr/>
        </p:nvSpPr>
        <p:spPr>
          <a:xfrm>
            <a:off x="609600" y="5153025"/>
            <a:ext cx="1762125" cy="3333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FALLBACK</a:t>
            </a:r>
          </a:p>
        </p:txBody>
      </p:sp>
      <p:sp>
        <p:nvSpPr>
          <p:cNvPr id="16" name="SSD  →  DDR  →  目标 HBM"/>
          <p:cNvSpPr txBox="1"/>
          <p:nvPr/>
        </p:nvSpPr>
        <p:spPr>
          <a:xfrm>
            <a:off x="2409825" y="5153025"/>
            <a:ext cx="5810250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0" lang="zh-CN">
                <a:solidFill>
                  <a:srgbClr val="1F2937"/>
                </a:solidFill>
                <a:latin typeface="Microsoft YaHei"/>
                <a:ea typeface="Microsoft YaHei"/>
              </a:rPr>
              <a:t>SSD  →  DDR  →  目标 HBM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29650" y="3429000"/>
            <a:ext cx="0" cy="2352675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策略决定"/>
          <p:cNvSpPr txBox="1"/>
          <p:nvPr/>
        </p:nvSpPr>
        <p:spPr>
          <a:xfrm>
            <a:off x="8991600" y="3495675"/>
            <a:ext cx="2590800" cy="3333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1F2937"/>
                </a:solidFill>
                <a:latin typeface="Microsoft YaHei"/>
                <a:ea typeface="Microsoft YaHei"/>
              </a:rPr>
              <a:t>策略决定</a:t>
            </a:r>
          </a:p>
        </p:txBody>
      </p:sp>
      <p:sp>
        <p:nvSpPr>
          <p:cNvPr id="19" name="分组、路径、传输依赖 缓存准入与提升来源"/>
          <p:cNvSpPr txBox="1"/>
          <p:nvPr/>
        </p:nvSpPr>
        <p:spPr>
          <a:xfrm>
            <a:off x="8991600" y="3924300"/>
            <a:ext cx="2590800" cy="6286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分组、路径、传输依赖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缓存准入与提升来源</a:t>
            </a:r>
          </a:p>
        </p:txBody>
      </p:sp>
      <p:sp>
        <p:nvSpPr>
          <p:cNvPr id="20" name="框架执行"/>
          <p:cNvSpPr txBox="1"/>
          <p:nvPr/>
        </p:nvSpPr>
        <p:spPr>
          <a:xfrm>
            <a:off x="8991600" y="4876800"/>
            <a:ext cx="2590800" cy="3333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1F2937"/>
                </a:solidFill>
                <a:latin typeface="Microsoft YaHei"/>
                <a:ea typeface="Microsoft YaHei"/>
              </a:rPr>
              <a:t>框架执行</a:t>
            </a:r>
          </a:p>
        </p:txBody>
      </p:sp>
      <p:sp>
        <p:nvSpPr>
          <p:cNvPr id="21" name="缓存查找、排队与搬运 带宽共享、回放与计费"/>
          <p:cNvSpPr txBox="1"/>
          <p:nvPr/>
        </p:nvSpPr>
        <p:spPr>
          <a:xfrm>
            <a:off x="8991600" y="5305425"/>
            <a:ext cx="2590800" cy="6286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缓存查找、排队与搬运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带宽共享、回放与计费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设计依据 · 三条观察，两项设计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设计依据 · 三条观察，两项设计</a:t>
            </a:r>
          </a:p>
        </p:txBody>
      </p:sp>
      <p:sp>
        <p:nvSpPr>
          <p:cNvPr id="3" name="前台联合分组与选路，后台按收益准入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前台联合分组与选路，后台按收益准入</a:t>
            </a:r>
          </a:p>
        </p:txBody>
      </p:sp>
      <p:sp>
        <p:nvSpPr>
          <p:cNvPr id="4" name="先看三个问题特性：合并的收益与代价、路径的成本差异，以及缓存的回本条件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先看三个问题特性：合并的收益与代价、路径的成本差异，以及缓存的回本条件。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2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8" name="前台 · 本次读取"/>
          <p:cNvSpPr txBox="1"/>
          <p:nvPr/>
        </p:nvSpPr>
        <p:spPr>
          <a:xfrm>
            <a:off x="609600" y="2009774"/>
            <a:ext cx="708660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前台 · 本次读取</a:t>
            </a:r>
          </a:p>
        </p:txBody>
      </p:sp>
      <p:sp>
        <p:nvSpPr>
          <p:cNvPr id="9" name="后台 · 后续复用"/>
          <p:cNvSpPr txBox="1"/>
          <p:nvPr/>
        </p:nvSpPr>
        <p:spPr>
          <a:xfrm>
            <a:off x="8077200" y="2009774"/>
            <a:ext cx="350520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4756D"/>
                </a:solidFill>
                <a:latin typeface="Microsoft YaHei"/>
                <a:ea typeface="Microsoft YaHei"/>
              </a:rPr>
              <a:t>后台 · 后续复用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409825"/>
            <a:ext cx="3352800" cy="249555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409825"/>
            <a:ext cx="28575" cy="2495550"/>
          </a:xfrm>
          <a:prstGeom prst="rect">
            <a:avLst/>
          </a:prstGeom>
          <a:solidFill>
            <a:srgbClr val="28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观察 1"/>
          <p:cNvSpPr txBox="1"/>
          <p:nvPr/>
        </p:nvSpPr>
        <p:spPr>
          <a:xfrm>
            <a:off x="781050" y="2524125"/>
            <a:ext cx="300990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lang="zh-CN">
                <a:solidFill>
                  <a:srgbClr val="285EA8"/>
                </a:solidFill>
                <a:latin typeface="Microsoft YaHei"/>
                <a:ea typeface="Microsoft YaHei"/>
              </a:rPr>
              <a:t>观察 1</a:t>
            </a:r>
          </a:p>
        </p:txBody>
      </p:sp>
      <p:sp>
        <p:nvSpPr>
          <p:cNvPr id="13" name="合并有收益，也有代价"/>
          <p:cNvSpPr txBox="1"/>
          <p:nvPr/>
        </p:nvSpPr>
        <p:spPr>
          <a:xfrm>
            <a:off x="781050" y="2886075"/>
            <a:ext cx="3009900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85EA8"/>
                </a:solidFill>
                <a:latin typeface="Microsoft YaHei"/>
                <a:ea typeface="Microsoft YaHei"/>
              </a:rPr>
              <a:t>合并有收益，也有代价</a:t>
            </a:r>
          </a:p>
        </p:txBody>
      </p:sp>
      <p:sp>
        <p:nvSpPr>
          <p:cNvPr id="14" name="合并可少付固定费， 重叠请求可共享物理读取； 组数与块大小改变， 并发和缓冲占用也会改变。"/>
          <p:cNvSpPr txBox="1"/>
          <p:nvPr/>
        </p:nvSpPr>
        <p:spPr>
          <a:xfrm>
            <a:off x="781050" y="3419475"/>
            <a:ext cx="3009900" cy="13430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合并可少付固定费，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重叠请求可共享物理读取；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组数与块大小改变，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并发和缓冲占用也会改变。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409825"/>
            <a:ext cx="3352800" cy="249555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409825"/>
            <a:ext cx="28575" cy="2495550"/>
          </a:xfrm>
          <a:prstGeom prst="rect">
            <a:avLst/>
          </a:prstGeom>
          <a:solidFill>
            <a:srgbClr val="28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观察 2"/>
          <p:cNvSpPr txBox="1"/>
          <p:nvPr/>
        </p:nvSpPr>
        <p:spPr>
          <a:xfrm>
            <a:off x="4514850" y="2524125"/>
            <a:ext cx="300990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lang="zh-CN">
                <a:solidFill>
                  <a:srgbClr val="285EA8"/>
                </a:solidFill>
                <a:latin typeface="Microsoft YaHei"/>
                <a:ea typeface="Microsoft YaHei"/>
              </a:rPr>
              <a:t>观察 2</a:t>
            </a:r>
          </a:p>
        </p:txBody>
      </p:sp>
      <p:sp>
        <p:nvSpPr>
          <p:cNvPr id="18" name="路径可替代，成本不同"/>
          <p:cNvSpPr txBox="1"/>
          <p:nvPr/>
        </p:nvSpPr>
        <p:spPr>
          <a:xfrm>
            <a:off x="4514850" y="2886075"/>
            <a:ext cx="3009900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85EA8"/>
                </a:solidFill>
                <a:latin typeface="Microsoft YaHei"/>
                <a:ea typeface="Microsoft YaHei"/>
              </a:rPr>
              <a:t>路径可替代，成本不同</a:t>
            </a:r>
          </a:p>
        </p:txBody>
      </p:sp>
      <p:sp>
        <p:nvSpPr>
          <p:cNvPr id="19" name="同组数据可有多条合法路径； 调用费、复制和池需求不同。 分组与资源改变时， 低成本路径也可能改变。"/>
          <p:cNvSpPr txBox="1"/>
          <p:nvPr/>
        </p:nvSpPr>
        <p:spPr>
          <a:xfrm>
            <a:off x="4514850" y="3419475"/>
            <a:ext cx="3009900" cy="13430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同组数据可有多条合法路径；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调用费、复制和池需求不同。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分组与资源改变时，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低成本路径也可能改变。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7200" y="2409825"/>
            <a:ext cx="3505200" cy="2495550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7200" y="2409825"/>
            <a:ext cx="28575" cy="2495550"/>
          </a:xfrm>
          <a:prstGeom prst="rect">
            <a:avLst/>
          </a:prstGeom>
          <a:solidFill>
            <a:srgbClr val="24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观察 3"/>
          <p:cNvSpPr txBox="1"/>
          <p:nvPr/>
        </p:nvSpPr>
        <p:spPr>
          <a:xfrm>
            <a:off x="8248650" y="2524125"/>
            <a:ext cx="316230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lang="zh-CN">
                <a:solidFill>
                  <a:srgbClr val="24756D"/>
                </a:solidFill>
                <a:latin typeface="Microsoft YaHei"/>
                <a:ea typeface="Microsoft YaHei"/>
              </a:rPr>
              <a:t>观察 3</a:t>
            </a:r>
          </a:p>
        </p:txBody>
      </p:sp>
      <p:sp>
        <p:nvSpPr>
          <p:cNvPr id="23" name="缓存先投入，后回报"/>
          <p:cNvSpPr txBox="1"/>
          <p:nvPr/>
        </p:nvSpPr>
        <p:spPr>
          <a:xfrm>
            <a:off x="8248650" y="2886075"/>
            <a:ext cx="3162300" cy="3429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4756D"/>
                </a:solidFill>
                <a:latin typeface="Microsoft YaHei"/>
                <a:ea typeface="Microsoft YaHei"/>
              </a:rPr>
              <a:t>缓存先投入，后回报</a:t>
            </a:r>
          </a:p>
        </p:txBody>
      </p:sp>
      <p:sp>
        <p:nvSpPr>
          <p:cNvPr id="24" name="提升先付搬运与调用费； 命中仍要复制到目标 HBM。 复用不够或证据过时， 就可能收不回这次投入。"/>
          <p:cNvSpPr txBox="1"/>
          <p:nvPr/>
        </p:nvSpPr>
        <p:spPr>
          <a:xfrm>
            <a:off x="8248650" y="3419475"/>
            <a:ext cx="3162300" cy="13430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提升先付搬运与调用费；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命中仍要复制到目标 HBM。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复用不够或证据过时，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就可能收不回这次投入。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4905375"/>
            <a:ext cx="0" cy="180975"/>
          </a:xfrm>
          <a:prstGeom prst="line">
            <a:avLst/>
          </a:prstGeom>
          <a:ln w="17780">
            <a:solidFill>
              <a:srgbClr val="285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19800" y="4905375"/>
            <a:ext cx="0" cy="180975"/>
          </a:xfrm>
          <a:prstGeom prst="line">
            <a:avLst/>
          </a:prstGeom>
          <a:ln w="17780">
            <a:solidFill>
              <a:srgbClr val="285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86000" y="5086350"/>
            <a:ext cx="3733800" cy="0"/>
          </a:xfrm>
          <a:prstGeom prst="line">
            <a:avLst/>
          </a:prstGeom>
          <a:ln w="17780">
            <a:solidFill>
              <a:srgbClr val="285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52900" y="5086350"/>
            <a:ext cx="0" cy="171450"/>
          </a:xfrm>
          <a:prstGeom prst="line">
            <a:avLst/>
          </a:prstGeom>
          <a:ln w="17780">
            <a:solidFill>
              <a:srgbClr val="285EA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29800" y="4905375"/>
            <a:ext cx="0" cy="352425"/>
          </a:xfrm>
          <a:prstGeom prst="line">
            <a:avLst/>
          </a:prstGeom>
          <a:ln w="17780">
            <a:solidFill>
              <a:srgbClr val="24756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9600" y="5286375"/>
            <a:ext cx="7086600" cy="73342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设计：用联合 DP 同时选择分组边界与路径"/>
          <p:cNvSpPr txBox="1"/>
          <p:nvPr/>
        </p:nvSpPr>
        <p:spPr>
          <a:xfrm>
            <a:off x="781050" y="5381625"/>
            <a:ext cx="6743700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50" b="1" lang="zh-CN">
                <a:solidFill>
                  <a:srgbClr val="285EA8"/>
                </a:solidFill>
                <a:latin typeface="Microsoft YaHei"/>
                <a:ea typeface="Microsoft YaHei"/>
              </a:rPr>
              <a:t>设计：用联合 DP 同时选择分组边界与路径</a:t>
            </a:r>
          </a:p>
        </p:txBody>
      </p:sp>
      <p:sp>
        <p:nvSpPr>
          <p:cNvPr id="32" name="每个合法分组比较各条路径，用同一成本口径排序。"/>
          <p:cNvSpPr txBox="1"/>
          <p:nvPr/>
        </p:nvSpPr>
        <p:spPr>
          <a:xfrm>
            <a:off x="781050" y="5753100"/>
            <a:ext cx="674370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每个合法分组比较各条路径，用同一成本口径排序。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77200" y="5286375"/>
            <a:ext cx="3505200" cy="733425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设计：按净收益与预算准入"/>
          <p:cNvSpPr txBox="1"/>
          <p:nvPr/>
        </p:nvSpPr>
        <p:spPr>
          <a:xfrm>
            <a:off x="8248650" y="5391150"/>
            <a:ext cx="31623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4756D"/>
                </a:solidFill>
                <a:latin typeface="Microsoft YaHei"/>
                <a:ea typeface="Microsoft YaHei"/>
              </a:rPr>
              <a:t>设计：按净收益与预算准入</a:t>
            </a:r>
          </a:p>
        </p:txBody>
      </p:sp>
      <p:sp>
        <p:nvSpPr>
          <p:cNvPr id="35" name="复用证据有效，再决定是否提升。"/>
          <p:cNvSpPr txBox="1"/>
          <p:nvPr/>
        </p:nvSpPr>
        <p:spPr>
          <a:xfrm>
            <a:off x="8248650" y="5762625"/>
            <a:ext cx="316230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lang="zh-CN">
                <a:solidFill>
                  <a:srgbClr val="1F2937"/>
                </a:solidFill>
                <a:latin typeface="Microsoft YaHei"/>
                <a:ea typeface="Microsoft YaHei"/>
              </a:rPr>
              <a:t>复用证据有效，再决定是否提升。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代码总流程 · solution.cpp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代码总流程 · solution.cpp</a:t>
            </a:r>
          </a:p>
        </p:txBody>
      </p:sp>
      <p:sp>
        <p:nvSpPr>
          <p:cNvPr id="3" name="从两个回调进入：前台生成计划，后台决定 PROMOTE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从两个回调进入：前台生成计划，后台决定 PROMOTE</a:t>
            </a:r>
          </a:p>
        </p:txBody>
      </p:sp>
      <p:sp>
        <p:nvSpPr>
          <p:cNvPr id="4" name="官方 player 加载输入并创建 AdaptivePolicy；engine 负责触发回调和执行返回的指令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官方 player 加载输入并创建 AdaptivePolicy；engine 负责触发回调和执行返回的指令。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3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05025"/>
            <a:ext cx="10972800" cy="457200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ad_trace()  →  create_policy()  →  官方 Simulator::run()  →  write_json_file()"/>
          <p:cNvSpPr txBox="1"/>
          <p:nvPr/>
        </p:nvSpPr>
        <p:spPr>
          <a:xfrm>
            <a:off x="790575" y="2209800"/>
            <a:ext cx="106203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load_trace()  →  create_policy()  →  官方 Simulator::run()  →  write_json_file()</a:t>
            </a:r>
          </a:p>
        </p:txBody>
      </p:sp>
      <p:sp>
        <p:nvSpPr>
          <p:cNvPr id="10" name="前台 on_submit()"/>
          <p:cNvSpPr txBox="1"/>
          <p:nvPr/>
        </p:nvSpPr>
        <p:spPr>
          <a:xfrm>
            <a:off x="609600" y="2771775"/>
            <a:ext cx="5334000" cy="3048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85EA8"/>
                </a:solidFill>
                <a:latin typeface="Microsoft YaHei"/>
                <a:ea typeface="Microsoft YaHei"/>
              </a:rPr>
              <a:t>前台 on_submit()</a:t>
            </a:r>
          </a:p>
        </p:txBody>
      </p:sp>
      <p:sp>
        <p:nvSpPr>
          <p:cNvPr id="11" name="后台 on_iocb_complete()"/>
          <p:cNvSpPr txBox="1"/>
          <p:nvPr/>
        </p:nvSpPr>
        <p:spPr>
          <a:xfrm>
            <a:off x="6343650" y="2771775"/>
            <a:ext cx="5238750" cy="3048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4756D"/>
                </a:solidFill>
                <a:latin typeface="Microsoft YaHei"/>
                <a:ea typeface="Microsoft YaHei"/>
              </a:rPr>
              <a:t>后台 on_iocb_complete()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219450"/>
            <a:ext cx="5238750" cy="61912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登记与映射"/>
          <p:cNvSpPr txBox="1"/>
          <p:nvPr/>
        </p:nvSpPr>
        <p:spPr>
          <a:xfrm>
            <a:off x="762000" y="3286125"/>
            <a:ext cx="493395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登记与映射</a:t>
            </a:r>
          </a:p>
        </p:txBody>
      </p:sp>
      <p:sp>
        <p:nvSpPr>
          <p:cNvPr id="14" name="arrivals_ / History / IovIndex"/>
          <p:cNvSpPr txBox="1"/>
          <p:nvPr/>
        </p:nvSpPr>
        <p:spPr>
          <a:xfrm>
            <a:off x="762000" y="3581400"/>
            <a:ext cx="49339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arrivals_ / History / IovIndex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3650" y="3219450"/>
            <a:ext cx="5238750" cy="619125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识别命中、去重"/>
          <p:cNvSpPr txBox="1"/>
          <p:nvPr/>
        </p:nvSpPr>
        <p:spPr>
          <a:xfrm>
            <a:off x="6496050" y="3286125"/>
            <a:ext cx="493395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4756D"/>
                </a:solidFill>
                <a:latin typeface="Microsoft YaHei"/>
                <a:ea typeface="Microsoft YaHei"/>
              </a:rPr>
              <a:t>识别命中、去重</a:t>
            </a:r>
          </a:p>
        </p:txBody>
      </p:sp>
      <p:sp>
        <p:nvSpPr>
          <p:cNvPr id="17" name="查 arrivals_；sync_promotions() 更新在途状态"/>
          <p:cNvSpPr txBox="1"/>
          <p:nvPr/>
        </p:nvSpPr>
        <p:spPr>
          <a:xfrm>
            <a:off x="6496050" y="3581400"/>
            <a:ext cx="49339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查 arrivals_；sync_promotions() 更新在途状态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90875" y="3838575"/>
            <a:ext cx="0" cy="114300"/>
          </a:xfrm>
          <a:prstGeom prst="line">
            <a:avLst/>
          </a:prstGeom>
          <a:ln w="17780">
            <a:solidFill>
              <a:srgbClr val="285EA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53500" y="3838575"/>
            <a:ext cx="0" cy="114300"/>
          </a:xfrm>
          <a:prstGeom prst="line">
            <a:avLst/>
          </a:prstGeom>
          <a:ln w="17780">
            <a:solidFill>
              <a:srgbClr val="24756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9600" y="3981450"/>
            <a:ext cx="5238750" cy="61912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联合 DP：基础方案 → 按需细化"/>
          <p:cNvSpPr txBox="1"/>
          <p:nvPr/>
        </p:nvSpPr>
        <p:spPr>
          <a:xfrm>
            <a:off x="762000" y="4048124"/>
            <a:ext cx="493395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联合 DP：基础方案 → 按需细化</a:t>
            </a:r>
          </a:p>
        </p:txBody>
      </p:sp>
      <p:sp>
        <p:nvSpPr>
          <p:cNvPr id="22" name="build_decision() → estimate() / solve_count()"/>
          <p:cNvSpPr txBox="1"/>
          <p:nvPr/>
        </p:nvSpPr>
        <p:spPr>
          <a:xfrm>
            <a:off x="762000" y="4343400"/>
            <a:ext cx="49339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build_decision() → estimate() / solve_count()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3650" y="3981450"/>
            <a:ext cx="5238750" cy="619125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检查是否值得缓存"/>
          <p:cNvSpPr txBox="1"/>
          <p:nvPr/>
        </p:nvSpPr>
        <p:spPr>
          <a:xfrm>
            <a:off x="6496050" y="4048124"/>
            <a:ext cx="493395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4756D"/>
                </a:solidFill>
                <a:latin typeface="Microsoft YaHei"/>
                <a:ea typeface="Microsoft YaHei"/>
              </a:rPr>
              <a:t>检查是否值得缓存</a:t>
            </a:r>
          </a:p>
        </p:txBody>
      </p:sp>
      <p:sp>
        <p:nvSpPr>
          <p:cNvPr id="25" name="History 的复用证据 + Work 的可替代成本"/>
          <p:cNvSpPr txBox="1"/>
          <p:nvPr/>
        </p:nvSpPr>
        <p:spPr>
          <a:xfrm>
            <a:off x="6496050" y="4343400"/>
            <a:ext cx="49339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History 的复用证据 + Work 的可替代成本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90875" y="4600575"/>
            <a:ext cx="0" cy="114300"/>
          </a:xfrm>
          <a:prstGeom prst="line">
            <a:avLst/>
          </a:prstGeom>
          <a:ln w="17780">
            <a:solidFill>
              <a:srgbClr val="285EA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53500" y="4600575"/>
            <a:ext cx="0" cy="114300"/>
          </a:xfrm>
          <a:prstGeom prst="line">
            <a:avLst/>
          </a:prstGeom>
          <a:ln w="17780">
            <a:solidFill>
              <a:srgbClr val="24756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09600" y="4743450"/>
            <a:ext cx="5238750" cy="61912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生成操作、记录工作"/>
          <p:cNvSpPr txBox="1"/>
          <p:nvPr/>
        </p:nvSpPr>
        <p:spPr>
          <a:xfrm>
            <a:off x="762000" y="4810125"/>
            <a:ext cx="493395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生成操作、记录工作</a:t>
            </a:r>
          </a:p>
        </p:txBody>
      </p:sp>
      <p:sp>
        <p:nvSpPr>
          <p:cNvPr id="30" name="operation() → plan_work() → Work"/>
          <p:cNvSpPr txBox="1"/>
          <p:nvPr/>
        </p:nvSpPr>
        <p:spPr>
          <a:xfrm>
            <a:off x="762000" y="5105400"/>
            <a:ext cx="49339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operation() → plan_work() →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3650" y="4743450"/>
            <a:ext cx="5238750" cy="619125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选择来源、检查准入"/>
          <p:cNvSpPr txBox="1"/>
          <p:nvPr/>
        </p:nvSpPr>
        <p:spPr>
          <a:xfrm>
            <a:off x="6496050" y="4810125"/>
            <a:ext cx="493395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4756D"/>
                </a:solidFill>
                <a:latin typeface="Microsoft YaHei"/>
                <a:ea typeface="Microsoft YaHei"/>
              </a:rPr>
              <a:t>选择来源、检查准入</a:t>
            </a:r>
          </a:p>
        </p:txBody>
      </p:sp>
      <p:sp>
        <p:nvSpPr>
          <p:cNvPr id="33" name="比较 HBM / SSD；gain &gt; 0 且 credit ≥ 门槛"/>
          <p:cNvSpPr txBox="1"/>
          <p:nvPr/>
        </p:nvSpPr>
        <p:spPr>
          <a:xfrm>
            <a:off x="6496050" y="5105400"/>
            <a:ext cx="49339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比较 HBM / SSD；gain &gt; 0 且 credit ≥ 门槛</a:t>
            </a:r>
          </a:p>
        </p:txBody>
      </p:sp>
      <p:sp>
        <p:nvSpPr>
          <p:cNvPr id="34" name="返回 SCHEDULE_DECISION，交给 engine 执行"/>
          <p:cNvSpPr txBox="1"/>
          <p:nvPr/>
        </p:nvSpPr>
        <p:spPr>
          <a:xfrm>
            <a:off x="762000" y="5600700"/>
            <a:ext cx="493395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返回 SCHEDULE_DECISION，交给 engine 执行</a:t>
            </a:r>
          </a:p>
        </p:txBody>
      </p:sp>
      <p:sp>
        <p:nvSpPr>
          <p:cNvPr id="35" name="返回 PROMOTE 或 nullopt（不提升）"/>
          <p:cNvSpPr txBox="1"/>
          <p:nvPr/>
        </p:nvSpPr>
        <p:spPr>
          <a:xfrm>
            <a:off x="6496050" y="5600700"/>
            <a:ext cx="493395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4756D"/>
                </a:solidFill>
                <a:latin typeface="Microsoft YaHei"/>
                <a:ea typeface="Microsoft YaHei"/>
              </a:rPr>
              <a:t>返回 PROMOTE 或 nullopt（不提升）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前台 · 联合 DP 的两阶段实现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前台 · 联合 DP 的两阶段实现</a:t>
            </a:r>
          </a:p>
        </p:txBody>
      </p:sp>
      <p:sp>
        <p:nvSpPr>
          <p:cNvPr id="3" name="快速 DP 产出一个方案，细化按组数生成候选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快速 DP 产出一个方案，细化按组数生成候选</a:t>
            </a:r>
          </a:p>
        </p:txBody>
      </p:sp>
      <p:sp>
        <p:nvSpPr>
          <p:cNvPr id="4" name="快速DP先低成本取得可提交方案与复制分布；细化据此估价，在预算内按组数搜索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快速DP先低成本取得可提交方案与复制分布；细化据此估价，在预算内按组数搜索。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4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76450"/>
            <a:ext cx="10972800" cy="381000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比较项"/>
          <p:cNvSpPr txBox="1"/>
          <p:nvPr/>
        </p:nvSpPr>
        <p:spPr>
          <a:xfrm>
            <a:off x="762000" y="2152650"/>
            <a:ext cx="14097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比较项</a:t>
            </a:r>
          </a:p>
        </p:txBody>
      </p:sp>
      <p:sp>
        <p:nvSpPr>
          <p:cNvPr id="10" name="状态与约束"/>
          <p:cNvSpPr txBox="1"/>
          <p:nvPr/>
        </p:nvSpPr>
        <p:spPr>
          <a:xfrm>
            <a:off x="762000" y="2628900"/>
            <a:ext cx="1409700" cy="571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657184"/>
                </a:solidFill>
                <a:latin typeface="Microsoft YaHei"/>
                <a:ea typeface="Microsoft YaHei"/>
              </a:rPr>
              <a:t>状态与约束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" y="32766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并发估计"/>
          <p:cNvSpPr txBox="1"/>
          <p:nvPr/>
        </p:nvSpPr>
        <p:spPr>
          <a:xfrm>
            <a:off x="762000" y="3295650"/>
            <a:ext cx="1409700" cy="571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657184"/>
                </a:solidFill>
                <a:latin typeface="Microsoft YaHei"/>
                <a:ea typeface="Microsoft YaHei"/>
              </a:rPr>
              <a:t>并发估计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" y="394335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输出"/>
          <p:cNvSpPr txBox="1"/>
          <p:nvPr/>
        </p:nvSpPr>
        <p:spPr>
          <a:xfrm>
            <a:off x="762000" y="3981450"/>
            <a:ext cx="1409700" cy="5048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657184"/>
                </a:solidFill>
                <a:latin typeface="Microsoft YaHei"/>
                <a:ea typeface="Microsoft YaHei"/>
              </a:rPr>
              <a:t>输出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456247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步骤1：快速 DP 每批输出一份基础方案"/>
          <p:cNvGrpSpPr/>
          <p:nvPr/>
        </p:nvGrpSpPr>
        <p:grpSpPr>
          <a:xfrm>
            <a:off x="2381250" y="2152650"/>
            <a:ext cx="4171950" cy="2305050"/>
            <a:chOff x="2381250" y="2152650"/>
            <a:chExt cx="4171950" cy="2305050"/>
          </a:xfrm>
        </p:grpSpPr>
        <p:sp>
          <p:nvSpPr>
            <p:cNvPr id="17" name="快速 DP · 每批执行"/>
            <p:cNvSpPr txBox="1"/>
            <p:nvPr/>
          </p:nvSpPr>
          <p:spPr>
            <a:xfrm>
              <a:off x="2381250" y="2152650"/>
              <a:ext cx="4171950" cy="27622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725" b="1" lang="zh-CN">
                  <a:solidFill>
                    <a:srgbClr val="285EA8"/>
                  </a:solidFill>
                  <a:latin typeface="Microsoft YaHei"/>
                  <a:ea typeface="Microsoft YaHei"/>
                </a:rPr>
                <a:t>快速 DP · 每批执行</a:t>
              </a:r>
            </a:p>
          </p:txBody>
        </p:sp>
        <p:sp>
          <p:nvSpPr>
            <p:cNvPr id="18" name="dp[j]：前 j 段的最低估价 最终组数不预先固定"/>
            <p:cNvSpPr txBox="1"/>
            <p:nvPr/>
          </p:nvSpPr>
          <p:spPr>
            <a:xfrm>
              <a:off x="2381250" y="2619375"/>
              <a:ext cx="41719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dp[j]：前 j 段的最低估价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最终组数不预先固定</a:t>
              </a:r>
            </a:p>
          </p:txBody>
        </p:sp>
        <p:sp>
          <p:nvSpPr>
            <p:cNvPr id="19" name="SSD：在途数 + 片段数 n 复制：在途数 + 该卡请求数"/>
            <p:cNvSpPr txBox="1"/>
            <p:nvPr/>
          </p:nvSpPr>
          <p:spPr>
            <a:xfrm>
              <a:off x="2381250" y="3286125"/>
              <a:ext cx="41719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SSD：在途数 + 片段数 n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复制：在途数 + 该卡请求数</a:t>
              </a:r>
            </a:p>
          </p:txBody>
        </p:sp>
        <p:sp>
          <p:nvSpPr>
            <p:cNvPr id="20" name="一份完整基础方案 提供各卡 / 复制类型的组数比例"/>
            <p:cNvSpPr txBox="1"/>
            <p:nvPr/>
          </p:nvSpPr>
          <p:spPr>
            <a:xfrm>
              <a:off x="2381250" y="3971925"/>
              <a:ext cx="4171950" cy="48577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1" lang="zh-CN">
                  <a:solidFill>
                    <a:srgbClr val="285EA8"/>
                  </a:solidFill>
                  <a:latin typeface="Microsoft YaHei"/>
                  <a:ea typeface="Microsoft YaHei"/>
                </a:rPr>
                <a:t>一份完整基础方案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1" lang="zh-CN">
                  <a:solidFill>
                    <a:srgbClr val="285EA8"/>
                  </a:solidFill>
                  <a:latin typeface="Microsoft YaHei"/>
                  <a:ea typeface="Microsoft YaHei"/>
                </a:rPr>
                <a:t>提供各卡 / 复制类型的组数比例</a:t>
              </a:r>
            </a:p>
          </p:txBody>
        </p:sp>
      </p:grpSp>
      <p:grpSp>
        <p:nvGrpSpPr>
          <p:cNvPr id="21" name="步骤2：细化对多个 cnt 分别生成完整方案"/>
          <p:cNvGrpSpPr/>
          <p:nvPr/>
        </p:nvGrpSpPr>
        <p:grpSpPr>
          <a:xfrm>
            <a:off x="6896100" y="2152650"/>
            <a:ext cx="4533900" cy="2305050"/>
            <a:chOff x="6896100" y="2152650"/>
            <a:chExt cx="4533900" cy="2305050"/>
          </a:xfrm>
        </p:grpSpPr>
        <p:sp>
          <p:nvSpPr>
            <p:cNvPr id="22" name="细化 DP · 按条件执行"/>
            <p:cNvSpPr txBox="1"/>
            <p:nvPr/>
          </p:nvSpPr>
          <p:spPr>
            <a:xfrm>
              <a:off x="6896100" y="2152650"/>
              <a:ext cx="4533900" cy="27622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725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细化 DP · 按条件执行</a:t>
              </a:r>
            </a:p>
          </p:txBody>
        </p:sp>
        <p:sp>
          <p:nvSpPr>
            <p:cNvPr id="23" name="D[h][j]：前 j 段恰好 h 组 对每个 cnt，要求最终 h = cnt"/>
            <p:cNvSpPr txBox="1"/>
            <p:nvPr/>
          </p:nvSpPr>
          <p:spPr>
            <a:xfrm>
              <a:off x="6896100" y="2619375"/>
              <a:ext cx="45339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D[h][j]：前 j 段恰好 h 组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对每个 cnt，要求最终 h = cnt</a:t>
              </a:r>
            </a:p>
          </p:txBody>
        </p:sp>
        <p:sp>
          <p:nvSpPr>
            <p:cNvPr id="24" name="SSD：候选组数 cnt（入口空闲） 复制：按基础方案的卡 / 类型比例缩放"/>
            <p:cNvSpPr txBox="1"/>
            <p:nvPr/>
          </p:nvSpPr>
          <p:spPr>
            <a:xfrm>
              <a:off x="6896100" y="3286125"/>
              <a:ext cx="45339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SSD：候选组数 cnt（入口空闲）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复制：按基础方案的卡 / 类型比例缩放</a:t>
              </a:r>
            </a:p>
          </p:txBody>
        </p:sp>
        <p:sp>
          <p:nvSpPr>
            <p:cNvPr id="25" name="每个 cnt 至多一份合格方案 再从这些方案中选最低估价者"/>
            <p:cNvSpPr txBox="1"/>
            <p:nvPr/>
          </p:nvSpPr>
          <p:spPr>
            <a:xfrm>
              <a:off x="6896100" y="3971925"/>
              <a:ext cx="4533900" cy="48577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每个 cnt 至多一份合格方案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再从这些方案中选最低估价者</a:t>
              </a:r>
            </a:p>
          </p:txBody>
        </p:sp>
      </p:grpSp>
      <p:grpSp>
        <p:nvGrpSpPr>
          <p:cNvPr id="26" name="步骤3：明确细化入口和搜索规模边界"/>
          <p:cNvGrpSpPr/>
          <p:nvPr/>
        </p:nvGrpSpPr>
        <p:grpSpPr>
          <a:xfrm>
            <a:off x="609600" y="4619625"/>
            <a:ext cx="10972800" cy="857250"/>
            <a:chOff x="609600" y="4619625"/>
            <a:chExt cx="10972800" cy="857250"/>
          </a:xfrm>
        </p:grpSpPr>
        <p:sp>
          <p:nvSpPr>
            <p:cNvPr id="27" name="Rectangle 26"/>
            <p:cNvSpPr/>
            <p:nvPr/>
          </p:nvSpPr>
          <p:spPr>
            <a:xfrm>
              <a:off x="609600" y="4619625"/>
              <a:ext cx="10972800" cy="857250"/>
            </a:xfrm>
            <a:prstGeom prst="rect">
              <a:avLst/>
            </a:prstGeom>
            <a:solidFill>
              <a:srgbClr val="EEF6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空闲：无在途传输、排队、提升、占槽及旧未完成请求。"/>
            <p:cNvSpPr txBox="1"/>
            <p:nvPr/>
          </p:nvSpPr>
          <p:spPr>
            <a:xfrm>
              <a:off x="762000" y="4695825"/>
              <a:ext cx="10668000" cy="228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空闲：无在途传输、排队、提升、占槽及旧未完成请求。</a:t>
              </a:r>
            </a:p>
          </p:txBody>
        </p:sp>
        <p:sp>
          <p:nvSpPr>
            <p:cNvPr id="29" name="规模：请求 ≤1024，iov ≤2048，片段 ≤16384，基础方案操作 ≤2048。"/>
            <p:cNvSpPr txBox="1"/>
            <p:nvPr/>
          </p:nvSpPr>
          <p:spPr>
            <a:xfrm>
              <a:off x="762000" y="4962525"/>
              <a:ext cx="10668000" cy="228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规模：请求 ≤1024，iov ≤2048，片段 ≤16384，基础方案操作 ≤2048。</a:t>
              </a:r>
            </a:p>
          </p:txBody>
        </p:sp>
        <p:sp>
          <p:nvSpPr>
            <p:cNvPr id="30" name="搜索：每批 200 万估价 / 转移；合法边 ≤262144，单次存储状态 ≤131072。"/>
            <p:cNvSpPr txBox="1"/>
            <p:nvPr/>
          </p:nvSpPr>
          <p:spPr>
            <a:xfrm>
              <a:off x="762000" y="5229225"/>
              <a:ext cx="10668000" cy="21907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425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搜索：每批 200 万估价 / 转移；合法边 ≤262144，单次存储状态 ≤131072。</a:t>
              </a:r>
            </a:p>
          </p:txBody>
        </p:sp>
      </p:grpSp>
      <p:grpSp>
        <p:nvGrpSpPr>
          <p:cNvPr id="31" name="步骤4：从合格候选中选择最终方案或保留基础方案"/>
          <p:cNvGrpSpPr/>
          <p:nvPr/>
        </p:nvGrpSpPr>
        <p:grpSpPr>
          <a:xfrm>
            <a:off x="609600" y="5610225"/>
            <a:ext cx="10972800" cy="276225"/>
            <a:chOff x="609600" y="5610225"/>
            <a:chExt cx="10972800" cy="276225"/>
          </a:xfrm>
        </p:grpSpPr>
        <p:sp>
          <p:nvSpPr>
            <p:cNvPr id="32" name="选择：细化候选须通过总槽位与池容量检查；无可用候选，则提交快速 DP 的基础方案。"/>
            <p:cNvSpPr txBox="1"/>
            <p:nvPr/>
          </p:nvSpPr>
          <p:spPr>
            <a:xfrm>
              <a:off x="609600" y="5610225"/>
              <a:ext cx="10972800" cy="27622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65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选择：细化候选须通过总槽位与池容量检查；无可用候选，则提交快速 DP 的基础方案。</a:t>
              </a:r>
            </a:p>
          </p:txBody>
        </p:sp>
      </p:grpSp>
      <p:grpSp>
        <p:nvGrpSpPr>
          <p:cNvPr id="33" name="步骤5：同一输入在两阶段的输出示例"/>
          <p:cNvGrpSpPr/>
          <p:nvPr/>
        </p:nvGrpSpPr>
        <p:grpSpPr>
          <a:xfrm>
            <a:off x="609600" y="6000750"/>
            <a:ext cx="10972800" cy="238125"/>
            <a:chOff x="609600" y="6000750"/>
            <a:chExt cx="10972800" cy="238125"/>
          </a:xfrm>
        </p:grpSpPr>
        <p:sp>
          <p:nvSpPr>
            <p:cNvPr id="34" name="例：3 × 512B，快速选 1 组 DIRECT；细化比较 1 / 2 / 3 组后仍选 1 组。官方 J = 6。"/>
            <p:cNvSpPr txBox="1"/>
            <p:nvPr/>
          </p:nvSpPr>
          <p:spPr>
            <a:xfrm>
              <a:off x="609600" y="6000750"/>
              <a:ext cx="10972800" cy="23812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75" b="1" lang="zh-CN">
                  <a:solidFill>
                    <a:srgbClr val="285EA8"/>
                  </a:solidFill>
                  <a:latin typeface="Microsoft YaHei"/>
                  <a:ea typeface="Microsoft YaHei"/>
                </a:rPr>
                <a:t>例：3 × 512B，快速选 1 组 DIRECT；细化比较 1 / 2 / 3 组后仍选 1 组。官方 J = 6。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后台 · on_iocb_complete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后台 · on_iocb_complete</a:t>
            </a:r>
          </a:p>
        </p:txBody>
      </p:sp>
      <p:sp>
        <p:nvSpPr>
          <p:cNvPr id="3" name="用复用证据与成本准入，筛掉不值得的提升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用复用证据与成本准入，筛掉不值得的提升</a:t>
            </a:r>
          </a:p>
        </p:txBody>
      </p:sp>
      <p:sp>
        <p:nvSpPr>
          <p:cNvPr id="4" name="读取完成后决定是否缓存；四道条件依次判断，让额外搬运与调用投入有据可依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读取完成后决定是否缓存；四道条件依次判断，让额外搬运与调用投入有据可依。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5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5</a:t>
            </a:r>
          </a:p>
        </p:txBody>
      </p:sp>
      <p:grpSp>
        <p:nvGrpSpPr>
          <p:cNvPr id="8" name="缓存判断 先排除不合适对象"/>
          <p:cNvGrpSpPr/>
          <p:nvPr/>
        </p:nvGrpSpPr>
        <p:grpSpPr>
          <a:xfrm>
            <a:off x="609600" y="2133600"/>
            <a:ext cx="2514600" cy="2333625"/>
            <a:chOff x="609600" y="2133600"/>
            <a:chExt cx="2514600" cy="2333625"/>
          </a:xfrm>
        </p:grpSpPr>
        <p:sp>
          <p:nvSpPr>
            <p:cNvPr id="9" name="Rectangle 8"/>
            <p:cNvSpPr/>
            <p:nvPr/>
          </p:nvSpPr>
          <p:spPr>
            <a:xfrm>
              <a:off x="609600" y="2133600"/>
              <a:ext cx="2514600" cy="2333625"/>
            </a:xfrm>
            <a:prstGeom prst="rect">
              <a:avLst/>
            </a:prstGeom>
            <a:solidFill>
              <a:srgbClr val="EEF6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09600" y="2133600"/>
              <a:ext cx="28575" cy="2333625"/>
            </a:xfrm>
            <a:prstGeom prst="rect">
              <a:avLst/>
            </a:prstGeom>
            <a:solidFill>
              <a:srgbClr val="2475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先排除不合适对象"/>
            <p:cNvSpPr txBox="1"/>
            <p:nvPr/>
          </p:nvSpPr>
          <p:spPr>
            <a:xfrm>
              <a:off x="762000" y="2286000"/>
              <a:ext cx="22098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80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先排除不合适对象</a:t>
              </a:r>
            </a:p>
          </p:txBody>
        </p:sp>
        <p:sp>
          <p:nvSpPr>
            <p:cNvPr id="12" name="命中完成不再提升 同键在途不重复 对象不超过 KV 池容量"/>
            <p:cNvSpPr txBox="1"/>
            <p:nvPr/>
          </p:nvSpPr>
          <p:spPr>
            <a:xfrm>
              <a:off x="762000" y="2838450"/>
              <a:ext cx="2209800" cy="1447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命中完成不再提升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同键在途不重复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对象不超过 KV 池容量</a:t>
              </a:r>
            </a:p>
          </p:txBody>
        </p:sp>
      </p:grpSp>
      <p:grpSp>
        <p:nvGrpSpPr>
          <p:cNvPr id="13" name="缓存判断 复用证据有效"/>
          <p:cNvGrpSpPr/>
          <p:nvPr/>
        </p:nvGrpSpPr>
        <p:grpSpPr>
          <a:xfrm>
            <a:off x="3190875" y="2133600"/>
            <a:ext cx="2752725" cy="2333625"/>
            <a:chOff x="3190875" y="2133600"/>
            <a:chExt cx="2752725" cy="2333625"/>
          </a:xfrm>
        </p:grpSpPr>
        <p:sp>
          <p:nvSpPr>
            <p:cNvPr id="14" name="Rectangle 13"/>
            <p:cNvSpPr/>
            <p:nvPr/>
          </p:nvSpPr>
          <p:spPr>
            <a:xfrm>
              <a:off x="3429000" y="2133600"/>
              <a:ext cx="2514600" cy="2333625"/>
            </a:xfrm>
            <a:prstGeom prst="rect">
              <a:avLst/>
            </a:prstGeom>
            <a:solidFill>
              <a:srgbClr val="EEF6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429000" y="2133600"/>
              <a:ext cx="28575" cy="2333625"/>
            </a:xfrm>
            <a:prstGeom prst="rect">
              <a:avLst/>
            </a:prstGeom>
            <a:solidFill>
              <a:srgbClr val="2475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复用证据有效"/>
            <p:cNvSpPr txBox="1"/>
            <p:nvPr/>
          </p:nvSpPr>
          <p:spPr>
            <a:xfrm>
              <a:off x="3581400" y="2286000"/>
              <a:ext cx="22098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80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复用证据有效</a:t>
              </a:r>
            </a:p>
          </p:txBody>
        </p:sp>
        <p:sp>
          <p:nvSpPr>
            <p:cNvPr id="17" name="跨时刻未命中至少两次 0 &lt; gap &lt; TTL age &lt; TTL，且不超过 max(1μs,gap+2×抖动)"/>
            <p:cNvSpPr txBox="1"/>
            <p:nvPr/>
          </p:nvSpPr>
          <p:spPr>
            <a:xfrm>
              <a:off x="3581400" y="2838450"/>
              <a:ext cx="2209800" cy="1447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跨时刻未命中至少两次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0 &lt; gap &lt; TTL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age &lt; TTL，且不超过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max(1μs,gap+2×抖动)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3190875" y="3276600"/>
              <a:ext cx="190500" cy="0"/>
            </a:xfrm>
            <a:prstGeom prst="line">
              <a:avLst/>
            </a:prstGeom>
            <a:ln w="19050">
              <a:solidFill>
                <a:srgbClr val="24756D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缓存判断 预计命中有净收益"/>
          <p:cNvGrpSpPr/>
          <p:nvPr/>
        </p:nvGrpSpPr>
        <p:grpSpPr>
          <a:xfrm>
            <a:off x="6010275" y="2133600"/>
            <a:ext cx="2752725" cy="2333625"/>
            <a:chOff x="6010275" y="2133600"/>
            <a:chExt cx="2752725" cy="2333625"/>
          </a:xfrm>
        </p:grpSpPr>
        <p:sp>
          <p:nvSpPr>
            <p:cNvPr id="20" name="Rectangle 19"/>
            <p:cNvSpPr/>
            <p:nvPr/>
          </p:nvSpPr>
          <p:spPr>
            <a:xfrm>
              <a:off x="6248400" y="2133600"/>
              <a:ext cx="2514600" cy="2333625"/>
            </a:xfrm>
            <a:prstGeom prst="rect">
              <a:avLst/>
            </a:prstGeom>
            <a:solidFill>
              <a:srgbClr val="EEF6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248400" y="2133600"/>
              <a:ext cx="28575" cy="2333625"/>
            </a:xfrm>
            <a:prstGeom prst="rect">
              <a:avLst/>
            </a:prstGeom>
            <a:solidFill>
              <a:srgbClr val="2475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预计命中有净收益"/>
            <p:cNvSpPr txBox="1"/>
            <p:nvPr/>
          </p:nvSpPr>
          <p:spPr>
            <a:xfrm>
              <a:off x="6400800" y="2286000"/>
              <a:ext cx="22098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80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预计命中有净收益</a:t>
              </a:r>
            </a:p>
          </p:txBody>
        </p:sp>
        <p:sp>
          <p:nvSpPr>
            <p:cNvPr id="23" name="Work 提供可替代成本 扣除命中 H2D 的成本 净收益 gain &gt; 0 比较 HBM / SSD 来源"/>
            <p:cNvSpPr txBox="1"/>
            <p:nvPr/>
          </p:nvSpPr>
          <p:spPr>
            <a:xfrm>
              <a:off x="6400800" y="2838450"/>
              <a:ext cx="2209800" cy="1447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Work 提供可替代成本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扣除命中 H2D 的成本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净收益 gain &gt; 0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比较 HBM / SSD 来源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6010275" y="3276600"/>
              <a:ext cx="190500" cy="0"/>
            </a:xfrm>
            <a:prstGeom prst="line">
              <a:avLst/>
            </a:prstGeom>
            <a:ln w="19050">
              <a:solidFill>
                <a:srgbClr val="24756D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缓存判断 预算足够才投入"/>
          <p:cNvGrpSpPr/>
          <p:nvPr/>
        </p:nvGrpSpPr>
        <p:grpSpPr>
          <a:xfrm>
            <a:off x="8829675" y="2133600"/>
            <a:ext cx="2752725" cy="2333625"/>
            <a:chOff x="8829675" y="2133600"/>
            <a:chExt cx="2752725" cy="2333625"/>
          </a:xfrm>
        </p:grpSpPr>
        <p:sp>
          <p:nvSpPr>
            <p:cNvPr id="26" name="Rectangle 25"/>
            <p:cNvSpPr/>
            <p:nvPr/>
          </p:nvSpPr>
          <p:spPr>
            <a:xfrm>
              <a:off x="9067800" y="2133600"/>
              <a:ext cx="2514600" cy="2333625"/>
            </a:xfrm>
            <a:prstGeom prst="rect">
              <a:avLst/>
            </a:prstGeom>
            <a:solidFill>
              <a:srgbClr val="EEF6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067800" y="2133600"/>
              <a:ext cx="28575" cy="2333625"/>
            </a:xfrm>
            <a:prstGeom prst="rect">
              <a:avLst/>
            </a:prstGeom>
            <a:solidFill>
              <a:srgbClr val="2475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预算足够才投入"/>
            <p:cNvSpPr txBox="1"/>
            <p:nvPr/>
          </p:nvSpPr>
          <p:spPr>
            <a:xfrm>
              <a:off x="9220200" y="2286000"/>
              <a:ext cx="22098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80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预算足够才投入</a:t>
              </a:r>
            </a:p>
          </p:txBody>
        </p:sp>
        <p:sp>
          <p:nvSpPr>
            <p:cNvPr id="29" name="credit = 已观察支出预算 门槛 = 提升投入 × (1 + 需替换字节 / 池容量) credit ≥ 门槛才提升"/>
            <p:cNvSpPr txBox="1"/>
            <p:nvPr/>
          </p:nvSpPr>
          <p:spPr>
            <a:xfrm>
              <a:off x="9220200" y="2838450"/>
              <a:ext cx="2209800" cy="1447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credit = 已观察支出预算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门槛 = 提升投入 ×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(1 + 需替换字节 / 池容量)</a:t>
              </a:r>
            </a:p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5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credit ≥ 门槛才提升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8829675" y="3276600"/>
              <a:ext cx="190500" cy="0"/>
            </a:xfrm>
            <a:prstGeom prst="line">
              <a:avLst/>
            </a:prstGeom>
            <a:ln w="19050">
              <a:solidFill>
                <a:srgbClr val="24756D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缓存教学例：预算不足和足够时的不同输出"/>
          <p:cNvGrpSpPr/>
          <p:nvPr/>
        </p:nvGrpSpPr>
        <p:grpSpPr>
          <a:xfrm>
            <a:off x="609600" y="4676775"/>
            <a:ext cx="10972800" cy="952500"/>
            <a:chOff x="609600" y="4676775"/>
            <a:chExt cx="10972800" cy="952500"/>
          </a:xfrm>
        </p:grpSpPr>
        <p:sp>
          <p:nvSpPr>
            <p:cNvPr id="32" name="Rectangle 31"/>
            <p:cNvSpPr/>
            <p:nvPr/>
          </p:nvSpPr>
          <p:spPr>
            <a:xfrm>
              <a:off x="609600" y="4676775"/>
              <a:ext cx="10972800" cy="9525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教学假设：净收益 10 &gt; 0，提升投入 100；需替换池容量的 1/8，门槛 = 112.5"/>
            <p:cNvSpPr txBox="1"/>
            <p:nvPr/>
          </p:nvSpPr>
          <p:spPr>
            <a:xfrm>
              <a:off x="800100" y="4800600"/>
              <a:ext cx="10544175" cy="295275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800" b="1" lang="zh-CN">
                  <a:solidFill>
                    <a:srgbClr val="24756D"/>
                  </a:solidFill>
                  <a:latin typeface="Microsoft YaHei"/>
                  <a:ea typeface="Microsoft YaHei"/>
                </a:rPr>
                <a:t>教学假设：净收益 10 &gt; 0，提升投入 100；需替换池容量的 1/8，门槛 = 112.5</a:t>
              </a:r>
            </a:p>
          </p:txBody>
        </p:sp>
        <p:sp>
          <p:nvSpPr>
            <p:cNvPr id="34" name="第二次完成：预算 104 → 跳过；第三次完成：预算 156 → PROMOTE，并把预算清零。"/>
            <p:cNvSpPr txBox="1"/>
            <p:nvPr/>
          </p:nvSpPr>
          <p:spPr>
            <a:xfrm>
              <a:off x="800100" y="5238750"/>
              <a:ext cx="10544175" cy="285750"/>
            </a:xfrm>
            <a:prstGeom prst="rect">
              <a:avLst/>
            </a:prstGeom>
            <a:noFill/>
            <a:effectLst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500"/>
                </a:spcAft>
              </a:pPr>
              <a:r>
                <a:rPr sz="1800" b="0" lang="zh-CN">
                  <a:solidFill>
                    <a:srgbClr val="1F2937"/>
                  </a:solidFill>
                  <a:latin typeface="Microsoft YaHei"/>
                  <a:ea typeface="Microsoft YaHei"/>
                </a:rPr>
                <a:t>第二次完成：预算 104 → 跳过；第三次完成：预算 156 → PROMOTE，并把预算清零。</a:t>
              </a:r>
            </a:p>
          </p:txBody>
        </p:sp>
      </p:grpSp>
      <p:sp>
        <p:nvSpPr>
          <p:cNvPr id="35" name="读取已完成，PROMOTE 只服务未来复用；池满可替换，提升完成后才能命中。"/>
          <p:cNvSpPr txBox="1"/>
          <p:nvPr/>
        </p:nvSpPr>
        <p:spPr>
          <a:xfrm>
            <a:off x="609600" y="5829300"/>
            <a:ext cx="10972800" cy="2667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读取已完成，PROMOTE 只服务未来复用；池满可替换，提升完成后才能命中。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实现组织 · 数据结构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实现组织 · 数据结构</a:t>
            </a:r>
          </a:p>
        </p:txBody>
      </p:sp>
      <p:sp>
        <p:nvSpPr>
          <p:cNvPr id="3" name="前台保存实际工作，后台据此判断缓存能替代什么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前台保存实际工作，后台据此判断缓存能替代什么</a:t>
            </a:r>
          </a:p>
        </p:txBody>
      </p:sp>
      <p:sp>
        <p:nvSpPr>
          <p:cNvPr id="4" name="关键策略集中在 solution.cpp；批内结构规划当前请求，跨回调结构追踪成本和复用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关键策略集中在 solution.cpp；批内结构规划当前请求，跨回调结构追踪成本和复用。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6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14550"/>
            <a:ext cx="1895474" cy="400050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结构"/>
          <p:cNvSpPr txBox="1"/>
          <p:nvPr/>
        </p:nvSpPr>
        <p:spPr>
          <a:xfrm>
            <a:off x="742950" y="2190750"/>
            <a:ext cx="1628775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5075" y="2114550"/>
            <a:ext cx="4286250" cy="400050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保存的关键信息"/>
          <p:cNvSpPr txBox="1"/>
          <p:nvPr/>
        </p:nvSpPr>
        <p:spPr>
          <a:xfrm>
            <a:off x="2638425" y="2190750"/>
            <a:ext cx="4019549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保存的关键信息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91325" y="2114550"/>
            <a:ext cx="4791075" cy="400050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在哪里使用"/>
          <p:cNvSpPr txBox="1"/>
          <p:nvPr/>
        </p:nvSpPr>
        <p:spPr>
          <a:xfrm>
            <a:off x="6924675" y="2190750"/>
            <a:ext cx="4524375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在哪里使用</a:t>
            </a:r>
          </a:p>
        </p:txBody>
      </p:sp>
      <p:sp>
        <p:nvSpPr>
          <p:cNvPr id="14" name="IovIndex"/>
          <p:cNvSpPr txBox="1"/>
          <p:nvPr/>
        </p:nvSpPr>
        <p:spPr>
          <a:xfrm>
            <a:off x="742950" y="2657475"/>
            <a:ext cx="16287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1" lang="zh-CN">
                <a:solidFill>
                  <a:srgbClr val="1F2937"/>
                </a:solidFill>
                <a:latin typeface="Microsoft YaHei"/>
                <a:ea typeface="Microsoft YaHei"/>
              </a:rPr>
              <a:t>IovIndex</a:t>
            </a:r>
          </a:p>
        </p:txBody>
      </p:sp>
      <p:sp>
        <p:nvSpPr>
          <p:cNvPr id="15" name="ends：目标 iov 的累计终点"/>
          <p:cNvSpPr txBox="1"/>
          <p:nvPr/>
        </p:nvSpPr>
        <p:spPr>
          <a:xfrm>
            <a:off x="2638425" y="2657475"/>
            <a:ext cx="4019549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ends：目标 iov 的累计终点</a:t>
            </a:r>
          </a:p>
        </p:txBody>
      </p:sp>
      <p:sp>
        <p:nvSpPr>
          <p:cNvPr id="16" name="按请求内偏移二分定位目标；生成 vectors"/>
          <p:cNvSpPr txBox="1"/>
          <p:nvPr/>
        </p:nvSpPr>
        <p:spPr>
          <a:xfrm>
            <a:off x="6924675" y="2657475"/>
            <a:ext cx="45243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按请求内偏移二分定位目标；生成 vectors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30099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ece"/>
          <p:cNvSpPr txBox="1"/>
          <p:nvPr/>
        </p:nvSpPr>
        <p:spPr>
          <a:xfrm>
            <a:off x="742950" y="3114675"/>
            <a:ext cx="16287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1" lang="zh-CN">
                <a:solidFill>
                  <a:srgbClr val="1F2937"/>
                </a:solidFill>
                <a:latin typeface="Microsoft YaHei"/>
                <a:ea typeface="Microsoft YaHei"/>
              </a:rPr>
              <a:t>Piece</a:t>
            </a:r>
          </a:p>
        </p:txBody>
      </p:sp>
      <p:sp>
        <p:nvSpPr>
          <p:cNvPr id="19" name="io、offset、length、aligned、whole"/>
          <p:cNvSpPr txBox="1"/>
          <p:nvPr/>
        </p:nvSpPr>
        <p:spPr>
          <a:xfrm>
            <a:off x="2638425" y="3114675"/>
            <a:ext cx="4019549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io、offset、length、aligned、whole</a:t>
            </a:r>
          </a:p>
        </p:txBody>
      </p:sp>
      <p:sp>
        <p:nvSpPr>
          <p:cNvPr id="20" name="先切合法片段，再排序并枚举候选组"/>
          <p:cNvSpPr txBox="1"/>
          <p:nvPr/>
        </p:nvSpPr>
        <p:spPr>
          <a:xfrm>
            <a:off x="6924675" y="3114675"/>
            <a:ext cx="45243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先切合法片段，再排序并枚举候选组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" y="34671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P 状态"/>
          <p:cNvSpPr txBox="1"/>
          <p:nvPr/>
        </p:nvSpPr>
        <p:spPr>
          <a:xfrm>
            <a:off x="742950" y="3571875"/>
            <a:ext cx="16287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1" lang="zh-CN">
                <a:solidFill>
                  <a:srgbClr val="1F2937"/>
                </a:solidFill>
                <a:latin typeface="Microsoft YaHei"/>
                <a:ea typeface="Microsoft YaHei"/>
              </a:rPr>
              <a:t>DP 状态</a:t>
            </a:r>
          </a:p>
        </p:txBody>
      </p:sp>
      <p:sp>
        <p:nvSpPr>
          <p:cNvPr id="23" name="dp / prev / paths；细化追加组数维度 h"/>
          <p:cNvSpPr txBox="1"/>
          <p:nvPr/>
        </p:nvSpPr>
        <p:spPr>
          <a:xfrm>
            <a:off x="2638425" y="3571875"/>
            <a:ext cx="4019549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dp / prev / paths；细化追加组数维度 h</a:t>
            </a:r>
          </a:p>
        </p:txBody>
      </p:sp>
      <p:sp>
        <p:nvSpPr>
          <p:cNvPr id="24" name="共用分组与路径候选；回溯生成 operation"/>
          <p:cNvSpPr txBox="1"/>
          <p:nvPr/>
        </p:nvSpPr>
        <p:spPr>
          <a:xfrm>
            <a:off x="6924675" y="3571875"/>
            <a:ext cx="45243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共用分组与路径候选；回溯生成 operation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39243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Work"/>
          <p:cNvSpPr txBox="1"/>
          <p:nvPr/>
        </p:nvSpPr>
        <p:spPr>
          <a:xfrm>
            <a:off x="742950" y="4029075"/>
            <a:ext cx="16287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1" lang="zh-CN">
                <a:solidFill>
                  <a:srgbClr val="24756D"/>
                </a:solidFill>
                <a:latin typeface="Microsoft YaHei"/>
                <a:ea typeface="Microsoft YaHei"/>
              </a:rPr>
              <a:t>Work</a:t>
            </a:r>
          </a:p>
        </p:txBody>
      </p:sp>
      <p:sp>
        <p:nvSpPr>
          <p:cNvPr id="27" name="读 / 复制工作、调用费、本卡字节占比"/>
          <p:cNvSpPr txBox="1"/>
          <p:nvPr/>
        </p:nvSpPr>
        <p:spPr>
          <a:xfrm>
            <a:off x="2638425" y="4029075"/>
            <a:ext cx="4019549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读 / 复制工作、调用费、本卡字节占比</a:t>
            </a:r>
          </a:p>
        </p:txBody>
      </p:sp>
      <p:sp>
        <p:nvSpPr>
          <p:cNvPr id="28" name="只记最终计划；完成时估算可替代成本"/>
          <p:cNvSpPr txBox="1"/>
          <p:nvPr/>
        </p:nvSpPr>
        <p:spPr>
          <a:xfrm>
            <a:off x="6924675" y="4029075"/>
            <a:ext cx="45243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只记最终计划；完成时估算可替代成本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4381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History"/>
          <p:cNvSpPr txBox="1"/>
          <p:nvPr/>
        </p:nvSpPr>
        <p:spPr>
          <a:xfrm>
            <a:off x="742950" y="4486275"/>
            <a:ext cx="16287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1" lang="zh-CN">
                <a:solidFill>
                  <a:srgbClr val="24756D"/>
                </a:solidFill>
                <a:latin typeface="Microsoft YaHei"/>
                <a:ea typeface="Microsoft YaHei"/>
              </a:rPr>
              <a:t>History</a:t>
            </a:r>
          </a:p>
        </p:txBody>
      </p:sp>
      <p:sp>
        <p:nvSpPr>
          <p:cNvPr id="31" name="gap / jitter / last_arrival / credit"/>
          <p:cNvSpPr txBox="1"/>
          <p:nvPr/>
        </p:nvSpPr>
        <p:spPr>
          <a:xfrm>
            <a:off x="2638425" y="4486275"/>
            <a:ext cx="4019549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gap / jitter / last_arrival / credit</a:t>
            </a:r>
          </a:p>
        </p:txBody>
      </p:sp>
      <p:sp>
        <p:nvSpPr>
          <p:cNvPr id="32" name="维护复用节奏、新鲜度和准入预算"/>
          <p:cNvSpPr txBox="1"/>
          <p:nvPr/>
        </p:nvSpPr>
        <p:spPr>
          <a:xfrm>
            <a:off x="6924675" y="4486275"/>
            <a:ext cx="45243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维护复用节奏、新鲜度和准入预算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" y="48387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romotions_"/>
          <p:cNvSpPr txBox="1"/>
          <p:nvPr/>
        </p:nvSpPr>
        <p:spPr>
          <a:xfrm>
            <a:off x="742950" y="4943475"/>
            <a:ext cx="16287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1" lang="zh-CN">
                <a:solidFill>
                  <a:srgbClr val="24756D"/>
                </a:solidFill>
                <a:latin typeface="Microsoft YaHei"/>
                <a:ea typeface="Microsoft YaHei"/>
              </a:rPr>
              <a:t>promotions_</a:t>
            </a:r>
          </a:p>
        </p:txBody>
      </p:sp>
      <p:sp>
        <p:nvSpPr>
          <p:cNvPr id="35" name="在途提升及 pending_keys_ 去重集合"/>
          <p:cNvSpPr txBox="1"/>
          <p:nvPr/>
        </p:nvSpPr>
        <p:spPr>
          <a:xfrm>
            <a:off x="2638425" y="4943475"/>
            <a:ext cx="4019549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在途提升及 pending_keys_ 去重集合</a:t>
            </a:r>
          </a:p>
        </p:txBody>
      </p:sp>
      <p:sp>
        <p:nvSpPr>
          <p:cNvPr id="36" name="sync_promotions() 清理；避免同键重复投入"/>
          <p:cNvSpPr txBox="1"/>
          <p:nvPr/>
        </p:nvSpPr>
        <p:spPr>
          <a:xfrm>
            <a:off x="6924675" y="4943475"/>
            <a:ext cx="4524375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1F2937"/>
                </a:solidFill>
                <a:latin typeface="Microsoft YaHei"/>
                <a:ea typeface="Microsoft YaHei"/>
              </a:rPr>
              <a:t>sync_promotions() 清理；避免同键重复投入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" y="52959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09600" y="5543550"/>
            <a:ext cx="10972800" cy="457200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缓存键 = 卡号 + SSD 起点 + 完整长度；目标 HBM 地址不在键中，不同卡使用不同键。"/>
          <p:cNvSpPr txBox="1"/>
          <p:nvPr/>
        </p:nvSpPr>
        <p:spPr>
          <a:xfrm>
            <a:off x="781050" y="5648325"/>
            <a:ext cx="106299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4756D"/>
                </a:solidFill>
                <a:latin typeface="Microsoft YaHei"/>
                <a:ea typeface="Microsoft YaHei"/>
              </a:rPr>
              <a:t>缓存键 = 卡号 + SSD 起点 + 完整长度；目标 HBM 地址不在键中，不同卡使用不同键。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算法复杂度 · 规划时间与内存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算法复杂度 · 规划时间与内存</a:t>
            </a:r>
          </a:p>
        </p:txBody>
      </p:sp>
      <p:sp>
        <p:nvSpPr>
          <p:cNvPr id="3" name="用有限窗口与搜索预算，控制在线调度开销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用有限窗口与搜索预算，控制在线调度开销</a:t>
            </a:r>
          </a:p>
        </p:txBody>
      </p:sp>
      <p:sp>
        <p:nvSpPr>
          <p:cNvPr id="4" name="n = 片段数，W = 窗口（最多128），cnt = 组数；V / Vmax = 总 / 单请求最多 iov 数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n = 片段数，W = 窗口（最多128），cnt = 组数；V / Vmax = 总 / 单请求最多 iov 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7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14550"/>
            <a:ext cx="2266950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开销项"/>
          <p:cNvSpPr txBox="1"/>
          <p:nvPr/>
        </p:nvSpPr>
        <p:spPr>
          <a:xfrm>
            <a:off x="742950" y="2190750"/>
            <a:ext cx="200025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开销项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6550" y="2114550"/>
            <a:ext cx="4333875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时间复杂度"/>
          <p:cNvSpPr txBox="1"/>
          <p:nvPr/>
        </p:nvSpPr>
        <p:spPr>
          <a:xfrm>
            <a:off x="3009900" y="2190750"/>
            <a:ext cx="4067175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时间复杂度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0425" y="2114550"/>
            <a:ext cx="4371975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空间复杂度"/>
          <p:cNvSpPr txBox="1"/>
          <p:nvPr/>
        </p:nvSpPr>
        <p:spPr>
          <a:xfrm>
            <a:off x="7343775" y="2190750"/>
            <a:ext cx="4105274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空间复杂度</a:t>
            </a:r>
          </a:p>
        </p:txBody>
      </p:sp>
      <p:sp>
        <p:nvSpPr>
          <p:cNvPr id="14" name="索引与排序"/>
          <p:cNvSpPr txBox="1"/>
          <p:nvPr/>
        </p:nvSpPr>
        <p:spPr>
          <a:xfrm>
            <a:off x="742950" y="2676525"/>
            <a:ext cx="200025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1" lang="zh-CN">
                <a:solidFill>
                  <a:srgbClr val="1F2937"/>
                </a:solidFill>
                <a:latin typeface="Microsoft YaHei"/>
                <a:ea typeface="Microsoft YaHei"/>
              </a:rPr>
              <a:t>索引与排序</a:t>
            </a:r>
          </a:p>
        </p:txBody>
      </p:sp>
      <p:sp>
        <p:nvSpPr>
          <p:cNvPr id="15" name="建索引 O(V)，片段排序 O(n log n)"/>
          <p:cNvSpPr txBox="1"/>
          <p:nvPr/>
        </p:nvSpPr>
        <p:spPr>
          <a:xfrm>
            <a:off x="3009900" y="2676525"/>
            <a:ext cx="40671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建索引 O(V)，片段排序 O(n log n)</a:t>
            </a:r>
          </a:p>
        </p:txBody>
      </p:sp>
      <p:sp>
        <p:nvSpPr>
          <p:cNvPr id="16" name="索引和片段 O(V+n)"/>
          <p:cNvSpPr txBox="1"/>
          <p:nvPr/>
        </p:nvSpPr>
        <p:spPr>
          <a:xfrm>
            <a:off x="7343775" y="2676525"/>
            <a:ext cx="4105274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索引和片段 O(V+n)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298132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候选组枚举"/>
          <p:cNvSpPr txBox="1"/>
          <p:nvPr/>
        </p:nvSpPr>
        <p:spPr>
          <a:xfrm>
            <a:off x="742950" y="3076575"/>
            <a:ext cx="200025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1" lang="zh-CN">
                <a:solidFill>
                  <a:srgbClr val="1F2937"/>
                </a:solidFill>
                <a:latin typeface="Microsoft YaHei"/>
                <a:ea typeface="Microsoft YaHei"/>
              </a:rPr>
              <a:t>候选组枚举</a:t>
            </a:r>
          </a:p>
        </p:txBody>
      </p:sp>
      <p:sp>
        <p:nvSpPr>
          <p:cNvPr id="19" name="O(nW log(W+1))：含 owners 集合插入"/>
          <p:cNvSpPr txBox="1"/>
          <p:nvPr/>
        </p:nvSpPr>
        <p:spPr>
          <a:xfrm>
            <a:off x="3009900" y="3076575"/>
            <a:ext cx="40671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O(nW log(W+1))：含 owners 集合插入</a:t>
            </a:r>
          </a:p>
        </p:txBody>
      </p:sp>
      <p:sp>
        <p:nvSpPr>
          <p:cNvPr id="20" name="owners 临时空间 O(W)"/>
          <p:cNvSpPr txBox="1"/>
          <p:nvPr/>
        </p:nvSpPr>
        <p:spPr>
          <a:xfrm>
            <a:off x="7343775" y="3076575"/>
            <a:ext cx="4105274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owners 临时空间 O(W)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" y="338137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快速 DP 转移"/>
          <p:cNvSpPr txBox="1"/>
          <p:nvPr/>
        </p:nvSpPr>
        <p:spPr>
          <a:xfrm>
            <a:off x="742950" y="3476625"/>
            <a:ext cx="200025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1" lang="zh-CN">
                <a:solidFill>
                  <a:srgbClr val="1F2937"/>
                </a:solidFill>
                <a:latin typeface="Microsoft YaHei"/>
                <a:ea typeface="Microsoft YaHei"/>
              </a:rPr>
              <a:t>快速 DP 转移</a:t>
            </a:r>
          </a:p>
        </p:txBody>
      </p:sp>
      <p:sp>
        <p:nvSpPr>
          <p:cNvPr id="23" name="O(nW)：每组比较 3 条路径"/>
          <p:cNvSpPr txBox="1"/>
          <p:nvPr/>
        </p:nvSpPr>
        <p:spPr>
          <a:xfrm>
            <a:off x="3009900" y="3476625"/>
            <a:ext cx="40671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O(nW)：每组比较 3 条路径</a:t>
            </a:r>
          </a:p>
        </p:txBody>
      </p:sp>
      <p:sp>
        <p:nvSpPr>
          <p:cNvPr id="24" name="dp / prev / paths 为 O(n)"/>
          <p:cNvSpPr txBox="1"/>
          <p:nvPr/>
        </p:nvSpPr>
        <p:spPr>
          <a:xfrm>
            <a:off x="7343775" y="3476625"/>
            <a:ext cx="4105274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dp / prev / paths 为 O(n)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378142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细化 DP（固定 cnt）"/>
          <p:cNvSpPr txBox="1"/>
          <p:nvPr/>
        </p:nvSpPr>
        <p:spPr>
          <a:xfrm>
            <a:off x="742950" y="3876674"/>
            <a:ext cx="200025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1" lang="zh-CN">
                <a:solidFill>
                  <a:srgbClr val="1F2937"/>
                </a:solidFill>
                <a:latin typeface="Microsoft YaHei"/>
                <a:ea typeface="Microsoft YaHei"/>
              </a:rPr>
              <a:t>细化 DP（固定 cnt）</a:t>
            </a:r>
          </a:p>
        </p:txBody>
      </p:sp>
      <p:sp>
        <p:nvSpPr>
          <p:cNvPr id="27" name="最坏 O(cnt × n × W)"/>
          <p:cNvSpPr txBox="1"/>
          <p:nvPr/>
        </p:nvSpPr>
        <p:spPr>
          <a:xfrm>
            <a:off x="3009900" y="3876674"/>
            <a:ext cx="40671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最坏 O(cnt × n × W)</a:t>
            </a:r>
          </a:p>
        </p:txBody>
      </p:sp>
      <p:sp>
        <p:nvSpPr>
          <p:cNvPr id="28" name="状态 O(cnt × n)，合法边 O(nW)"/>
          <p:cNvSpPr txBox="1"/>
          <p:nvPr/>
        </p:nvSpPr>
        <p:spPr>
          <a:xfrm>
            <a:off x="7343775" y="3876674"/>
            <a:ext cx="4105274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状态 O(cnt × n)，合法边 O(nW)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418147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映射与输出"/>
          <p:cNvSpPr txBox="1"/>
          <p:nvPr/>
        </p:nvSpPr>
        <p:spPr>
          <a:xfrm>
            <a:off x="742950" y="4276725"/>
            <a:ext cx="200025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1" lang="zh-CN">
                <a:solidFill>
                  <a:srgbClr val="1F2937"/>
                </a:solidFill>
                <a:latin typeface="Microsoft YaHei"/>
                <a:ea typeface="Microsoft YaHei"/>
              </a:rPr>
              <a:t>映射与输出</a:t>
            </a:r>
          </a:p>
        </p:txBody>
      </p:sp>
      <p:sp>
        <p:nvSpPr>
          <p:cNvPr id="31" name="约 O(n log Vmax + L)"/>
          <p:cNvSpPr txBox="1"/>
          <p:nvPr/>
        </p:nvSpPr>
        <p:spPr>
          <a:xfrm>
            <a:off x="3009900" y="4276725"/>
            <a:ext cx="40671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约 O(n log Vmax + L)</a:t>
            </a:r>
          </a:p>
        </p:txBody>
      </p:sp>
      <p:sp>
        <p:nvSpPr>
          <p:cNvPr id="32" name="O(L)，L 为片段与目标 iov 的交集数"/>
          <p:cNvSpPr txBox="1"/>
          <p:nvPr/>
        </p:nvSpPr>
        <p:spPr>
          <a:xfrm>
            <a:off x="7343775" y="4276725"/>
            <a:ext cx="4105274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O(L)，L 为片段与目标 iov 的交集数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" y="458152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后台同步 / 扫描"/>
          <p:cNvSpPr txBox="1"/>
          <p:nvPr/>
        </p:nvSpPr>
        <p:spPr>
          <a:xfrm>
            <a:off x="742950" y="4676775"/>
            <a:ext cx="200025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1" lang="zh-CN">
                <a:solidFill>
                  <a:srgbClr val="1F2937"/>
                </a:solidFill>
                <a:latin typeface="Microsoft YaHei"/>
                <a:ea typeface="Microsoft YaHei"/>
              </a:rPr>
              <a:t>后台同步 / 扫描</a:t>
            </a:r>
          </a:p>
        </p:txBody>
      </p:sp>
      <p:sp>
        <p:nvSpPr>
          <p:cNvPr id="35" name="O(R log(R+1)+A)，另有状态查表"/>
          <p:cNvSpPr txBox="1"/>
          <p:nvPr/>
        </p:nvSpPr>
        <p:spPr>
          <a:xfrm>
            <a:off x="3009900" y="4676775"/>
            <a:ext cx="4067175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O(R log(R+1)+A)，另有状态查表</a:t>
            </a:r>
          </a:p>
        </p:txBody>
      </p:sp>
      <p:sp>
        <p:nvSpPr>
          <p:cNvPr id="36" name="临时 O(R)，持久 O(H+U+R)"/>
          <p:cNvSpPr txBox="1"/>
          <p:nvPr/>
        </p:nvSpPr>
        <p:spPr>
          <a:xfrm>
            <a:off x="7343775" y="4676775"/>
            <a:ext cx="4105274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25" b="0" lang="zh-CN">
                <a:solidFill>
                  <a:srgbClr val="1F2937"/>
                </a:solidFill>
                <a:latin typeface="Microsoft YaHei"/>
                <a:ea typeface="Microsoft YaHei"/>
              </a:rPr>
              <a:t>临时 O(R)，持久 O(H+U+R)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" y="498157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细化搜索：单次至多 131072 个存储状态；每批共享 200 万次边估价 / 转移预算。"/>
          <p:cNvSpPr txBox="1"/>
          <p:nvPr/>
        </p:nvSpPr>
        <p:spPr>
          <a:xfrm>
            <a:off x="609600" y="5067300"/>
            <a:ext cx="10972800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细化搜索：单次至多 131072 个存储状态；每批共享 200 万次边估价 / 转移预算。</a:t>
            </a:r>
          </a:p>
        </p:txBody>
      </p:sp>
      <p:sp>
        <p:nvSpPr>
          <p:cNvPr id="39" name="R / A = 在途提升 / 活动传输数；H / U = 历史记录 / 未完成请求数（历史含更新队列）。 总空间计入输入索引、活动请求和输出映射；搜索预算约束细化 DP 的估价与转移。"/>
          <p:cNvSpPr txBox="1"/>
          <p:nvPr/>
        </p:nvSpPr>
        <p:spPr>
          <a:xfrm>
            <a:off x="609600" y="5534025"/>
            <a:ext cx="10972800" cy="5334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R / A = 在途提升 / 活动传输数；H / U = 历史记录 / 未完成请求数（历史含更新队列）。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总空间计入输入索引、活动请求和输出映射；搜索预算约束细化 DP 的估价与转移。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调度算法开销 · 实测时间与空间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调度算法开销 · 实测时间与空间</a:t>
            </a:r>
          </a:p>
        </p:txBody>
      </p:sp>
      <p:sp>
        <p:nvSpPr>
          <p:cNvPr id="3" name="进程总耗时下降 14.4%，RSS 峰值下降 33.3%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进程总耗时下降 14.4%，RSS 峰值下降 33.3%</a:t>
            </a:r>
          </a:p>
        </p:txBody>
      </p:sp>
      <p:sp>
        <p:nvSpPr>
          <p:cNvPr id="4" name="39 条公开输入：同一计量入口，每例预热一次，交替测三轮；时间取逐例中位数再求和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39 条公开输入：同一计量入口，每例预热一次，交替测三轮；时间取逐例中位数再求和。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8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52650"/>
            <a:ext cx="3276600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指标"/>
          <p:cNvSpPr txBox="1"/>
          <p:nvPr/>
        </p:nvSpPr>
        <p:spPr>
          <a:xfrm>
            <a:off x="742950" y="2228850"/>
            <a:ext cx="300990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152650"/>
            <a:ext cx="1962150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官方贪心"/>
          <p:cNvSpPr txBox="1"/>
          <p:nvPr/>
        </p:nvSpPr>
        <p:spPr>
          <a:xfrm>
            <a:off x="4019549" y="2228850"/>
            <a:ext cx="169545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官方贪心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8350" y="2152650"/>
            <a:ext cx="2057400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本方案"/>
          <p:cNvSpPr txBox="1"/>
          <p:nvPr/>
        </p:nvSpPr>
        <p:spPr>
          <a:xfrm>
            <a:off x="5981700" y="2228850"/>
            <a:ext cx="179070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本方案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5750" y="2152650"/>
            <a:ext cx="3676649" cy="409575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怎样理解"/>
          <p:cNvSpPr txBox="1"/>
          <p:nvPr/>
        </p:nvSpPr>
        <p:spPr>
          <a:xfrm>
            <a:off x="8039099" y="2228850"/>
            <a:ext cx="3409950" cy="2857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1" lang="zh-CN">
                <a:solidFill>
                  <a:srgbClr val="285EA8"/>
                </a:solidFill>
                <a:latin typeface="Microsoft YaHei"/>
                <a:ea typeface="Microsoft YaHei"/>
              </a:rPr>
              <a:t>怎样理解</a:t>
            </a:r>
          </a:p>
        </p:txBody>
      </p:sp>
      <p:sp>
        <p:nvSpPr>
          <p:cNvPr id="16" name="策略回调时间"/>
          <p:cNvSpPr txBox="1"/>
          <p:nvPr/>
        </p:nvSpPr>
        <p:spPr>
          <a:xfrm>
            <a:off x="742950" y="2800350"/>
            <a:ext cx="30099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策略回调时间</a:t>
            </a:r>
          </a:p>
        </p:txBody>
      </p:sp>
      <p:sp>
        <p:nvSpPr>
          <p:cNvPr id="17" name="0.831s"/>
          <p:cNvSpPr txBox="1"/>
          <p:nvPr/>
        </p:nvSpPr>
        <p:spPr>
          <a:xfrm>
            <a:off x="4019549" y="2800350"/>
            <a:ext cx="16954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0.831s</a:t>
            </a:r>
          </a:p>
        </p:txBody>
      </p:sp>
      <p:sp>
        <p:nvSpPr>
          <p:cNvPr id="18" name="1.153s"/>
          <p:cNvSpPr txBox="1"/>
          <p:nvPr/>
        </p:nvSpPr>
        <p:spPr>
          <a:xfrm>
            <a:off x="5981700" y="2800350"/>
            <a:ext cx="17907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1.153s</a:t>
            </a:r>
          </a:p>
        </p:txBody>
      </p:sp>
      <p:sp>
        <p:nvSpPr>
          <p:cNvPr id="19" name="单独计量两个策略回调"/>
          <p:cNvSpPr txBox="1"/>
          <p:nvPr/>
        </p:nvSpPr>
        <p:spPr>
          <a:xfrm>
            <a:off x="8039099" y="2800350"/>
            <a:ext cx="34099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单独计量两个策略回调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" y="320992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程序总耗时（墙钟）"/>
          <p:cNvSpPr txBox="1"/>
          <p:nvPr/>
        </p:nvSpPr>
        <p:spPr>
          <a:xfrm>
            <a:off x="742950" y="3352800"/>
            <a:ext cx="30099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程序总耗时（墙钟）</a:t>
            </a:r>
          </a:p>
        </p:txBody>
      </p:sp>
      <p:sp>
        <p:nvSpPr>
          <p:cNvPr id="22" name="10.969s"/>
          <p:cNvSpPr txBox="1"/>
          <p:nvPr/>
        </p:nvSpPr>
        <p:spPr>
          <a:xfrm>
            <a:off x="4019549" y="3352800"/>
            <a:ext cx="16954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10.969s</a:t>
            </a:r>
          </a:p>
        </p:txBody>
      </p:sp>
      <p:sp>
        <p:nvSpPr>
          <p:cNvPr id="23" name="9.393s"/>
          <p:cNvSpPr txBox="1"/>
          <p:nvPr/>
        </p:nvSpPr>
        <p:spPr>
          <a:xfrm>
            <a:off x="5981700" y="3352800"/>
            <a:ext cx="17907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9.393s</a:t>
            </a:r>
          </a:p>
        </p:txBody>
      </p:sp>
      <p:sp>
        <p:nvSpPr>
          <p:cNvPr id="24" name="包含框架与读写，约 −14.4%"/>
          <p:cNvSpPr txBox="1"/>
          <p:nvPr/>
        </p:nvSpPr>
        <p:spPr>
          <a:xfrm>
            <a:off x="8039099" y="3352800"/>
            <a:ext cx="34099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包含框架与读写，约 −14.4%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3762374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策略堆峰值"/>
          <p:cNvSpPr txBox="1"/>
          <p:nvPr/>
        </p:nvSpPr>
        <p:spPr>
          <a:xfrm>
            <a:off x="742950" y="3905249"/>
            <a:ext cx="30099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策略堆峰值</a:t>
            </a:r>
          </a:p>
        </p:txBody>
      </p:sp>
      <p:sp>
        <p:nvSpPr>
          <p:cNvPr id="27" name="12.90MiB"/>
          <p:cNvSpPr txBox="1"/>
          <p:nvPr/>
        </p:nvSpPr>
        <p:spPr>
          <a:xfrm>
            <a:off x="4019549" y="3905249"/>
            <a:ext cx="16954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12.90MiB</a:t>
            </a:r>
          </a:p>
        </p:txBody>
      </p:sp>
      <p:sp>
        <p:nvSpPr>
          <p:cNvPr id="28" name="12.34MiB"/>
          <p:cNvSpPr txBox="1"/>
          <p:nvPr/>
        </p:nvSpPr>
        <p:spPr>
          <a:xfrm>
            <a:off x="5981700" y="3905249"/>
            <a:ext cx="17907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12.34MiB</a:t>
            </a:r>
          </a:p>
        </p:txBody>
      </p:sp>
      <p:sp>
        <p:nvSpPr>
          <p:cNvPr id="29" name="仅统计策略堆分配"/>
          <p:cNvSpPr txBox="1"/>
          <p:nvPr/>
        </p:nvSpPr>
        <p:spPr>
          <a:xfrm>
            <a:off x="8039099" y="3905249"/>
            <a:ext cx="34099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仅统计策略堆分配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600" y="431482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进程峰值内存（RSS）"/>
          <p:cNvSpPr txBox="1"/>
          <p:nvPr/>
        </p:nvSpPr>
        <p:spPr>
          <a:xfrm>
            <a:off x="742950" y="4457700"/>
            <a:ext cx="30099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进程峰值内存（RSS）</a:t>
            </a:r>
          </a:p>
        </p:txBody>
      </p:sp>
      <p:sp>
        <p:nvSpPr>
          <p:cNvPr id="32" name="393.78MiB"/>
          <p:cNvSpPr txBox="1"/>
          <p:nvPr/>
        </p:nvSpPr>
        <p:spPr>
          <a:xfrm>
            <a:off x="4019549" y="4457700"/>
            <a:ext cx="16954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393.78MiB</a:t>
            </a:r>
          </a:p>
        </p:txBody>
      </p:sp>
      <p:sp>
        <p:nvSpPr>
          <p:cNvPr id="33" name="262.53MiB"/>
          <p:cNvSpPr txBox="1"/>
          <p:nvPr/>
        </p:nvSpPr>
        <p:spPr>
          <a:xfrm>
            <a:off x="5981700" y="4457700"/>
            <a:ext cx="17907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262.53MiB</a:t>
            </a:r>
          </a:p>
        </p:txBody>
      </p:sp>
      <p:sp>
        <p:nvSpPr>
          <p:cNvPr id="34" name="包含框架、输入输出等进程内存"/>
          <p:cNvSpPr txBox="1"/>
          <p:nvPr/>
        </p:nvSpPr>
        <p:spPr>
          <a:xfrm>
            <a:off x="8039099" y="4457700"/>
            <a:ext cx="340995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0" lang="zh-CN">
                <a:solidFill>
                  <a:srgbClr val="1F2937"/>
                </a:solidFill>
                <a:latin typeface="Microsoft YaHei"/>
                <a:ea typeface="Microsoft YaHei"/>
              </a:rPr>
              <a:t>包含框架、输入输出等进程内存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" y="486727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策略堆峰值 12.34MiB；策略回调单独计时，进程总耗时包含框架执行与输入输出。"/>
          <p:cNvSpPr txBox="1"/>
          <p:nvPr/>
        </p:nvSpPr>
        <p:spPr>
          <a:xfrm>
            <a:off x="609600" y="5133975"/>
            <a:ext cx="1097280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85EA8"/>
                </a:solidFill>
                <a:latin typeface="Microsoft YaHei"/>
                <a:ea typeface="Microsoft YaHei"/>
              </a:rPr>
              <a:t>策略堆峰值 12.34MiB；策略回调单独计时，进程总耗时包含框架执行与输入输出。</a:t>
            </a:r>
          </a:p>
        </p:txBody>
      </p:sp>
      <p:sp>
        <p:nvSpPr>
          <p:cNvPr id="37" name="本机秒数与 J 中的模拟搬运时间分开统计。内存取三轮中的峰值；程序总耗时不含编译、 预热与独立 validator。环境：AMD EPYC 9575F，固定 CPU 8，g++ 13.3 / -O2。"/>
          <p:cNvSpPr txBox="1"/>
          <p:nvPr/>
        </p:nvSpPr>
        <p:spPr>
          <a:xfrm>
            <a:off x="609600" y="5610225"/>
            <a:ext cx="10972800" cy="52387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本机秒数与 J 中的模拟搬运时间分开统计。内存取三轮中的峰值；程序总耗时不含编译、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预热与独立 validator。环境：AMD EPYC 9575F，固定 CPU 8，g++ 13.3 / -O2。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性能对比 · 前台指标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性能对比 · 前台指标</a:t>
            </a:r>
          </a:p>
        </p:txBody>
      </p:sp>
      <p:sp>
        <p:nvSpPr>
          <p:cNvPr id="3" name="前台：操作数减少 53.85%，调用费减少 66.82%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前台：操作数减少 53.85%，调用费减少 66.82%</a:t>
            </a:r>
          </a:p>
        </p:txBody>
      </p:sp>
      <p:sp>
        <p:nvSpPr>
          <p:cNvPr id="4" name="39 条公开输入；仅统计前台 operation，排除 PROMOTE 和框架命中复制。每组柱形从零起算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39 条公开输入；仅统计前台 operation，排除 PROMOTE 和框架命中复制。每组柱形从零起算。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9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8" name="读操作数"/>
          <p:cNvSpPr txBox="1"/>
          <p:nvPr/>
        </p:nvSpPr>
        <p:spPr>
          <a:xfrm>
            <a:off x="609600" y="2124075"/>
            <a:ext cx="335280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50" b="1" lang="zh-CN">
                <a:solidFill>
                  <a:srgbClr val="285EA8"/>
                </a:solidFill>
                <a:latin typeface="Microsoft YaHei"/>
                <a:ea typeface="Microsoft YaHei"/>
              </a:rPr>
              <a:t>读操作数</a:t>
            </a:r>
          </a:p>
        </p:txBody>
      </p:sp>
      <p:sp>
        <p:nvSpPr>
          <p:cNvPr id="9" name="官方贪心  177,180 次"/>
          <p:cNvSpPr txBox="1"/>
          <p:nvPr/>
        </p:nvSpPr>
        <p:spPr>
          <a:xfrm>
            <a:off x="609600" y="2571750"/>
            <a:ext cx="33528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官方贪心  177,180 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905125"/>
            <a:ext cx="3238500" cy="180975"/>
          </a:xfrm>
          <a:prstGeom prst="rect">
            <a:avLst/>
          </a:prstGeom>
          <a:solidFill>
            <a:srgbClr val="C8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本方案  81,768 次"/>
          <p:cNvSpPr txBox="1"/>
          <p:nvPr/>
        </p:nvSpPr>
        <p:spPr>
          <a:xfrm>
            <a:off x="609600" y="3228975"/>
            <a:ext cx="33528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本方案  81,768 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562350"/>
            <a:ext cx="1494557" cy="180975"/>
          </a:xfrm>
          <a:prstGeom prst="rect">
            <a:avLst/>
          </a:prstGeom>
          <a:solidFill>
            <a:srgbClr val="28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减少 53.85%"/>
          <p:cNvSpPr txBox="1"/>
          <p:nvPr/>
        </p:nvSpPr>
        <p:spPr>
          <a:xfrm>
            <a:off x="609600" y="3905249"/>
            <a:ext cx="3352800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85EA8"/>
                </a:solidFill>
                <a:latin typeface="Microsoft YaHei"/>
                <a:ea typeface="Microsoft YaHei"/>
              </a:rPr>
              <a:t>减少 53.85%</a:t>
            </a:r>
          </a:p>
        </p:txBody>
      </p:sp>
      <p:sp>
        <p:nvSpPr>
          <p:cNvPr id="14" name="物理 SSD 读取量"/>
          <p:cNvSpPr txBox="1"/>
          <p:nvPr/>
        </p:nvSpPr>
        <p:spPr>
          <a:xfrm>
            <a:off x="4343400" y="2124075"/>
            <a:ext cx="335280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50" b="1" lang="zh-CN">
                <a:solidFill>
                  <a:srgbClr val="285EA8"/>
                </a:solidFill>
                <a:latin typeface="Microsoft YaHei"/>
                <a:ea typeface="Microsoft YaHei"/>
              </a:rPr>
              <a:t>物理 SSD 读取量</a:t>
            </a:r>
          </a:p>
        </p:txBody>
      </p:sp>
      <p:sp>
        <p:nvSpPr>
          <p:cNvPr id="15" name="官方贪心  38.56 GiB"/>
          <p:cNvSpPr txBox="1"/>
          <p:nvPr/>
        </p:nvSpPr>
        <p:spPr>
          <a:xfrm>
            <a:off x="4343400" y="2571750"/>
            <a:ext cx="33528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官方贪心  38.56 GiB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905125"/>
            <a:ext cx="3238500" cy="180975"/>
          </a:xfrm>
          <a:prstGeom prst="rect">
            <a:avLst/>
          </a:prstGeom>
          <a:solidFill>
            <a:srgbClr val="C8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本方案  32.91 GiB"/>
          <p:cNvSpPr txBox="1"/>
          <p:nvPr/>
        </p:nvSpPr>
        <p:spPr>
          <a:xfrm>
            <a:off x="4343400" y="3228975"/>
            <a:ext cx="33528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本方案  32.91 GiB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562350"/>
            <a:ext cx="2763835" cy="180975"/>
          </a:xfrm>
          <a:prstGeom prst="rect">
            <a:avLst/>
          </a:prstGeom>
          <a:solidFill>
            <a:srgbClr val="28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减少 14.66%"/>
          <p:cNvSpPr txBox="1"/>
          <p:nvPr/>
        </p:nvSpPr>
        <p:spPr>
          <a:xfrm>
            <a:off x="4343400" y="3905249"/>
            <a:ext cx="3352800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85EA8"/>
                </a:solidFill>
                <a:latin typeface="Microsoft YaHei"/>
                <a:ea typeface="Microsoft YaHei"/>
              </a:rPr>
              <a:t>减少 14.66%</a:t>
            </a:r>
          </a:p>
        </p:txBody>
      </p:sp>
      <p:sp>
        <p:nvSpPr>
          <p:cNvPr id="20" name="CPU + NPU 调用费"/>
          <p:cNvSpPr txBox="1"/>
          <p:nvPr/>
        </p:nvSpPr>
        <p:spPr>
          <a:xfrm>
            <a:off x="8077200" y="2124075"/>
            <a:ext cx="350520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50" b="1" lang="zh-CN">
                <a:solidFill>
                  <a:srgbClr val="285EA8"/>
                </a:solidFill>
                <a:latin typeface="Microsoft YaHei"/>
                <a:ea typeface="Microsoft YaHei"/>
              </a:rPr>
              <a:t>CPU + NPU 调用费</a:t>
            </a:r>
          </a:p>
        </p:txBody>
      </p:sp>
      <p:sp>
        <p:nvSpPr>
          <p:cNvPr id="21" name="官方贪心  610,928"/>
          <p:cNvSpPr txBox="1"/>
          <p:nvPr/>
        </p:nvSpPr>
        <p:spPr>
          <a:xfrm>
            <a:off x="8077200" y="2571750"/>
            <a:ext cx="35052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75" b="0" lang="zh-CN">
                <a:solidFill>
                  <a:srgbClr val="657184"/>
                </a:solidFill>
                <a:latin typeface="Microsoft YaHei"/>
                <a:ea typeface="Microsoft YaHei"/>
              </a:rPr>
              <a:t>官方贪心  610,928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7200" y="2905125"/>
            <a:ext cx="3390900" cy="180975"/>
          </a:xfrm>
          <a:prstGeom prst="rect">
            <a:avLst/>
          </a:prstGeom>
          <a:solidFill>
            <a:srgbClr val="C8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本方案  202,731"/>
          <p:cNvSpPr txBox="1"/>
          <p:nvPr/>
        </p:nvSpPr>
        <p:spPr>
          <a:xfrm>
            <a:off x="8077200" y="3228975"/>
            <a:ext cx="3505200" cy="2762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285EA8"/>
                </a:solidFill>
                <a:latin typeface="Microsoft YaHei"/>
                <a:ea typeface="Microsoft YaHei"/>
              </a:rPr>
              <a:t>本方案  202,731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7200" y="3562350"/>
            <a:ext cx="1125239" cy="180975"/>
          </a:xfrm>
          <a:prstGeom prst="rect">
            <a:avLst/>
          </a:prstGeom>
          <a:solidFill>
            <a:srgbClr val="28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减少 66.82%"/>
          <p:cNvSpPr txBox="1"/>
          <p:nvPr/>
        </p:nvSpPr>
        <p:spPr>
          <a:xfrm>
            <a:off x="8077200" y="3905249"/>
            <a:ext cx="3505200" cy="2952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75" b="1" lang="zh-CN">
                <a:solidFill>
                  <a:srgbClr val="285EA8"/>
                </a:solidFill>
                <a:latin typeface="Microsoft YaHei"/>
                <a:ea typeface="Microsoft YaHei"/>
              </a:rPr>
              <a:t>减少 66.82%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" y="4410075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联合分组减少 operation， 少付重复的操作固定费。"/>
          <p:cNvSpPr txBox="1"/>
          <p:nvPr/>
        </p:nvSpPr>
        <p:spPr>
          <a:xfrm>
            <a:off x="609600" y="4600575"/>
            <a:ext cx="3352800" cy="6000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联合分组减少 operation，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少付重复的操作固定费。</a:t>
            </a:r>
          </a:p>
        </p:txBody>
      </p:sp>
      <p:sp>
        <p:nvSpPr>
          <p:cNvPr id="28" name="合并重叠请求可共享物理读； 缓存也会改变前台请求集合。"/>
          <p:cNvSpPr txBox="1"/>
          <p:nvPr/>
        </p:nvSpPr>
        <p:spPr>
          <a:xfrm>
            <a:off x="4343400" y="4600575"/>
            <a:ext cx="3352800" cy="6000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合并重叠请求可共享物理读；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缓存也会改变前台请求集合。</a:t>
            </a:r>
          </a:p>
        </p:txBody>
      </p:sp>
      <p:sp>
        <p:nvSpPr>
          <p:cNvPr id="29" name="边界与路径一起估价， 减少操作及昂贵路径的调用。"/>
          <p:cNvSpPr txBox="1"/>
          <p:nvPr/>
        </p:nvSpPr>
        <p:spPr>
          <a:xfrm>
            <a:off x="8077200" y="4600575"/>
            <a:ext cx="3505200" cy="6000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边界与路径一起估价，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1F2937"/>
                </a:solidFill>
                <a:latin typeface="Microsoft YaHei"/>
                <a:ea typeface="Microsoft YaHei"/>
              </a:rPr>
              <a:t>减少操作及昂贵路径的调用。</a:t>
            </a:r>
          </a:p>
        </p:txBody>
      </p:sp>
      <p:sp>
        <p:nvSpPr>
          <p:cNvPr id="30" name="整体：自动分 67.1981 → 88.4555 / 90；39 条总 J 下降 36.51%，35 胜 / 4 平 / 0 负。"/>
          <p:cNvSpPr txBox="1"/>
          <p:nvPr/>
        </p:nvSpPr>
        <p:spPr>
          <a:xfrm>
            <a:off x="609600" y="5381625"/>
            <a:ext cx="10972800" cy="3238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lang="zh-CN">
                <a:solidFill>
                  <a:srgbClr val="285EA8"/>
                </a:solidFill>
                <a:latin typeface="Microsoft YaHei"/>
                <a:ea typeface="Microsoft YaHei"/>
              </a:rPr>
              <a:t>整体：自动分 67.1981 → 88.4555 / 90；39 条总 J 下降 36.51%，35 胜 / 4 平 / 0 负。</a:t>
            </a:r>
          </a:p>
        </p:txBody>
      </p:sp>
      <p:sp>
        <p:nvSpPr>
          <p:cNvPr id="31" name="验证：655 条 × 3 轮合法且一致，173 项检查通过。以上是整套方案对照，不能独立归因给单一模块。"/>
          <p:cNvSpPr txBox="1"/>
          <p:nvPr/>
        </p:nvSpPr>
        <p:spPr>
          <a:xfrm>
            <a:off x="609600" y="5838825"/>
            <a:ext cx="10972800" cy="2667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lang="zh-CN">
                <a:solidFill>
                  <a:srgbClr val="657184"/>
                </a:solidFill>
                <a:latin typeface="Microsoft YaHei"/>
                <a:ea typeface="Microsoft YaHei"/>
              </a:rPr>
              <a:t>验证：655 条 × 3 轮合法且一致，173 项检查通过。以上是整套方案对照，不能独立归因给单一模块。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性能对比 · 后台指标"/>
          <p:cNvSpPr txBox="1"/>
          <p:nvPr/>
        </p:nvSpPr>
        <p:spPr>
          <a:xfrm>
            <a:off x="609600" y="333375"/>
            <a:ext cx="10572750" cy="2381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zh-CN">
                <a:solidFill>
                  <a:srgbClr val="285EA8"/>
                </a:solidFill>
                <a:latin typeface="Microsoft YaHei"/>
                <a:ea typeface="Microsoft YaHei"/>
              </a:rPr>
              <a:t>性能对比 · 后台指标</a:t>
            </a:r>
          </a:p>
        </p:txBody>
      </p:sp>
      <p:sp>
        <p:nvSpPr>
          <p:cNvPr id="3" name="后台：总调用费更少，每次命中分摊的投入更低"/>
          <p:cNvSpPr txBox="1"/>
          <p:nvPr/>
        </p:nvSpPr>
        <p:spPr>
          <a:xfrm>
            <a:off x="609600" y="752475"/>
            <a:ext cx="10972800" cy="609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75" b="1" lang="zh-CN">
                <a:solidFill>
                  <a:srgbClr val="1F2937"/>
                </a:solidFill>
                <a:latin typeface="Microsoft YaHei"/>
                <a:ea typeface="Microsoft YaHei"/>
              </a:rPr>
              <a:t>后台：总调用费更少，每次命中分摊的投入更低</a:t>
            </a:r>
          </a:p>
        </p:txBody>
      </p:sp>
      <p:sp>
        <p:nvSpPr>
          <p:cNvPr id="4" name="39 条公开 Trace，双方均启用缓存；后台调用费 = PROMOTE 调用费 + 命中复制调用费。"/>
          <p:cNvSpPr txBox="1"/>
          <p:nvPr/>
        </p:nvSpPr>
        <p:spPr>
          <a:xfrm>
            <a:off x="609600" y="1428750"/>
            <a:ext cx="10972800" cy="552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25" b="0" lang="zh-CN">
                <a:solidFill>
                  <a:srgbClr val="657184"/>
                </a:solidFill>
                <a:latin typeface="Microsoft YaHei"/>
                <a:ea typeface="Microsoft YaHei"/>
              </a:rPr>
              <a:t>39 条公开 Trace，双方均启用缓存；后台调用费 = PROMOTE 调用费 + 命中复制调用费。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6286500"/>
            <a:ext cx="10972800" cy="0"/>
          </a:xfrm>
          <a:prstGeom prst="line">
            <a:avLst/>
          </a:prstGeom>
          <a:ln w="12700">
            <a:solidFill>
              <a:srgbClr val="DC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NDS 多路径 IO 调度"/>
          <p:cNvSpPr txBox="1"/>
          <p:nvPr/>
        </p:nvSpPr>
        <p:spPr>
          <a:xfrm>
            <a:off x="609600" y="6438900"/>
            <a:ext cx="8096249" cy="17145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NDS 多路径 IO 调度</a:t>
            </a:r>
          </a:p>
        </p:txBody>
      </p:sp>
      <p:sp>
        <p:nvSpPr>
          <p:cNvPr id="7" name="10"/>
          <p:cNvSpPr txBox="1"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75" b="0" lang="zh-CN">
                <a:solidFill>
                  <a:srgbClr val="657184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85975"/>
            <a:ext cx="5238750" cy="2867025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39 条累计后台调用费"/>
          <p:cNvSpPr txBox="1"/>
          <p:nvPr/>
        </p:nvSpPr>
        <p:spPr>
          <a:xfrm>
            <a:off x="800100" y="2219325"/>
            <a:ext cx="485775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4756D"/>
                </a:solidFill>
                <a:latin typeface="Microsoft YaHei"/>
                <a:ea typeface="Microsoft YaHei"/>
              </a:rPr>
              <a:t>39 条累计后台调用费</a:t>
            </a:r>
          </a:p>
        </p:txBody>
      </p:sp>
      <p:sp>
        <p:nvSpPr>
          <p:cNvPr id="10" name="包含未带来命中的提升投入"/>
          <p:cNvSpPr txBox="1"/>
          <p:nvPr/>
        </p:nvSpPr>
        <p:spPr>
          <a:xfrm>
            <a:off x="800100" y="2619375"/>
            <a:ext cx="4857750" cy="2190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 lang="zh-CN">
                <a:solidFill>
                  <a:srgbClr val="657184"/>
                </a:solidFill>
                <a:latin typeface="Microsoft YaHei"/>
                <a:ea typeface="Microsoft YaHei"/>
              </a:rPr>
              <a:t>包含未带来命中的提升投入</a:t>
            </a:r>
          </a:p>
        </p:txBody>
      </p:sp>
      <p:sp>
        <p:nvSpPr>
          <p:cNvPr id="11" name="↓ 94.84%"/>
          <p:cNvSpPr txBox="1"/>
          <p:nvPr/>
        </p:nvSpPr>
        <p:spPr>
          <a:xfrm>
            <a:off x="800100" y="2924175"/>
            <a:ext cx="4857750" cy="5334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lang="zh-CN">
                <a:solidFill>
                  <a:srgbClr val="24756D"/>
                </a:solidFill>
                <a:latin typeface="Microsoft YaHei"/>
                <a:ea typeface="Microsoft YaHei"/>
              </a:rPr>
              <a:t>↓ 94.84%</a:t>
            </a:r>
          </a:p>
        </p:txBody>
      </p:sp>
      <p:sp>
        <p:nvSpPr>
          <p:cNvPr id="12" name="官方贪心    804,656"/>
          <p:cNvSpPr txBox="1"/>
          <p:nvPr/>
        </p:nvSpPr>
        <p:spPr>
          <a:xfrm>
            <a:off x="800100" y="3524250"/>
            <a:ext cx="4857750" cy="3048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50" b="0" lang="zh-CN">
                <a:solidFill>
                  <a:srgbClr val="657184"/>
                </a:solidFill>
                <a:latin typeface="Microsoft YaHei"/>
                <a:ea typeface="Microsoft YaHei"/>
              </a:rPr>
              <a:t>官方贪心    804,656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3895725"/>
            <a:ext cx="4857750" cy="171450"/>
          </a:xfrm>
          <a:prstGeom prst="rect">
            <a:avLst/>
          </a:prstGeom>
          <a:solidFill>
            <a:srgbClr val="C8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本方案        41,482"/>
          <p:cNvSpPr txBox="1"/>
          <p:nvPr/>
        </p:nvSpPr>
        <p:spPr>
          <a:xfrm>
            <a:off x="800100" y="4248150"/>
            <a:ext cx="4857750" cy="3048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4756D"/>
                </a:solidFill>
                <a:latin typeface="Microsoft YaHei"/>
                <a:ea typeface="Microsoft YaHei"/>
              </a:rPr>
              <a:t>本方案        41,482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" y="4648200"/>
            <a:ext cx="250428" cy="171450"/>
          </a:xfrm>
          <a:prstGeom prst="rect">
            <a:avLst/>
          </a:prstGeom>
          <a:solidFill>
            <a:srgbClr val="24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3650" y="2085975"/>
            <a:ext cx="5238750" cy="2867025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每次命中分摊的后台调用费"/>
          <p:cNvSpPr txBox="1"/>
          <p:nvPr/>
        </p:nvSpPr>
        <p:spPr>
          <a:xfrm>
            <a:off x="6534150" y="2219325"/>
            <a:ext cx="485775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4756D"/>
                </a:solidFill>
                <a:latin typeface="Microsoft YaHei"/>
                <a:ea typeface="Microsoft YaHei"/>
              </a:rPr>
              <a:t>每次命中分摊的后台调用费</a:t>
            </a:r>
          </a:p>
        </p:txBody>
      </p:sp>
      <p:sp>
        <p:nvSpPr>
          <p:cNvPr id="18" name="总后台调用费 ÷ 命中请求数"/>
          <p:cNvSpPr txBox="1"/>
          <p:nvPr/>
        </p:nvSpPr>
        <p:spPr>
          <a:xfrm>
            <a:off x="6534150" y="2619375"/>
            <a:ext cx="4857750" cy="2190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 lang="zh-CN">
                <a:solidFill>
                  <a:srgbClr val="657184"/>
                </a:solidFill>
                <a:latin typeface="Microsoft YaHei"/>
                <a:ea typeface="Microsoft YaHei"/>
              </a:rPr>
              <a:t>总后台调用费 ÷ 命中请求数</a:t>
            </a:r>
          </a:p>
        </p:txBody>
      </p:sp>
      <p:sp>
        <p:nvSpPr>
          <p:cNvPr id="19" name="↓ 74.95%"/>
          <p:cNvSpPr txBox="1"/>
          <p:nvPr/>
        </p:nvSpPr>
        <p:spPr>
          <a:xfrm>
            <a:off x="6534150" y="2924175"/>
            <a:ext cx="4857750" cy="5334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lang="zh-CN">
                <a:solidFill>
                  <a:srgbClr val="24756D"/>
                </a:solidFill>
                <a:latin typeface="Microsoft YaHei"/>
                <a:ea typeface="Microsoft YaHei"/>
              </a:rPr>
              <a:t>↓ 74.95%</a:t>
            </a:r>
          </a:p>
        </p:txBody>
      </p:sp>
      <p:sp>
        <p:nvSpPr>
          <p:cNvPr id="20" name="官方贪心    19.71"/>
          <p:cNvSpPr txBox="1"/>
          <p:nvPr/>
        </p:nvSpPr>
        <p:spPr>
          <a:xfrm>
            <a:off x="6534150" y="3524250"/>
            <a:ext cx="4857750" cy="3048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50" b="0" lang="zh-CN">
                <a:solidFill>
                  <a:srgbClr val="657184"/>
                </a:solidFill>
                <a:latin typeface="Microsoft YaHei"/>
                <a:ea typeface="Microsoft YaHei"/>
              </a:rPr>
              <a:t>官方贪心    19.71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4150" y="3895725"/>
            <a:ext cx="4857750" cy="171450"/>
          </a:xfrm>
          <a:prstGeom prst="rect">
            <a:avLst/>
          </a:prstGeom>
          <a:solidFill>
            <a:srgbClr val="C8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本方案        4.94"/>
          <p:cNvSpPr txBox="1"/>
          <p:nvPr/>
        </p:nvSpPr>
        <p:spPr>
          <a:xfrm>
            <a:off x="6534150" y="4248150"/>
            <a:ext cx="4857750" cy="3048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4756D"/>
                </a:solidFill>
                <a:latin typeface="Microsoft YaHei"/>
                <a:ea typeface="Microsoft YaHei"/>
              </a:rPr>
              <a:t>本方案        4.94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4150" y="4648200"/>
            <a:ext cx="1216858" cy="171450"/>
          </a:xfrm>
          <a:prstGeom prst="rect">
            <a:avLst/>
          </a:prstGeom>
          <a:solidFill>
            <a:srgbClr val="24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每次提升的平均命中数：4.63 → 27.92，达到贪心的 6.03 倍。"/>
          <p:cNvSpPr txBox="1"/>
          <p:nvPr/>
        </p:nvSpPr>
        <p:spPr>
          <a:xfrm>
            <a:off x="609600" y="5143500"/>
            <a:ext cx="10972800" cy="3143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25" b="1" lang="zh-CN">
                <a:solidFill>
                  <a:srgbClr val="24756D"/>
                </a:solidFill>
                <a:latin typeface="Microsoft YaHei"/>
                <a:ea typeface="Microsoft YaHei"/>
              </a:rPr>
              <a:t>每次提升的平均命中数：4.63 → 27.92，达到贪心的 6.03 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600700"/>
            <a:ext cx="10972800" cy="40957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原因实例 high_mixed：双方命中均为 0，提升 3,566 → 0，省去 292,412 调用费。"/>
          <p:cNvSpPr txBox="1"/>
          <p:nvPr/>
        </p:nvSpPr>
        <p:spPr>
          <a:xfrm>
            <a:off x="762000" y="5686425"/>
            <a:ext cx="10668000" cy="25717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50" b="1" lang="zh-CN">
                <a:solidFill>
                  <a:srgbClr val="1F2937"/>
                </a:solidFill>
                <a:latin typeface="Microsoft YaHei"/>
                <a:ea typeface="Microsoft YaHei"/>
              </a:rPr>
              <a:t>原因实例 high_mixed：双方命中均为 0，提升 3,566 → 0，省去 292,412 调用费。</a:t>
            </a:r>
          </a:p>
        </p:txBody>
      </p:sp>
      <p:sp>
        <p:nvSpPr>
          <p:cNvPr id="27" name="先汇总再相除：提升 8,817 → 301；命中 40,831 → 8,403。单次命中固定调用费仍为 2，降低的是提升投入的摊销。"/>
          <p:cNvSpPr txBox="1"/>
          <p:nvPr/>
        </p:nvSpPr>
        <p:spPr>
          <a:xfrm>
            <a:off x="609600" y="6105525"/>
            <a:ext cx="10972800" cy="161925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25" b="0" lang="zh-CN">
                <a:solidFill>
                  <a:srgbClr val="657184"/>
                </a:solidFill>
                <a:latin typeface="Microsoft YaHei"/>
                <a:ea typeface="Microsoft YaHei"/>
              </a:rPr>
              <a:t>先汇总再相除：提升 8,817 → 301；命中 40,831 → 8,403。单次命中固定调用费仍为 2，降低的是提升投入的摊销。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NDS 多路径 IO 调度方案</dc:title>
  <dc:subject>联合动态规划、代码可视化与缓存准入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>算法设计与验证</cp:category>
</cp:coreProperties>
</file>